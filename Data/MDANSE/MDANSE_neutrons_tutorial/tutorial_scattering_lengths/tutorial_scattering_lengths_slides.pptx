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27" r:id="rId4"/>
    <p:sldMasterId id="2147483719" r:id="rId5"/>
    <p:sldMasterId id="2147483663" r:id="rId6"/>
    <p:sldMasterId id="2147483734" r:id="rId7"/>
  </p:sldMasterIdLst>
  <p:notesMasterIdLst>
    <p:notesMasterId r:id="rId37"/>
  </p:notesMasterIdLst>
  <p:handoutMasterIdLst>
    <p:handoutMasterId r:id="rId38"/>
  </p:handoutMasterIdLst>
  <p:sldIdLst>
    <p:sldId id="320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6" r:id="rId18"/>
    <p:sldId id="335" r:id="rId19"/>
    <p:sldId id="337" r:id="rId20"/>
    <p:sldId id="338" r:id="rId21"/>
    <p:sldId id="339" r:id="rId22"/>
    <p:sldId id="340" r:id="rId23"/>
    <p:sldId id="341" r:id="rId24"/>
    <p:sldId id="342" r:id="rId25"/>
    <p:sldId id="343" r:id="rId26"/>
    <p:sldId id="344" r:id="rId27"/>
    <p:sldId id="345" r:id="rId28"/>
    <p:sldId id="348" r:id="rId29"/>
    <p:sldId id="346" r:id="rId30"/>
    <p:sldId id="347" r:id="rId31"/>
    <p:sldId id="349" r:id="rId32"/>
    <p:sldId id="350" r:id="rId33"/>
    <p:sldId id="351" r:id="rId34"/>
    <p:sldId id="352" r:id="rId35"/>
    <p:sldId id="353" r:id="rId36"/>
  </p:sldIdLst>
  <p:sldSz cx="12192000" cy="6858000"/>
  <p:notesSz cx="6858000" cy="9144000"/>
  <p:embeddedFontLst>
    <p:embeddedFont>
      <p:font typeface="Cambria Math" panose="02040503050406030204" pitchFamily="18" charset="0"/>
      <p:regular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Verdana" panose="020B0604030504040204" pitchFamily="34" charset="0"/>
      <p:regular r:id="rId44"/>
      <p:bold r:id="rId45"/>
      <p:italic r:id="rId46"/>
      <p:boldItalic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D1B"/>
    <a:srgbClr val="676767"/>
    <a:srgbClr val="003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/>
    <p:restoredTop sz="94731"/>
  </p:normalViewPr>
  <p:slideViewPr>
    <p:cSldViewPr snapToGrid="0">
      <p:cViewPr varScale="1">
        <p:scale>
          <a:sx n="145" d="100"/>
          <a:sy n="145" d="100"/>
        </p:scale>
        <p:origin x="1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font" Target="fonts/font1.fntdata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font" Target="fonts/font5.fntdata"/><Relationship Id="rId48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handoutMaster" Target="handoutMasters/handoutMaster1.xml"/><Relationship Id="rId46" Type="http://schemas.openxmlformats.org/officeDocument/2006/relationships/font" Target="fonts/font8.fntdata"/><Relationship Id="rId20" Type="http://schemas.openxmlformats.org/officeDocument/2006/relationships/slide" Target="slides/slide13.xml"/><Relationship Id="rId41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C82ED0-7452-4354-A24E-35FB24BF9A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6969E9-2182-2FF9-A02F-A1842CE2A4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66A77-BC89-4E24-A414-B6543411FF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E84D48-5E89-47EA-5EE7-5780CF041D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9F5C8-55D8-4294-92FA-96C28702B9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A80C6-5E9B-493C-B5B8-6FAC8DE86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783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8:15:22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24575,'5'2'0,"16"-1"0,3 10 0,16-4 0,-8 6 0,-3-5 0,1 0 0,-7 3 0,45 3 0,-29-6 0,24 3 0,-24-8 0,-8 6 0,2-5 0,-8 3 0,-5-6 0,-3 4 0,0-4 0,-4 2 0,2 0 0,-8-2 0,11 2 0,-11 0 0,3-3 0,-4 3 0,-1-3 0,1 0 0,-1 0 0,1 0 0,-1 0 0,1 0 0,-1-3 0,1 3 0,0-5 0,-1 4 0,1-2 0,-1 3 0,1-2 0,-1-1 0,1 0 0,-1 0 0,1 1 0,-1 1 0,1-1 0,-1 2 0,1-3 0,-1 2 0,1-4 0,15 5 0,-12-5 0,12 4 0,-16-1 0,1 2 0,-1 0 0,1 0 0,-1 0 0,1 0 0,-1 0 0,1 0 0,0 0 0,-1 0 0,1 0 0,-1 0 0,1 0 0,-1 0 0,3 0 0,-2 0 0,2 0 0,-2 0 0,-3 2 0,2-1 0,-2 1 0,0-2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8:15:24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24575,'3'2'0,"2"-1"0,-2 1 0,3 1 0,-3 0 0,2 2 0,0-2 0,1 2 0,2-4 0,0 4 0,1-5 0,33 3 0,-19 0 0,32-2 0,-36 2 0,9-3 0,-3 0 0,-6 2 0,9-1 0,-3 2 0,-1-3 0,5 0 0,-8 0 0,1 0 0,7 0 0,-10 0 0,9 0 0,-11 0 0,0 0 0,3 0 0,-3 0 0,12 0 0,3 0 0,-1 0 0,12-5 0,-23 4 0,6-4 0,-18 5 0,-2 0 0,-1 0 0,1 0 0,-1 0 0,1 0 0,-1 0 0,1 0 0,-1 3 0,1-2 0,0 3 0,-1-3 0,1 2 0,-1-1 0,1-1 0,-1 1 0,1-2 0,-1 0 0,1 3 0,-1-3 0,1 3 0,-1-1 0,1-1 0,-1 1 0,1-2 0,-3 0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8:15:29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865 16 24575,'5'-2'0,"16"-4"0,20 3 0,3-2 0,12 5 0,0 0 0,12 0 0,27 0-458,-43 0 0,2 0 458,-1 0 0,-1 0 0,43 0-341,-10 0 341,-9 0 0,-8 0 0,-22 0 0,-17 0 0,-21 0 0,-2 0 899,-1 3-899,1-2 358,0 1-358,-1 0 0,1-1 0,-1 1 0,-2 1 0,2-2 0,-4 6 0,4-3 0,-5 6 0,5-1 0,-4 2 0,1 0 0,1 0 0,-3 13 0,3-5 0,2 27 0,-4-21 0,4 13 0,-5-9 0,0 11 0,0 10 0,0-8 0,0 12 0,0-29 0,0 29 0,-3-29 0,2 21 0,-2-14 0,3 16 0,0-7 0,0 15 0,0-6 0,0 0 0,0 6 0,0 20 0,0-20 0,0 10 0,0-29 0,0 3 0,0 10 0,0 16 0,0 3 0,0 7 0,0 9 0,0-7 0,0 7 0,0-9 0,0-7 0,0 5 0,0-6 0,-5 9 0,3 7 0,-4 3 0,6 8 0,0-43 0,0 0 0,0 45-467,0-45 0,0-1 467,0 44 0,0-22 0,0 0 0,0-19 0,0 0 0,0 19 0,0 0 0,0 22 0,0-9 0,0 7 0,0-6 0,0 8 0,0 1 0,0-10 0,0 7 0,0 2 0,0 3 0,0-47 0,0 1 0,0 43 0,0 0 0,0-44 0,0 2 0,0 3 0,0 1 0,0 1 0,0 0 0,0 7 0,0 0 0,0-3 0,0 0 0,0 5 0,0-1 0,0-4 0,0 0 0,0-6 0,0 2 0,0 19 0,0-1 0,0-21 0,0-2 0,0 21 0,0-2 0,0 23 0,0 0 0,0 0 0,0-8 0,0 6-332,0-14 332,0 5 0,0-7 0,0-9 0,0 6 0,0-14 0,0 7 0,0-9 0,0 8 0,0-6 0,0 15 0,0-15 0,6 14 918,-5-14-918,5 6 348,-6-7-348,0 25 0,0-20 0,0 20 0,0-34 0,0 6 0,0-14 0,0 14 0,0-15 0,0 16 0,0-8 0,0 1 0,0 6 0,0-14 0,0 6 0,0-8 0,0-9 0,0 7 0,0-15 0,0 2 0,0-9 0,0-5 0,0-2 0,0 1 0,0-4 0,0 5 0,0-5 0,0 2 0,0-3 0,0 1 0,0 0 0,0 2 0,0-2 0,0 2 0,0-3 0,3 1 0,-3-1 0,3 3 0,-3-1 0,0 3 0,3 3 0,-2-3 0,4 5 0,-4-6 0,1 2 0,-2 0 0,3 0 0,-3-2 0,3-1 0,-1 0 0,-1-2 0,1 2 0,-2-2 0,0-1 0,0 1 0,-17-3 0,3-1 0,-24-2 0,15 0 0,-7 0 0,-8 0 0,17 0 0,-8 0 0,14 0 0,5 0 0,-4 0 0,6 0 0,3 0 0,-1 0 0,0 0 0,-9 0 0,5 0 0,-8 0 0,2 0 0,3 0 0,-2 0 0,6 0 0,-14 0 0,11 0 0,-17 0 0,12 0 0,-4 0 0,4 0 0,-3 0 0,3 0 0,-4 0 0,-9 0 0,-2 0 0,-7 0 0,-1 0 0,-8 0 0,-2 0 0,-8 0 0,0 0 0,7 0 0,12 0 0,-7 0 0,20 0 0,-20 0 0,15 0 0,-9 0 0,-5 0 0,17 0 0,-1 0 0,5 0 0,10 3 0,-10-3 0,12 5 0,-12 0 0,10 1 0,-14 2 0,11-1 0,-21 7 0,13-5 0,-21 6 0,22-7 0,-14 6 0,7-9 0,-1 10 0,-5-9 0,13 5 0,-14-2 0,7 0 0,-1-3 0,3 1 0,2-3 0,5 0 0,0 2 0,6-6 0,7 5 0,4-4 0,2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8:15:30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1 24575,'-8'2'0,"2"1"0,-2 0 0,2 0 0,1-3 0,-4 2 0,1 1 0,-4 3 0,4-3 0,-3 2 0,2-2 0,-2 2 0,-3 1 0,2-1 0,1 1 0,-4 0 0,5 0 0,-6 0 0,5 0 0,0-1 0,-5 1 0,4 0 0,-4 0 0,5 0 0,-5 3 0,4-2 0,-4 2 0,7-3 0,-2-1 0,3 1 0,-1-1 0,1 1 0,2-1 0,1 1 0,-1-1 0,0 1 0,3 0 0,1-1 0,2 3 0,0-2 0,0 2 0,2-2 0,-1-1 0,1 1 0,1-1 0,-3 1 0,3-1 0,-1 1 0,1 0 0,5 2 0,1-2 0,7 2 0,9-4 0,-2 2 0,15-1 0,-7-1 0,9 5 0,-1-3 0,-7 2 0,6 2 0,-15-3 0,6-1 0,-7 0 0,-6-3 0,13 1 0,-15-2 0,7-2 0,-13 3 0,-2-3 0,0 3 0,-1-3 0,-2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8:15:3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994 90 24575,'-6'0'0,"0"-3"0,-2 3 0,2-3 0,-2 3 0,0 0 0,1-2 0,-8 1 0,5-4 0,-10 4 0,-5-10 0,-15 4 0,7-3 0,-13 0 0,14 9 0,-16-9 0,-2 9 0,-8-9 0,0 8 0,21-3 0,-8 5 0,9 0 0,3 0 0,-23-3 0,35 2 0,-17-2 0,21 3 0,0 0 0,2 0 0,3 0 0,-3 0 0,2 0 0,-3 0 0,8 0 0,0 0 0,4 9 0,2 3 0,2 18 0,5 9 0,2 11 0,-1 8 0,-1-16 0,-1 4 0,-2-15 0,7 17 0,-2 2 0,4 8 0,0-8 0,-5-10 0,4 6 0,-9 4 0,8 2 0,-7 20 0,7-20 0,-2 22 0,0-5 0,-2-1 0,-5 6 0,5-14 0,-3 7 0,3-1 0,-5-22 0,0 10 0,0-15 0,0 37 0,0-11 0,0 18 0,0-16 0,0-7 0,0 14 0,0-14 0,0 15 0,-6-7 0,5 8 0,-5-7 0,0 5 0,0-14 0,-1 15 0,-4-7 0,4 0 0,0 7 0,-3-15 0,3 14 0,-5-14 0,0 6 0,0-7 0,-5 33 0,4-26 0,4-15 0,0-2 0,-3 12 0,0 5 0,6-8 0,-4 0 0,3 0 0,1 0 0,0 0 0,1 9 0,3-7 0,-9 6 0,10-8 0,-4 0 0,5 0 0,-4-8 0,2-2 0,-2-21 0,4-3 0,0-13 0,0 0 0,0-2 0,0-1 0,2-3 0,1-2 0,3 0 0,0-3 0,14-5 0,-3 1 0,12-4 0,1-1 0,1-4 0,1 0 0,13-3 0,-24 6 0,32-6 0,-24 7 0,27-8 0,-6 6 0,0 0 0,-2 5 0,-17 1 0,7-3 0,-6 5 0,-1-9 0,-6 12 0,-5-7 0,-3 6 0,0-4 0,3 1 0,-3 1 0,4-4 0,-4 6 0,3-2 0,-3 0 0,-1 2 0,5-2 0,-12 3 0,4-2 0,-5 1 0,-2-2 0,2 3 0,0 0 0,1 0 0,2 0 0,-2 0 0,1 0 0,-1 0 0,-1 0 0,3 0 0,-5 0 0,2 0 0,0 0 0,1 0 0,2 0 0,-2 0 0,1 0 0,-1-2 0,0 1 0,-1-1 0,-3 2 0,1-3 0,-1 3 0,1-3 0,-1 3 0,3-2 0,-2 1 0,2-1 0,-2 2 0,0-3 0,-1 2 0,1-1 0,-1 2 0,1 0 0,-1 0 0,1 0 0,-3-3 0,-1 3 0,-2-3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9T08:15:36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24575,'6'2'0,"-1"-1"0,1 1 0,-1 1 0,-2 0 0,5 2 0,-2-2 0,10 6 0,-4-7 0,8 7 0,5-4 0,7 4 0,7-4 0,-7 3 0,15-3 0,-13 4 0,7 0 0,-16-4 0,-5-2 0,-3 0 0,-1-2 0,-2 2 0,-4-3 0,-1 0 0,-1 0 0,0 0 0,-2 0 0,0 0 0,-1 0 0,1 0 0,-3 2 0,-3 1 0,-11 7 0,4-1 0,-8 3 0,2 1 0,-1 3 0,-18 8 0,11-4 0,-7 2 0,-3 1 0,11-8 0,-6 4 0,7-5 0,1 3 0,-5-1 0,-10 7 0,-2 1 0,8-8 0,0 2 0,15-12 0,1 2 0,0-2 0,2 2 0,-6 1 0,8-2 0,-9 2 0,10-3 0,-4-1 0,3-2 0,2 2 0,2-4 0,3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C3C9-6966-4135-9541-6A3DFC32DD62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63FC-987E-4E6D-8D19-EC63681CE5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38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D46A-4F53-F706-E005-3B7F94B067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2557461"/>
            <a:ext cx="9144000" cy="1138240"/>
          </a:xfrm>
        </p:spPr>
        <p:txBody>
          <a:bodyPr anchor="t" anchorCtr="0">
            <a:normAutofit/>
          </a:bodyPr>
          <a:lstStyle>
            <a:lvl1pPr algn="l">
              <a:defRPr sz="3600" b="0">
                <a:latin typeface="+mj-lt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7060A-4567-A74A-3AF0-E66CB6AC3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" y="3929062"/>
            <a:ext cx="9144000" cy="4313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speaker name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C9208F-2B17-BF13-15F3-C2942141E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200" y="4610100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location 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33D74CF-0634-649D-508B-5F74DC1A06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4930325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date </a:t>
            </a:r>
          </a:p>
        </p:txBody>
      </p:sp>
    </p:spTree>
    <p:extLst>
      <p:ext uri="{BB962C8B-B14F-4D97-AF65-F5344CB8AC3E}">
        <p14:creationId xmlns:p14="http://schemas.microsoft.com/office/powerpoint/2010/main" val="136145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rgbClr val="F1F2F3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52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78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1304922"/>
            <a:ext cx="4025900" cy="4351339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D58FB62-6305-D775-94D1-00380F2AC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5829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675949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98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9A72C94-07DD-E2CA-345A-A35125CE44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7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1BFA7CDF-E186-FDDF-CF2E-0B3F10DB84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25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93167B-5805-9EBB-6E54-360D545AFA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1117600"/>
            <a:ext cx="102235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62360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8">
            <a:extLst>
              <a:ext uri="{FF2B5EF4-FFF2-40B4-BE49-F238E27FC236}">
                <a16:creationId xmlns:a16="http://schemas.microsoft.com/office/drawing/2014/main" id="{3BF16C2F-A1C7-9D4A-331C-5D46DAAB2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6324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3A8A21F-2C7D-3EED-D3DE-935B34DCF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1026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74781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D46A-4F53-F706-E005-3B7F94B067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2557461"/>
            <a:ext cx="9144000" cy="1138240"/>
          </a:xfrm>
        </p:spPr>
        <p:txBody>
          <a:bodyPr anchor="t" anchorCtr="0">
            <a:normAutofit/>
          </a:bodyPr>
          <a:lstStyle>
            <a:lvl1pPr algn="l">
              <a:defRPr sz="3600" b="0">
                <a:latin typeface="+mj-lt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7060A-4567-A74A-3AF0-E66CB6AC3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" y="3929062"/>
            <a:ext cx="9144000" cy="4313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speaker name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C9208F-2B17-BF13-15F3-C2942141E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200" y="4610100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location 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33D74CF-0634-649D-508B-5F74DC1A06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4930325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date </a:t>
            </a:r>
          </a:p>
        </p:txBody>
      </p:sp>
    </p:spTree>
    <p:extLst>
      <p:ext uri="{BB962C8B-B14F-4D97-AF65-F5344CB8AC3E}">
        <p14:creationId xmlns:p14="http://schemas.microsoft.com/office/powerpoint/2010/main" val="391002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4CB8-F44D-BEE4-6DCA-1B2662AB0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699" y="1122363"/>
            <a:ext cx="11654683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CF0F3-44B5-9EF2-3A88-E4424DDC8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3602038"/>
            <a:ext cx="1165468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3C9B-D14B-899C-B084-D233E5CF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C38EF-93AE-9214-FDFE-009AE71C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81CBA-3EB3-43A7-D2FA-2410CF2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26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E776-F347-2357-03E5-35C58A73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32FCD-286F-104A-BCF2-B9138BD0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11654683" cy="38655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1ECD2-7228-FC6F-D057-E1D3817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01347-B148-1746-115D-B367293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C7FE-56F7-317A-6A29-7F808D2B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12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1C41-E6F8-8CDB-15CB-AFE023C1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09738"/>
            <a:ext cx="11654682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976CA-B5E0-87F5-9BB8-567EA6D0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699" y="4700187"/>
            <a:ext cx="11654683" cy="448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FB1F-7BDA-DC86-9EF3-DB36350C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4339-5CB2-7EDB-C9AA-C007FA14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7BCC8-EC59-1A12-7C24-DEA423BC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18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3409-495B-2752-6BF2-B1848FDE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D184-1DF7-03BD-F6A8-1290E291C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07A8-6978-C1D1-B0D6-FDA0CC1F4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1383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0EE24-2BFB-8E46-2E66-3BA36D59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2556D-B5E1-EF44-908B-500C8837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910F-1642-C042-4D26-BC4F3A55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897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E961-1532-85E1-EF19-CD6FD29F8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1" y="1304925"/>
            <a:ext cx="5580000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2AB67-467B-B4C7-6EEB-C8D144E3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00" y="2330075"/>
            <a:ext cx="5580000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16626-4911-CA49-90C2-CE3262F72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1380" y="1304925"/>
            <a:ext cx="5580001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FF839-783C-36FF-2F59-B33FD00F2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1379" y="2330075"/>
            <a:ext cx="5580003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0523E-13BC-6AF4-F44B-1E81F507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CC21D-81ED-0C7F-2CF7-CFDE2301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BA4D1-1395-871F-083F-CCC3ADAA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479E40-CA8C-9DEB-E10E-9B0E9423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672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4210A-8AD6-DB76-6435-6F1565CF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DFFE2-973C-8808-2027-0A0826D0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7C7D8-7501-4918-C3A4-210FC2D1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3C41D6-330E-7D22-3BA7-5AD129D2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41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2BAE-96E7-8067-F384-6C81451D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65125"/>
            <a:ext cx="5825382" cy="481428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E5DF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67676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7ED95-2655-DA64-A0CC-0DB50CEC6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5588000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F7D06-9178-0519-324E-D3FAE155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D0C21-14CC-0A4D-09D2-207115B3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D343D-82C5-3AAA-AADD-2197F991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006FAE-DBD1-BA77-7F74-11A8DCE9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5588000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458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3EE30-E243-DD16-09E0-8B68AEC32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365125"/>
            <a:ext cx="6738195" cy="4788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748DA-A10C-6B03-FEDA-D99AE6E8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BA5F-3B12-9A62-2D70-80CF77B9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A75CB-A493-E2D5-0C56-6C9F25C8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DEF678-90EE-1594-AB80-39E97C15D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4638586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BA06E30-B013-E2B6-FBD1-5AB60061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4638586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549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967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1304922"/>
            <a:ext cx="4025900" cy="4351339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D58FB62-6305-D775-94D1-00380F2AC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5829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953054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98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9A72C94-07DD-E2CA-345A-A35125CE44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7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1BFA7CDF-E186-FDDF-CF2E-0B3F10DB84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25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93167B-5805-9EBB-6E54-360D545AFA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1117600"/>
            <a:ext cx="102235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932876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8">
            <a:extLst>
              <a:ext uri="{FF2B5EF4-FFF2-40B4-BE49-F238E27FC236}">
                <a16:creationId xmlns:a16="http://schemas.microsoft.com/office/drawing/2014/main" id="{3BF16C2F-A1C7-9D4A-331C-5D46DAAB2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6324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3A8A21F-2C7D-3EED-D3DE-935B34DCF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1026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922252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D46A-4F53-F706-E005-3B7F94B067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2557461"/>
            <a:ext cx="9144000" cy="1138240"/>
          </a:xfrm>
        </p:spPr>
        <p:txBody>
          <a:bodyPr anchor="t" anchorCtr="0">
            <a:normAutofit/>
          </a:bodyPr>
          <a:lstStyle>
            <a:lvl1pPr algn="l">
              <a:defRPr sz="3600" b="0">
                <a:latin typeface="+mj-lt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7060A-4567-A74A-3AF0-E66CB6AC3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" y="3929062"/>
            <a:ext cx="9144000" cy="4313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speaker name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C9208F-2B17-BF13-15F3-C2942141E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200" y="4610100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location 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33D74CF-0634-649D-508B-5F74DC1A06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4930325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date </a:t>
            </a:r>
          </a:p>
        </p:txBody>
      </p:sp>
    </p:spTree>
    <p:extLst>
      <p:ext uri="{BB962C8B-B14F-4D97-AF65-F5344CB8AC3E}">
        <p14:creationId xmlns:p14="http://schemas.microsoft.com/office/powerpoint/2010/main" val="7277783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4CB8-F44D-BEE4-6DCA-1B2662AB0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699" y="1122363"/>
            <a:ext cx="11654683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CF0F3-44B5-9EF2-3A88-E4424DDC8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3602038"/>
            <a:ext cx="1165468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3C9B-D14B-899C-B084-D233E5CF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C38EF-93AE-9214-FDFE-009AE71C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81CBA-3EB3-43A7-D2FA-2410CF2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670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E776-F347-2357-03E5-35C58A73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32FCD-286F-104A-BCF2-B9138BD0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11654683" cy="38655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1ECD2-7228-FC6F-D057-E1D3817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01347-B148-1746-115D-B367293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C7FE-56F7-317A-6A29-7F808D2B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9000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1C41-E6F8-8CDB-15CB-AFE023C1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09738"/>
            <a:ext cx="11654682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976CA-B5E0-87F5-9BB8-567EA6D0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699" y="4700187"/>
            <a:ext cx="11654683" cy="448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FB1F-7BDA-DC86-9EF3-DB36350C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4339-5CB2-7EDB-C9AA-C007FA14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7BCC8-EC59-1A12-7C24-DEA423BC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1343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3409-495B-2752-6BF2-B1848FDE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D184-1DF7-03BD-F6A8-1290E291C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07A8-6978-C1D1-B0D6-FDA0CC1F4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1383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0EE24-2BFB-8E46-2E66-3BA36D59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2556D-B5E1-EF44-908B-500C8837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910F-1642-C042-4D26-BC4F3A55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</p:spPr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979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E961-1532-85E1-EF19-CD6FD29F8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1" y="1304925"/>
            <a:ext cx="5580000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2AB67-467B-B4C7-6EEB-C8D144E3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00" y="2330075"/>
            <a:ext cx="5580000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16626-4911-CA49-90C2-CE3262F72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1380" y="1304925"/>
            <a:ext cx="5580001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FF839-783C-36FF-2F59-B33FD00F2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1379" y="2330075"/>
            <a:ext cx="5580003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0523E-13BC-6AF4-F44B-1E81F507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CC21D-81ED-0C7F-2CF7-CFDE2301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BA4D1-1395-871F-083F-CCC3ADAA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479E40-CA8C-9DEB-E10E-9B0E9423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3157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4210A-8AD6-DB76-6435-6F1565CF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DFFE2-973C-8808-2027-0A0826D0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7C7D8-7501-4918-C3A4-210FC2D1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3C41D6-330E-7D22-3BA7-5AD129D2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1503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2BAE-96E7-8067-F384-6C81451D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65125"/>
            <a:ext cx="5825382" cy="481428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E5DF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67676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7ED95-2655-DA64-A0CC-0DB50CEC6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5588000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F7D06-9178-0519-324E-D3FAE155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D0C21-14CC-0A4D-09D2-207115B3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D343D-82C5-3AAA-AADD-2197F991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006FAE-DBD1-BA77-7F74-11A8DCE9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5588000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0711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3EE30-E243-DD16-09E0-8B68AEC32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365125"/>
            <a:ext cx="6738195" cy="4788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748DA-A10C-6B03-FEDA-D99AE6E8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BA5F-3B12-9A62-2D70-80CF77B9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A75CB-A493-E2D5-0C56-6C9F25C8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DEF678-90EE-1594-AB80-39E97C15D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4638586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BA06E30-B013-E2B6-FBD1-5AB60061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4638586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1991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62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1304922"/>
            <a:ext cx="4025900" cy="4351339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D58FB62-6305-D775-94D1-00380F2AC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5829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283479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98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9A72C94-07DD-E2CA-345A-A35125CE44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7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1BFA7CDF-E186-FDDF-CF2E-0B3F10DB84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25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93167B-5805-9EBB-6E54-360D545AFA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1117600"/>
            <a:ext cx="102235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155470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8">
            <a:extLst>
              <a:ext uri="{FF2B5EF4-FFF2-40B4-BE49-F238E27FC236}">
                <a16:creationId xmlns:a16="http://schemas.microsoft.com/office/drawing/2014/main" id="{3BF16C2F-A1C7-9D4A-331C-5D46DAAB2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6324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3A8A21F-2C7D-3EED-D3DE-935B34DCF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1026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9163027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D46A-4F53-F706-E005-3B7F94B067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2557461"/>
            <a:ext cx="9144000" cy="1138240"/>
          </a:xfrm>
        </p:spPr>
        <p:txBody>
          <a:bodyPr anchor="t" anchorCtr="0">
            <a:normAutofit/>
          </a:bodyPr>
          <a:lstStyle>
            <a:lvl1pPr algn="l">
              <a:defRPr sz="3600" b="0">
                <a:latin typeface="+mj-lt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7060A-4567-A74A-3AF0-E66CB6AC3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" y="3929062"/>
            <a:ext cx="9144000" cy="4313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speaker name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C9208F-2B17-BF13-15F3-C2942141E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200" y="4610100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location 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33D74CF-0634-649D-508B-5F74DC1A06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4930325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date </a:t>
            </a:r>
          </a:p>
        </p:txBody>
      </p:sp>
    </p:spTree>
    <p:extLst>
      <p:ext uri="{BB962C8B-B14F-4D97-AF65-F5344CB8AC3E}">
        <p14:creationId xmlns:p14="http://schemas.microsoft.com/office/powerpoint/2010/main" val="7843107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4CB8-F44D-BEE4-6DCA-1B2662AB0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699" y="1122363"/>
            <a:ext cx="11654683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CF0F3-44B5-9EF2-3A88-E4424DDC8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3602038"/>
            <a:ext cx="1165468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3C9B-D14B-899C-B084-D233E5CF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C38EF-93AE-9214-FDFE-009AE71C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81CBA-3EB3-43A7-D2FA-2410CF2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473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E776-F347-2357-03E5-35C58A73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32FCD-286F-104A-BCF2-B9138BD0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11654683" cy="38655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1ECD2-7228-FC6F-D057-E1D3817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01347-B148-1746-115D-B367293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C7FE-56F7-317A-6A29-7F808D2B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504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1C41-E6F8-8CDB-15CB-AFE023C1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09738"/>
            <a:ext cx="11654682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976CA-B5E0-87F5-9BB8-567EA6D0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699" y="4700187"/>
            <a:ext cx="11654683" cy="448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FB1F-7BDA-DC86-9EF3-DB36350C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4339-5CB2-7EDB-C9AA-C007FA14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7BCC8-EC59-1A12-7C24-DEA423BC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0530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3409-495B-2752-6BF2-B1848FDE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D184-1DF7-03BD-F6A8-1290E291C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07A8-6978-C1D1-B0D6-FDA0CC1F4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1383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0EE24-2BFB-8E46-2E66-3BA36D59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2556D-B5E1-EF44-908B-500C8837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910F-1642-C042-4D26-BC4F3A55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</p:spPr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1619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E961-1532-85E1-EF19-CD6FD29F8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1" y="1304925"/>
            <a:ext cx="5580000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2AB67-467B-B4C7-6EEB-C8D144E3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00" y="2330075"/>
            <a:ext cx="5580000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16626-4911-CA49-90C2-CE3262F72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1380" y="1304925"/>
            <a:ext cx="5580001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FF839-783C-36FF-2F59-B33FD00F2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1379" y="2330075"/>
            <a:ext cx="5580003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0523E-13BC-6AF4-F44B-1E81F507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CC21D-81ED-0C7F-2CF7-CFDE2301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BA4D1-1395-871F-083F-CCC3ADAA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479E40-CA8C-9DEB-E10E-9B0E9423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6241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4210A-8AD6-DB76-6435-6F1565CF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DFFE2-973C-8808-2027-0A0826D0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7C7D8-7501-4918-C3A4-210FC2D1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3C41D6-330E-7D22-3BA7-5AD129D2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7109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2BAE-96E7-8067-F384-6C81451D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65125"/>
            <a:ext cx="5825382" cy="481428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E5DF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67676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7ED95-2655-DA64-A0CC-0DB50CEC6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5588000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F7D06-9178-0519-324E-D3FAE155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D0C21-14CC-0A4D-09D2-207115B3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D343D-82C5-3AAA-AADD-2197F991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006FAE-DBD1-BA77-7F74-11A8DCE9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5588000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7743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3EE30-E243-DD16-09E0-8B68AEC32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365125"/>
            <a:ext cx="6738195" cy="4788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748DA-A10C-6B03-FEDA-D99AE6E8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BA5F-3B12-9A62-2D70-80CF77B9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A75CB-A493-E2D5-0C56-6C9F25C8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DEF678-90EE-1594-AB80-39E97C15D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4638586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BA06E30-B013-E2B6-FBD1-5AB60061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4638586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94803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rgbClr val="F1F2F3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6090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244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30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E97D3-004E-241C-1F4D-DA2001CE04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" y="0"/>
            <a:ext cx="12190811" cy="6857998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D0781EEC-C938-86FA-B882-0B112DC0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7086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CFD7A-BAD1-80E9-241B-1E0D4B057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659" y="1304925"/>
            <a:ext cx="116546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79682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3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E97D3-004E-241C-1F4D-DA2001CE042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3" cy="6857998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D0781EEC-C938-86FA-B882-0B112DC0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7086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CFD7A-BAD1-80E9-241B-1E0D4B057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659" y="1304925"/>
            <a:ext cx="116546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223255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6" r:id="rId3"/>
    <p:sldLayoutId id="2147483724" r:id="rId4"/>
    <p:sldLayoutId id="2147483725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3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AB5F44-508E-D5E3-9686-E5DB5331D65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5" y="0"/>
            <a:ext cx="12189289" cy="685799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92D61-4A60-6946-D1E3-5AC93DE8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C4AB4-12A7-2444-B999-E190C2D00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43241-55FA-000D-E911-88A86A203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6D9DA-6B18-0AEA-604C-ADB3F8C64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71A0C6-6FDD-31C0-2DA4-598F59053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1304925"/>
            <a:ext cx="11654683" cy="3865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374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1" r:id="rId12"/>
    <p:sldLayoutId id="214748367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30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AB5F44-508E-D5E3-9686-E5DB5331D65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5" y="0"/>
            <a:ext cx="12189289" cy="685799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92D61-4A60-6946-D1E3-5AC93DE8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C4AB4-12A7-2444-B999-E190C2D00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43241-55FA-000D-E911-88A86A203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6D9DA-6B18-0AEA-604C-ADB3F8C64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71A0C6-6FDD-31C0-2DA4-598F59053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1304925"/>
            <a:ext cx="11654683" cy="3865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3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2" r:id="rId12"/>
    <p:sldLayoutId id="2147483743" r:id="rId13"/>
    <p:sldLayoutId id="2147483762" r:id="rId14"/>
    <p:sldLayoutId id="21474837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30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customXml" Target="../ink/ink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5.xml"/><Relationship Id="rId6" Type="http://schemas.openxmlformats.org/officeDocument/2006/relationships/customXml" Target="../ink/ink2.xml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5" Type="http://schemas.openxmlformats.org/officeDocument/2006/relationships/image" Target="../media/image36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33.png"/><Relationship Id="rId14" Type="http://schemas.openxmlformats.org/officeDocument/2006/relationships/customXml" Target="../ink/ink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5CD0-94BB-02A9-D0D6-755513A29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2557461"/>
            <a:ext cx="6118772" cy="1138240"/>
          </a:xfrm>
        </p:spPr>
        <p:txBody>
          <a:bodyPr/>
          <a:lstStyle/>
          <a:p>
            <a:r>
              <a:rPr lang="en-GB" b="1" noProof="0" dirty="0">
                <a:ea typeface="Verdana"/>
                <a:cs typeface="Arial"/>
              </a:rPr>
              <a:t>Tutorial: Neutron Scattering Lengths</a:t>
            </a:r>
            <a:endParaRPr lang="en-GB" b="1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80B9D-A009-468E-DD38-1C459E82E2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noProof="0" dirty="0">
                <a:latin typeface="Arial"/>
                <a:ea typeface="Verdana"/>
                <a:cs typeface="Arial"/>
              </a:rPr>
              <a:t>Chi Y. Cheng, Maciej Bartkowiak, Sanghamitra Mukhopadhyay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7514D-CA92-5C28-8A6F-C434B7EF14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noProof="0" dirty="0">
                <a:ea typeface="Verdana"/>
                <a:cs typeface="Arial"/>
              </a:rPr>
              <a:t>MDANSE Workshop 2026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C80D5-0EB8-807C-B0E7-140CDCF28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noProof="0" dirty="0">
                <a:ea typeface="Verdana"/>
                <a:cs typeface="Arial"/>
              </a:rPr>
              <a:t>04/11/2026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4748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AE66-413D-0156-6FB4-EF9F1D5A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9678710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Tutorial: Neutron Scattering Lengths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EF515-9394-864A-1F16-4EF590374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935648"/>
            <a:ext cx="5393642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noProof="0" dirty="0"/>
              <a:t>In MDANSE, we use the values of `</a:t>
            </a:r>
            <a:r>
              <a:rPr lang="en-GB" noProof="0" dirty="0" err="1"/>
              <a:t>b_coherent</a:t>
            </a:r>
            <a:r>
              <a:rPr lang="en-GB" noProof="0" dirty="0"/>
              <a:t>` and `</a:t>
            </a:r>
            <a:r>
              <a:rPr lang="en-GB" noProof="0" dirty="0" err="1"/>
              <a:t>b_incoherent</a:t>
            </a:r>
            <a:r>
              <a:rPr lang="en-GB" noProof="0" dirty="0"/>
              <a:t>` (neutron scattering lengths) to determine the contribution of atoms to the total neutron scattering result.</a:t>
            </a:r>
          </a:p>
          <a:p>
            <a:r>
              <a:rPr lang="en-GB" noProof="0" dirty="0"/>
              <a:t>Let’s consider hydrogen: H1, H2 and H3 are labels for specific hydrogen isotopes: </a:t>
            </a:r>
            <a:r>
              <a:rPr lang="en-GB" baseline="30000" noProof="0" dirty="0"/>
              <a:t>1</a:t>
            </a:r>
            <a:r>
              <a:rPr lang="en-GB" noProof="0" dirty="0"/>
              <a:t>H, </a:t>
            </a:r>
            <a:r>
              <a:rPr lang="en-GB" baseline="30000" noProof="0" dirty="0"/>
              <a:t>2</a:t>
            </a:r>
            <a:r>
              <a:rPr lang="en-GB" noProof="0" dirty="0"/>
              <a:t>H and </a:t>
            </a:r>
            <a:r>
              <a:rPr lang="en-GB" baseline="30000" noProof="0" dirty="0"/>
              <a:t>3</a:t>
            </a:r>
            <a:r>
              <a:rPr lang="en-GB" noProof="0" dirty="0"/>
              <a:t>H.</a:t>
            </a:r>
          </a:p>
          <a:p>
            <a:r>
              <a:rPr lang="en-GB" noProof="0" dirty="0"/>
              <a:t>The fourth one, H, is an averaged atom type with scattering lengths which depend on the natural abundances of the three isotopes.</a:t>
            </a:r>
          </a:p>
          <a:p>
            <a:endParaRPr lang="en-GB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E2F89-0685-4CBA-4D3B-7893438B638E}"/>
              </a:ext>
            </a:extLst>
          </p:cNvPr>
          <p:cNvSpPr txBox="1"/>
          <p:nvPr/>
        </p:nvSpPr>
        <p:spPr>
          <a:xfrm>
            <a:off x="5820508" y="1206141"/>
            <a:ext cx="500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https://</a:t>
            </a:r>
            <a:r>
              <a:rPr lang="en-GB" noProof="0" dirty="0" err="1"/>
              <a:t>www.ncnr.nist.gov</a:t>
            </a:r>
            <a:r>
              <a:rPr lang="en-GB" noProof="0" dirty="0"/>
              <a:t>/resources/n-lengths/</a:t>
            </a:r>
          </a:p>
        </p:txBody>
      </p:sp>
      <p:pic>
        <p:nvPicPr>
          <p:cNvPr id="8" name="Picture 7" descr="A table with numbers and a number&#10;&#10;Description automatically generated">
            <a:extLst>
              <a:ext uri="{FF2B5EF4-FFF2-40B4-BE49-F238E27FC236}">
                <a16:creationId xmlns:a16="http://schemas.microsoft.com/office/drawing/2014/main" id="{7694FC05-EE73-A88D-88A7-13E85D695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508" y="1703883"/>
            <a:ext cx="58928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62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936F6-D063-A796-16CB-B632623B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1D842-4BFF-C3AA-D978-069012AA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9678710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Spin Incoherence</a:t>
            </a:r>
            <a:endParaRPr lang="en-GB" noProof="0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0EF3FF-9591-F46F-25A1-A8A86C9DC0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699" y="935648"/>
                <a:ext cx="10917116" cy="3522052"/>
              </a:xfrm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noProof="0" dirty="0"/>
                  <a:t>For the isotopes H1, H2, and H3, </a:t>
                </a:r>
                <a:r>
                  <a:rPr lang="en-GB" i="1" noProof="0" dirty="0" err="1"/>
                  <a:t>b</a:t>
                </a:r>
                <a:r>
                  <a:rPr lang="en-GB" i="1" baseline="-25000" noProof="0" dirty="0" err="1"/>
                  <a:t>coh</a:t>
                </a:r>
                <a:r>
                  <a:rPr lang="en-GB" noProof="0" dirty="0"/>
                  <a:t> and </a:t>
                </a:r>
                <a:r>
                  <a:rPr lang="en-GB" i="1" noProof="0" dirty="0" err="1"/>
                  <a:t>b</a:t>
                </a:r>
                <a:r>
                  <a:rPr lang="en-GB" i="1" baseline="-25000" noProof="0" dirty="0" err="1"/>
                  <a:t>inc</a:t>
                </a:r>
                <a:r>
                  <a:rPr lang="en-GB" noProof="0" dirty="0"/>
                  <a:t> depend on their:</a:t>
                </a:r>
              </a:p>
              <a:p>
                <a:r>
                  <a:rPr lang="en-GB" i="1" noProof="0" dirty="0"/>
                  <a:t>b</a:t>
                </a:r>
                <a:r>
                  <a:rPr lang="en-GB" i="1" baseline="-25000" noProof="0" dirty="0"/>
                  <a:t>-</a:t>
                </a:r>
                <a:r>
                  <a:rPr lang="en-GB" noProof="0" dirty="0"/>
                  <a:t> and </a:t>
                </a:r>
                <a:r>
                  <a:rPr lang="en-GB" i="1" noProof="0" dirty="0"/>
                  <a:t>b</a:t>
                </a:r>
                <a:r>
                  <a:rPr lang="en-GB" i="1" baseline="-25000" noProof="0" dirty="0"/>
                  <a:t>+</a:t>
                </a:r>
                <a:r>
                  <a:rPr lang="en-GB" noProof="0" dirty="0"/>
                  <a:t> which are the </a:t>
                </a:r>
                <a:r>
                  <a:rPr lang="en-GB" b="1" noProof="0" dirty="0"/>
                  <a:t>scattering lengths,</a:t>
                </a:r>
                <a:endParaRPr lang="en-GB" noProof="0" dirty="0"/>
              </a:p>
              <a:p>
                <a:r>
                  <a:rPr lang="en-GB" noProof="0" dirty="0"/>
                  <a:t>p</a:t>
                </a:r>
                <a:r>
                  <a:rPr lang="en-GB" baseline="-25000" noProof="0" dirty="0"/>
                  <a:t>-</a:t>
                </a:r>
                <a:r>
                  <a:rPr lang="en-GB" noProof="0" dirty="0"/>
                  <a:t> and p</a:t>
                </a:r>
                <a:r>
                  <a:rPr lang="en-GB" baseline="30000" noProof="0" dirty="0"/>
                  <a:t>+ </a:t>
                </a:r>
                <a:r>
                  <a:rPr lang="en-GB" noProof="0" dirty="0"/>
                  <a:t>which are the </a:t>
                </a:r>
                <a:r>
                  <a:rPr lang="en-GB" b="1" noProof="0" dirty="0"/>
                  <a:t>occupation probabilities</a:t>
                </a:r>
              </a:p>
              <a:p>
                <a:r>
                  <a:rPr lang="en-GB" noProof="0" dirty="0"/>
                  <a:t>for the combined neutron-plus-nucleus system with</a:t>
                </a:r>
                <a:r>
                  <a:rPr lang="en-GB" b="1" noProof="0" dirty="0"/>
                  <a:t> </a:t>
                </a:r>
                <a:r>
                  <a:rPr lang="en-GB" noProof="0" dirty="0"/>
                  <a:t>spins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1" noProof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-</m:t>
                    </m:r>
                    <m:f>
                      <m:fPr>
                        <m:ctrlPr>
                          <a:rPr lang="en-GB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noProof="0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1" noProof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noProof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 noProof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noProof="0" dirty="0"/>
                  <a:t> </a:t>
                </a:r>
              </a:p>
              <a:p>
                <a:pPr marL="0" indent="0">
                  <a:buNone/>
                </a:pPr>
                <a:r>
                  <a:rPr lang="en-GB" noProof="0" dirty="0"/>
                  <a:t>For example, H1 has:</a:t>
                </a:r>
              </a:p>
              <a:p>
                <a:r>
                  <a:rPr lang="en-GB" noProof="0" dirty="0"/>
                  <a:t>a spin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1" noProof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noProof="0" dirty="0"/>
                  <a:t> </a:t>
                </a:r>
              </a:p>
              <a:p>
                <a:r>
                  <a:rPr lang="en-GB" noProof="0" dirty="0"/>
                  <a:t>combined spin with the neutron of 0 and 1 with degeneracies of 1 and 3.</a:t>
                </a:r>
              </a:p>
              <a:p>
                <a:pPr marL="0" indent="0">
                  <a:buNone/>
                </a:pPr>
                <a:r>
                  <a:rPr lang="en-GB" noProof="0" dirty="0"/>
                  <a:t>The measured scattering lengths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1" noProof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-,</m:t>
                        </m:r>
                        <m:r>
                          <m:rPr>
                            <m:sty m:val="p"/>
                          </m:rPr>
                          <a:rPr lang="en-GB" b="0" i="1" noProof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=-47.5</m:t>
                    </m:r>
                  </m:oMath>
                </a14:m>
                <a:r>
                  <a:rPr lang="en-GB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1" noProof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+,</m:t>
                        </m:r>
                        <m:r>
                          <m:rPr>
                            <m:sty m:val="p"/>
                          </m:rPr>
                          <a:rPr lang="en-GB" b="0" i="1" noProof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=10.85</m:t>
                    </m:r>
                  </m:oMath>
                </a14:m>
                <a:endParaRPr lang="en-GB" noProof="0" dirty="0"/>
              </a:p>
              <a:p>
                <a:pPr marL="0" indent="0">
                  <a:buNone/>
                </a:pPr>
                <a:r>
                  <a:rPr lang="en-GB" noProof="0" dirty="0"/>
                  <a:t>Therefore, the coherent and incoherent scattering lengths will be</a:t>
                </a:r>
              </a:p>
              <a:p>
                <a:endParaRPr lang="en-GB" noProof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0EF3FF-9591-F46F-25A1-A8A86C9DC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699" y="935648"/>
                <a:ext cx="10917116" cy="3522052"/>
              </a:xfrm>
              <a:blipFill>
                <a:blip r:embed="rId2"/>
                <a:stretch>
                  <a:fillRect l="-698" t="-2158" b="-3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AB4743D-A23A-8B48-0F71-87C5C7F0D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696" y="4457700"/>
            <a:ext cx="5978281" cy="815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48F280-1072-7442-DD3E-B79C2CF77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696" y="5246077"/>
            <a:ext cx="7772400" cy="818147"/>
          </a:xfrm>
          <a:prstGeom prst="rect">
            <a:avLst/>
          </a:prstGeom>
        </p:spPr>
      </p:pic>
      <p:pic>
        <p:nvPicPr>
          <p:cNvPr id="10" name="Picture 9" descr="A table with numbers and a number&#10;&#10;Description automatically generated">
            <a:extLst>
              <a:ext uri="{FF2B5EF4-FFF2-40B4-BE49-F238E27FC236}">
                <a16:creationId xmlns:a16="http://schemas.microsoft.com/office/drawing/2014/main" id="{0D458FA5-0CAE-C1A3-8EB8-3977BD284C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439" y="723438"/>
            <a:ext cx="58928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88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C93E8-5A36-ACFB-F667-CA30B7ECD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A0F3-B643-0741-F5E9-C12B5A3E2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9678710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Isotopic incoherence</a:t>
            </a:r>
            <a:endParaRPr lang="en-GB" noProof="0" dirty="0">
              <a:latin typeface="Arial"/>
              <a:cs typeface="Arial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49DF46-4FCA-D0C0-0C23-5B6C8266D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772" y="283571"/>
            <a:ext cx="3561528" cy="27937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FE3CB0-FA41-E23B-FC4C-621A9FCD83B7}"/>
              </a:ext>
            </a:extLst>
          </p:cNvPr>
          <p:cNvSpPr txBox="1"/>
          <p:nvPr/>
        </p:nvSpPr>
        <p:spPr>
          <a:xfrm>
            <a:off x="342900" y="1072662"/>
            <a:ext cx="777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Argon isotopes are all zero spin nuclei which lead to zero </a:t>
            </a:r>
            <a:r>
              <a:rPr lang="en-GB" i="1" noProof="0" dirty="0" err="1">
                <a:solidFill>
                  <a:schemeClr val="accent1"/>
                </a:solidFill>
              </a:rPr>
              <a:t>b</a:t>
            </a:r>
            <a:r>
              <a:rPr lang="en-GB" i="1" baseline="-25000" noProof="0" dirty="0" err="1">
                <a:solidFill>
                  <a:schemeClr val="accent1"/>
                </a:solidFill>
              </a:rPr>
              <a:t>inc</a:t>
            </a:r>
            <a:r>
              <a:rPr lang="en-GB" noProof="0" dirty="0">
                <a:solidFill>
                  <a:schemeClr val="accent1"/>
                </a:solidFill>
              </a:rPr>
              <a:t> values. Unlike for the hydrogen atoms, there will be no contribution to the incoherent scattering from </a:t>
            </a:r>
            <a:r>
              <a:rPr lang="en-GB" b="1" noProof="0" dirty="0">
                <a:solidFill>
                  <a:schemeClr val="accent1"/>
                </a:solidFill>
              </a:rPr>
              <a:t>spin incoherence</a:t>
            </a:r>
            <a:r>
              <a:rPr lang="en-GB" noProof="0" dirty="0">
                <a:solidFill>
                  <a:schemeClr val="accent1"/>
                </a:solidFill>
              </a:rPr>
              <a:t>.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The </a:t>
            </a:r>
            <a:r>
              <a:rPr lang="en-GB" i="1" noProof="0" dirty="0" err="1">
                <a:solidFill>
                  <a:schemeClr val="accent1"/>
                </a:solidFill>
              </a:rPr>
              <a:t>b</a:t>
            </a:r>
            <a:r>
              <a:rPr lang="en-GB" i="1" baseline="-25000" noProof="0" dirty="0" err="1">
                <a:solidFill>
                  <a:schemeClr val="accent1"/>
                </a:solidFill>
              </a:rPr>
              <a:t>inc</a:t>
            </a:r>
            <a:r>
              <a:rPr lang="en-GB" noProof="0" dirty="0">
                <a:solidFill>
                  <a:schemeClr val="accent1"/>
                </a:solidFill>
              </a:rPr>
              <a:t> for the </a:t>
            </a:r>
            <a:r>
              <a:rPr lang="en-GB" noProof="0" dirty="0" err="1">
                <a:solidFill>
                  <a:schemeClr val="accent1"/>
                </a:solidFill>
              </a:rPr>
              <a:t>Ar</a:t>
            </a:r>
            <a:r>
              <a:rPr lang="en-GB" noProof="0" dirty="0">
                <a:solidFill>
                  <a:schemeClr val="accent1"/>
                </a:solidFill>
              </a:rPr>
              <a:t> atom type arises from </a:t>
            </a:r>
            <a:r>
              <a:rPr lang="en-GB" b="1" noProof="0" dirty="0">
                <a:solidFill>
                  <a:schemeClr val="accent1"/>
                </a:solidFill>
              </a:rPr>
              <a:t>isotopic incoherence</a:t>
            </a:r>
            <a:r>
              <a:rPr lang="en-GB" noProof="0" dirty="0">
                <a:solidFill>
                  <a:schemeClr val="accent1"/>
                </a:solidFill>
              </a:rPr>
              <a:t>.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The natural abundances of the argon isotopes are 0.337%, 0.063%, and 99.6% for the Ar36, Ar38, and Ar40 isotopes, respectively.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The coherent and incoherent scattering lengths of argon are: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EF09A3-E122-9B8B-0424-614B34FA60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992" y="4702522"/>
            <a:ext cx="9741878" cy="5412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EB07BD-5B93-145B-FA85-B00822CEF0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824" y="4318645"/>
            <a:ext cx="7183316" cy="46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17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51E49-43B4-2BA0-14B8-1BA0ABB30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2BA9-9312-1691-29FE-483B38E11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9678710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Isotopic incoherence</a:t>
            </a:r>
            <a:endParaRPr lang="en-GB" noProof="0" dirty="0">
              <a:latin typeface="Arial"/>
              <a:cs typeface="Arial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FDDAC8-0433-12E9-5274-3A51A7D11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772" y="283571"/>
            <a:ext cx="3561528" cy="27937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C2B292-603B-CB50-C09D-2900886A9FE3}"/>
              </a:ext>
            </a:extLst>
          </p:cNvPr>
          <p:cNvSpPr txBox="1"/>
          <p:nvPr/>
        </p:nvSpPr>
        <p:spPr>
          <a:xfrm>
            <a:off x="342900" y="1072662"/>
            <a:ext cx="7772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When we use the </a:t>
            </a:r>
            <a:r>
              <a:rPr lang="en-GB" noProof="0" dirty="0" err="1">
                <a:solidFill>
                  <a:schemeClr val="accent1"/>
                </a:solidFill>
              </a:rPr>
              <a:t>Ar</a:t>
            </a:r>
            <a:r>
              <a:rPr lang="en-GB" noProof="0" dirty="0">
                <a:solidFill>
                  <a:schemeClr val="accent1"/>
                </a:solidFill>
              </a:rPr>
              <a:t> atom type in MDANSE, we assume that the isotopes of argon in our system are randomly distributed and follow their natural abundances. 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In the case of the atom types which are not specific isotopes </a:t>
            </a:r>
          </a:p>
          <a:p>
            <a:r>
              <a:rPr lang="en-GB" noProof="0" dirty="0">
                <a:solidFill>
                  <a:schemeClr val="accent1"/>
                </a:solidFill>
              </a:rPr>
              <a:t>(e.g. H and </a:t>
            </a:r>
            <a:r>
              <a:rPr lang="en-GB" noProof="0" dirty="0" err="1">
                <a:solidFill>
                  <a:schemeClr val="accent1"/>
                </a:solidFill>
              </a:rPr>
              <a:t>Ar</a:t>
            </a:r>
            <a:r>
              <a:rPr lang="en-GB" noProof="0" dirty="0">
                <a:solidFill>
                  <a:schemeClr val="accent1"/>
                </a:solidFill>
              </a:rPr>
              <a:t>) the </a:t>
            </a:r>
            <a:r>
              <a:rPr lang="en-GB" i="1" noProof="0" dirty="0" err="1">
                <a:solidFill>
                  <a:schemeClr val="accent1"/>
                </a:solidFill>
              </a:rPr>
              <a:t>b</a:t>
            </a:r>
            <a:r>
              <a:rPr lang="en-GB" i="1" baseline="-25000" noProof="0" dirty="0" err="1">
                <a:solidFill>
                  <a:schemeClr val="accent1"/>
                </a:solidFill>
              </a:rPr>
              <a:t>inc</a:t>
            </a:r>
            <a:r>
              <a:rPr lang="en-GB" noProof="0" dirty="0">
                <a:solidFill>
                  <a:schemeClr val="accent1"/>
                </a:solidFill>
              </a:rPr>
              <a:t> contains contributions from only spin and isotopic incoherence.</a:t>
            </a:r>
          </a:p>
          <a:p>
            <a:endParaRPr lang="en-GB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464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7028-E154-4B75-095C-4233ADB8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C52B-082A-8A22-2652-C636D49E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9678710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Chemical incoherence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E85AF-30F3-12F1-AE55-50335967D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9941170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Incoherent scattering can arise from a system where two or more atom types with </a:t>
            </a:r>
            <a:r>
              <a:rPr lang="en-GB" b="1" noProof="0" dirty="0"/>
              <a:t>different scattering lengths </a:t>
            </a:r>
            <a:r>
              <a:rPr lang="en-GB" noProof="0" dirty="0"/>
              <a:t>share </a:t>
            </a:r>
            <a:r>
              <a:rPr lang="en-GB" b="1" noProof="0" dirty="0"/>
              <a:t>similar trajectories and distributions </a:t>
            </a:r>
            <a:r>
              <a:rPr lang="en-GB" noProof="0" dirty="0"/>
              <a:t>across the system.</a:t>
            </a:r>
          </a:p>
          <a:p>
            <a:pPr marL="0" indent="0">
              <a:buNone/>
            </a:pPr>
            <a:r>
              <a:rPr lang="en-GB" noProof="0" dirty="0"/>
              <a:t>Incoherent scattering from this source of randomness is known as </a:t>
            </a:r>
            <a:r>
              <a:rPr lang="en-GB" b="1" i="1" noProof="0" dirty="0"/>
              <a:t>chemical incoherence</a:t>
            </a:r>
            <a:r>
              <a:rPr lang="en-GB" noProof="0" dirty="0"/>
              <a:t>.</a:t>
            </a:r>
          </a:p>
          <a:p>
            <a:pPr marL="0" indent="0">
              <a:buNone/>
            </a:pPr>
            <a:r>
              <a:rPr lang="en-GB" noProof="0" dirty="0"/>
              <a:t>Chemical incoherence is included in MDANSE but will turn up in the coherent signal, (dynamic coherent structure factor) rather than the incoherent (dynamic incoherent structure factor).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71932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88A4-8D04-B2A8-1A7A-4B7901045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710D-1FEE-75A9-670D-109E3560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9678710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Scenario of the tutorial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BB912-7A80-06AE-87B4-CF5BEEEB7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11031416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We will create three new atom types, `Atm1`, `Atm2`, and `Atm1Atm2`.</a:t>
            </a:r>
          </a:p>
          <a:p>
            <a:pPr marL="0" indent="0">
              <a:buNone/>
            </a:pPr>
            <a:r>
              <a:rPr lang="en-GB" noProof="0" dirty="0"/>
              <a:t>`Atm1Atm2` will be a combined atom type, representing a mixture of Atm1 and Atm2.</a:t>
            </a:r>
          </a:p>
          <a:p>
            <a:pPr marL="0" indent="0">
              <a:buNone/>
            </a:pPr>
            <a:r>
              <a:rPr lang="en-GB" noProof="0" dirty="0"/>
              <a:t>We will calculate the dynamic coherent structure factor (</a:t>
            </a:r>
            <a:r>
              <a:rPr lang="en-GB" b="1" noProof="0" dirty="0"/>
              <a:t>DCSF</a:t>
            </a:r>
            <a:r>
              <a:rPr lang="en-GB" noProof="0" dirty="0"/>
              <a:t>) and dynamic incoherent structure factor (</a:t>
            </a:r>
            <a:r>
              <a:rPr lang="en-GB" b="1" noProof="0" dirty="0"/>
              <a:t>DISF</a:t>
            </a:r>
            <a:r>
              <a:rPr lang="en-GB" noProof="0" dirty="0"/>
              <a:t>) for:</a:t>
            </a:r>
          </a:p>
          <a:p>
            <a:r>
              <a:rPr lang="en-GB" noProof="0" dirty="0"/>
              <a:t>a 50/50 mixture of `Atm1` and `Atm2`</a:t>
            </a:r>
          </a:p>
          <a:p>
            <a:r>
              <a:rPr lang="en-GB" noProof="0" dirty="0"/>
              <a:t>a system of 100% `Atm1Atm2`.</a:t>
            </a:r>
          </a:p>
          <a:p>
            <a:pPr marL="0" indent="0">
              <a:buNone/>
            </a:pPr>
            <a:r>
              <a:rPr lang="en-GB" noProof="0" dirty="0"/>
              <a:t>We will then combine the DCSF and DISF results using the neutron total dynamic structure factor (NTDSF) job.</a:t>
            </a:r>
          </a:p>
          <a:p>
            <a:pPr marL="0" indent="0">
              <a:buNone/>
            </a:pPr>
            <a:r>
              <a:rPr lang="en-GB" noProof="0" dirty="0"/>
              <a:t>We will compare the coherent and incoherent signal between the two systems.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71793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23340-A8D1-DFD3-2842-15811D62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37E-01D0-49CE-D465-5102620D3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3030415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The trajectories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4D63C-6C1A-53CE-D880-DDBC3E207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11031416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We have already generated a trajectory of argon in another exercise.</a:t>
            </a:r>
          </a:p>
          <a:p>
            <a:pPr marL="0" indent="0">
              <a:buNone/>
            </a:pPr>
            <a:r>
              <a:rPr lang="en-GB" noProof="0" dirty="0"/>
              <a:t>We are going to re-use it and change the chemical elements assigned to atoms.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r>
              <a:rPr lang="en-GB" noProof="0" dirty="0"/>
              <a:t>NOTE:</a:t>
            </a:r>
          </a:p>
          <a:p>
            <a:pPr marL="0" indent="0">
              <a:buNone/>
            </a:pPr>
            <a:r>
              <a:rPr lang="en-GB" noProof="0" dirty="0"/>
              <a:t>You may want to start the MDANSE GUI in the directory of this tutorial, using</a:t>
            </a:r>
          </a:p>
          <a:p>
            <a:pPr marL="0" indent="0">
              <a:buNone/>
            </a:pPr>
            <a:r>
              <a:rPr lang="en-GB" noProof="0" dirty="0" err="1">
                <a:latin typeface="Consolas" panose="020B0609020204030204" pitchFamily="49" charset="0"/>
                <a:cs typeface="Consolas" panose="020B0609020204030204" pitchFamily="49" charset="0"/>
              </a:rPr>
              <a:t>mdanse_gui</a:t>
            </a:r>
            <a:r>
              <a:rPr lang="en-GB" noProof="0" dirty="0">
                <a:latin typeface="Consolas" panose="020B0609020204030204" pitchFamily="49" charset="0"/>
                <a:cs typeface="Consolas" panose="020B0609020204030204" pitchFamily="49" charset="0"/>
              </a:rPr>
              <a:t> --local</a:t>
            </a:r>
          </a:p>
          <a:p>
            <a:pPr marL="0" indent="0">
              <a:buNone/>
            </a:pPr>
            <a:r>
              <a:rPr lang="en-GB" noProof="0" dirty="0"/>
              <a:t>This will keep the changes to the atom database within the working directory, not affecting the central settings in the home directory.</a:t>
            </a:r>
          </a:p>
          <a:p>
            <a:pPr marL="0" indent="0">
              <a:buNone/>
            </a:pPr>
            <a:r>
              <a:rPr lang="en-GB" dirty="0"/>
              <a:t>At the same time, you will </a:t>
            </a:r>
            <a:r>
              <a:rPr lang="en-GB" b="1" dirty="0"/>
              <a:t>not</a:t>
            </a:r>
            <a:r>
              <a:rPr lang="en-GB" dirty="0"/>
              <a:t> have access to the settings and definitions you already created in the previous tutorials.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73862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B56D6-B834-B8AB-38A6-28331010B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10862-03C5-F6D0-F9D0-5238D6EF8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6063762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Adding new chemical elements</a:t>
            </a:r>
            <a:endParaRPr lang="en-GB" noProof="0" dirty="0">
              <a:latin typeface="Arial"/>
              <a:cs typeface="Arial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588DEC-5999-D4E8-B26B-912AB2C27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507" y="269298"/>
            <a:ext cx="4023220" cy="2023513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7473E22A-368E-2A92-80E8-86DC26DD3122}"/>
              </a:ext>
            </a:extLst>
          </p:cNvPr>
          <p:cNvSpPr/>
          <p:nvPr/>
        </p:nvSpPr>
        <p:spPr>
          <a:xfrm rot="17228135">
            <a:off x="6681475" y="1340817"/>
            <a:ext cx="972683" cy="7527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FF7F93-B1F7-9015-D5FC-ABCEBCA0B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092" y="2494492"/>
            <a:ext cx="4938896" cy="4430480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66B2905E-AD86-8386-5F16-4CA59614B879}"/>
              </a:ext>
            </a:extLst>
          </p:cNvPr>
          <p:cNvSpPr/>
          <p:nvPr/>
        </p:nvSpPr>
        <p:spPr>
          <a:xfrm rot="9502297">
            <a:off x="9190213" y="4526565"/>
            <a:ext cx="972683" cy="7527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97085-E782-3E82-87C9-8609F1256547}"/>
              </a:ext>
            </a:extLst>
          </p:cNvPr>
          <p:cNvSpPr txBox="1"/>
          <p:nvPr/>
        </p:nvSpPr>
        <p:spPr>
          <a:xfrm>
            <a:off x="266700" y="1065825"/>
            <a:ext cx="51259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In the MDANSE GUI, open the chemical elements editor.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Right-click the table to open the context menu.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Choose “New Custom Atom”.</a:t>
            </a:r>
          </a:p>
        </p:txBody>
      </p:sp>
    </p:spTree>
    <p:extLst>
      <p:ext uri="{BB962C8B-B14F-4D97-AF65-F5344CB8AC3E}">
        <p14:creationId xmlns:p14="http://schemas.microsoft.com/office/powerpoint/2010/main" val="4046939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2EFC8-98C0-3D07-9E66-C213304A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E34D7-A4E6-A96B-5983-394F465B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6063762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Adding new chemical elements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AD91F3-0CC9-B8EA-3F2B-8E4A34BA3053}"/>
              </a:ext>
            </a:extLst>
          </p:cNvPr>
          <p:cNvSpPr txBox="1"/>
          <p:nvPr/>
        </p:nvSpPr>
        <p:spPr>
          <a:xfrm>
            <a:off x="266699" y="1065825"/>
            <a:ext cx="69517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Create new atoms called “Atm1”, ”Atm2” and “Atm1Atm2”.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Set their scattering lengths to the values in the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Assign different colours to the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Set their van der Waals radius to 0.188 to make them visible in the 3D view. Or give them </a:t>
            </a:r>
            <a:r>
              <a:rPr lang="en-GB" b="1" noProof="0" dirty="0">
                <a:solidFill>
                  <a:schemeClr val="accent1"/>
                </a:solidFill>
              </a:rPr>
              <a:t>different radii </a:t>
            </a:r>
            <a:r>
              <a:rPr lang="en-GB" noProof="0" dirty="0">
                <a:solidFill>
                  <a:schemeClr val="accent1"/>
                </a:solidFill>
              </a:rPr>
              <a:t>to tell them apart?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You should expect the new entries to look like this: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FB9A5D8-8D1D-ECE5-5589-42FF305A1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108" y="651819"/>
            <a:ext cx="2851761" cy="15656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E400F7-CF81-8015-203C-6EE073186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108" y="2912084"/>
            <a:ext cx="2639331" cy="148492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C1390B-F20D-6D9F-1A3C-CFBDFD171B5D}"/>
              </a:ext>
            </a:extLst>
          </p:cNvPr>
          <p:cNvCxnSpPr/>
          <p:nvPr/>
        </p:nvCxnSpPr>
        <p:spPr>
          <a:xfrm>
            <a:off x="6682154" y="1248508"/>
            <a:ext cx="6739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4161727D-1F18-4743-0B3F-D7D53D820F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04" y="4754662"/>
            <a:ext cx="8477250" cy="1971453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6B30A00-84A5-42F6-7CFE-2A74244340D6}"/>
              </a:ext>
            </a:extLst>
          </p:cNvPr>
          <p:cNvCxnSpPr/>
          <p:nvPr/>
        </p:nvCxnSpPr>
        <p:spPr>
          <a:xfrm>
            <a:off x="6005146" y="1855177"/>
            <a:ext cx="1350962" cy="1125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own Arrow 19">
            <a:extLst>
              <a:ext uri="{FF2B5EF4-FFF2-40B4-BE49-F238E27FC236}">
                <a16:creationId xmlns:a16="http://schemas.microsoft.com/office/drawing/2014/main" id="{F260DE84-DF7C-B1A7-CA3F-F3102A02AE9E}"/>
              </a:ext>
            </a:extLst>
          </p:cNvPr>
          <p:cNvSpPr/>
          <p:nvPr/>
        </p:nvSpPr>
        <p:spPr>
          <a:xfrm>
            <a:off x="2989385" y="3928147"/>
            <a:ext cx="1397244" cy="5735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38286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DDC7B-B776-6CAB-E142-4AAEAF381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5916-33E3-F4F8-3878-AA6A1172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6063762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Replacing atoms in the trajectory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FEF657-D139-30CF-B30C-581D83ECA883}"/>
              </a:ext>
            </a:extLst>
          </p:cNvPr>
          <p:cNvSpPr txBox="1"/>
          <p:nvPr/>
        </p:nvSpPr>
        <p:spPr>
          <a:xfrm>
            <a:off x="266699" y="1065825"/>
            <a:ext cx="69517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Load the argon trajectory and select </a:t>
            </a:r>
            <a:r>
              <a:rPr lang="en-GB" noProof="0" dirty="0" err="1">
                <a:solidFill>
                  <a:schemeClr val="accent1"/>
                </a:solidFill>
              </a:rPr>
              <a:t>TrajectoryEditor</a:t>
            </a:r>
            <a:r>
              <a:rPr lang="en-GB" noProof="0" dirty="0">
                <a:solidFill>
                  <a:schemeClr val="accent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The input field you will need is Atom transmutation.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To replace all atoms with “Atm1Atm2, open the Atom transmutation helper.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CE7B1C-8FBD-6F2A-619A-5C67E5728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910" y="305501"/>
            <a:ext cx="4062673" cy="54911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91E939-16C6-8B80-F8A0-FA1516ACE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" y="2127738"/>
            <a:ext cx="7220397" cy="71522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B560F9-60D5-452F-0CA0-6F26DD4F68E3}"/>
              </a:ext>
            </a:extLst>
          </p:cNvPr>
          <p:cNvCxnSpPr/>
          <p:nvPr/>
        </p:nvCxnSpPr>
        <p:spPr>
          <a:xfrm>
            <a:off x="6096000" y="1239715"/>
            <a:ext cx="15269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ight Arrow 13">
            <a:extLst>
              <a:ext uri="{FF2B5EF4-FFF2-40B4-BE49-F238E27FC236}">
                <a16:creationId xmlns:a16="http://schemas.microsoft.com/office/drawing/2014/main" id="{73CA2E4B-9601-D2F2-7A23-E21210DB4E84}"/>
              </a:ext>
            </a:extLst>
          </p:cNvPr>
          <p:cNvSpPr/>
          <p:nvPr/>
        </p:nvSpPr>
        <p:spPr>
          <a:xfrm rot="7389525">
            <a:off x="9893547" y="4674637"/>
            <a:ext cx="749961" cy="6359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D8C90499-1C0D-BB3A-0598-A2A4920B6578}"/>
              </a:ext>
            </a:extLst>
          </p:cNvPr>
          <p:cNvSpPr/>
          <p:nvPr/>
        </p:nvSpPr>
        <p:spPr>
          <a:xfrm rot="18187794">
            <a:off x="5752858" y="2619765"/>
            <a:ext cx="325316" cy="4464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74195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198CE-6F03-9C8C-ADCF-B21E69B0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FB488E6C-69CF-BDF9-6B89-CA2A422BD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857" y="1712156"/>
            <a:ext cx="4506784" cy="41990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30A9EF-B5BF-C0D7-752B-847EC9BD7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6063762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Replacing atoms in the trajectory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2025DF-2551-CAC2-7760-C369D4444C4D}"/>
              </a:ext>
            </a:extLst>
          </p:cNvPr>
          <p:cNvSpPr txBox="1"/>
          <p:nvPr/>
        </p:nvSpPr>
        <p:spPr>
          <a:xfrm>
            <a:off x="266699" y="1065825"/>
            <a:ext cx="65825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To replace all atoms with “Atm1Atm2”, open the Atom transmutation helper.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Since all the atoms are selected by default, you need to set the atom type to Atm1Atm2, then click “Transmute”.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The bottom-right text field should now contain the list of transmuted atoms.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All that’s left to do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close the dialog,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change the output file name,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chemeClr val="accent1"/>
                </a:solidFill>
              </a:rPr>
              <a:t>click “run”.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C8567F31-F1B2-C8A1-8A16-05DB4C82917C}"/>
              </a:ext>
            </a:extLst>
          </p:cNvPr>
          <p:cNvSpPr/>
          <p:nvPr/>
        </p:nvSpPr>
        <p:spPr>
          <a:xfrm rot="7389525">
            <a:off x="9991673" y="1394197"/>
            <a:ext cx="749961" cy="6359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36797FE9-84B6-3222-FD02-81AC10889920}"/>
              </a:ext>
            </a:extLst>
          </p:cNvPr>
          <p:cNvSpPr/>
          <p:nvPr/>
        </p:nvSpPr>
        <p:spPr>
          <a:xfrm rot="20608537">
            <a:off x="6521642" y="2197228"/>
            <a:ext cx="749961" cy="6359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9701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D3E1A-F44E-B578-88FC-C5B916E71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31AB-51CF-34A4-BA7B-696FD4847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6063762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Replacing atoms in the trajectory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093541-5CD4-1C5B-9311-E83777361E16}"/>
              </a:ext>
            </a:extLst>
          </p:cNvPr>
          <p:cNvSpPr txBox="1"/>
          <p:nvPr/>
        </p:nvSpPr>
        <p:spPr>
          <a:xfrm>
            <a:off x="266699" y="1065825"/>
            <a:ext cx="81123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In the second trajectory, we want assign Atm1 and Atm2 types to 50% of the atom each, randomly.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There is no option of doing it automatically in the GUI, so instead we will run the script “</a:t>
            </a:r>
            <a:r>
              <a:rPr lang="en-GB" noProof="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mdanse_inputs</a:t>
            </a:r>
            <a:r>
              <a:rPr lang="en-GB" noProof="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/script2_random.py</a:t>
            </a:r>
            <a:r>
              <a:rPr lang="en-GB" noProof="0" dirty="0">
                <a:solidFill>
                  <a:schemeClr val="accent1"/>
                </a:solidFill>
              </a:rPr>
              <a:t>”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The script will output a text string that can be pasted directly into the Atom transmutation text field, without even opening the helper dialog.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In the end, that part of the GUI will look similar to this: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endParaRPr lang="en-GB" noProof="0" dirty="0">
              <a:solidFill>
                <a:schemeClr val="accent1"/>
              </a:solidFill>
            </a:endParaRPr>
          </a:p>
          <a:p>
            <a:endParaRPr lang="en-GB" noProof="0" dirty="0">
              <a:solidFill>
                <a:schemeClr val="accent1"/>
              </a:solidFill>
            </a:endParaRPr>
          </a:p>
          <a:p>
            <a:endParaRPr lang="en-GB" noProof="0" dirty="0">
              <a:solidFill>
                <a:schemeClr val="accent1"/>
              </a:solidFill>
            </a:endParaRP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Again, you can now change the output file name and click “run”.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F5E13C-3252-C905-B64F-48F558B55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" y="4037747"/>
            <a:ext cx="10702632" cy="10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13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F8D8-963B-C35C-D3A5-4A620A989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AB6B-10A9-E2DB-BD3A-5E1E6CF57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6063762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Replacing atoms in the trajectory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5C2581-D3A2-A4E7-7B6A-B24C7C30374C}"/>
              </a:ext>
            </a:extLst>
          </p:cNvPr>
          <p:cNvSpPr txBox="1"/>
          <p:nvPr/>
        </p:nvSpPr>
        <p:spPr>
          <a:xfrm>
            <a:off x="266699" y="1065825"/>
            <a:ext cx="81123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In the second trajectory, we want assign Atm1 and Atm2 types to 50% of the atom each, randomly.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There is no option of doing it automatically in the GUI, so instead we will run the script “</a:t>
            </a:r>
            <a:r>
              <a:rPr lang="en-GB" noProof="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mdanse_inputs</a:t>
            </a:r>
            <a:r>
              <a:rPr lang="en-GB" noProof="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/script2_random.py</a:t>
            </a:r>
            <a:r>
              <a:rPr lang="en-GB" noProof="0" dirty="0">
                <a:solidFill>
                  <a:schemeClr val="accent1"/>
                </a:solidFill>
              </a:rPr>
              <a:t>”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The script will output a text string that can be pasted directly into the Atom transmutation text field, without even opening the helper dialog.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In the end, that part of the GUI will look similar to this:</a:t>
            </a:r>
          </a:p>
          <a:p>
            <a:endParaRPr lang="en-GB" noProof="0" dirty="0">
              <a:solidFill>
                <a:schemeClr val="accent1"/>
              </a:solidFill>
            </a:endParaRPr>
          </a:p>
          <a:p>
            <a:endParaRPr lang="en-GB" noProof="0" dirty="0">
              <a:solidFill>
                <a:schemeClr val="accent1"/>
              </a:solidFill>
            </a:endParaRPr>
          </a:p>
          <a:p>
            <a:endParaRPr lang="en-GB" noProof="0" dirty="0">
              <a:solidFill>
                <a:schemeClr val="accent1"/>
              </a:solidFill>
            </a:endParaRPr>
          </a:p>
          <a:p>
            <a:endParaRPr lang="en-GB" noProof="0" dirty="0">
              <a:solidFill>
                <a:schemeClr val="accent1"/>
              </a:solidFill>
            </a:endParaRPr>
          </a:p>
          <a:p>
            <a:endParaRPr lang="en-GB" noProof="0" dirty="0">
              <a:solidFill>
                <a:schemeClr val="accent1"/>
              </a:solidFill>
            </a:endParaRPr>
          </a:p>
          <a:p>
            <a:r>
              <a:rPr lang="en-GB" noProof="0" dirty="0">
                <a:solidFill>
                  <a:schemeClr val="accent1"/>
                </a:solidFill>
              </a:rPr>
              <a:t>Again, you can now change the output file name and click “run”.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245ECE-5B2C-7795-44DF-1A8ECC521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" y="4037747"/>
            <a:ext cx="10702632" cy="10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55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9945-A874-2C79-7DCD-C87B2B518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E1A51-6146-07AB-4989-1F6B58C4C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6063762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Replacing atoms in the trajectory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E0779D-E9E9-F1C5-7E76-6041A7428AAA}"/>
              </a:ext>
            </a:extLst>
          </p:cNvPr>
          <p:cNvSpPr txBox="1"/>
          <p:nvPr/>
        </p:nvSpPr>
        <p:spPr>
          <a:xfrm>
            <a:off x="266699" y="1065825"/>
            <a:ext cx="8112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Now, you should have two trajectories, looking like this: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162CA6-5E70-7041-9776-F2DC88DCF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628" y="1559359"/>
            <a:ext cx="4082143" cy="40231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CF9E04-2CC3-E010-A5F7-9130E0AB1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083" y="1559359"/>
            <a:ext cx="3979287" cy="402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97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31A85-0C2F-7A97-EE9E-FAA8975DA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FB8F-1E32-65A8-7416-7717A6874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08907-A0EE-69E2-9249-5DF84F9B5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6210300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We can start calculating the neutron observables for both trajectories.</a:t>
            </a:r>
          </a:p>
          <a:p>
            <a:pPr marL="0" indent="0">
              <a:buNone/>
            </a:pPr>
            <a:r>
              <a:rPr lang="en-GB" noProof="0" dirty="0"/>
              <a:t>In the </a:t>
            </a:r>
            <a:r>
              <a:rPr lang="en-GB" b="1" noProof="0" dirty="0"/>
              <a:t>Instruments tab</a:t>
            </a:r>
            <a:r>
              <a:rPr lang="en-GB" noProof="0" dirty="0"/>
              <a:t>, create a new instrument.</a:t>
            </a:r>
          </a:p>
          <a:p>
            <a:pPr marL="0" indent="0">
              <a:buNone/>
            </a:pPr>
            <a:r>
              <a:rPr lang="en-GB" noProof="0" dirty="0"/>
              <a:t>(Do you still have the instrument profile you created in the previous tutorial? You can use it as the starting point.</a:t>
            </a:r>
          </a:p>
          <a:p>
            <a:pPr marL="0" indent="0">
              <a:buNone/>
            </a:pPr>
            <a:r>
              <a:rPr lang="en-GB" noProof="0" dirty="0"/>
              <a:t>In the instrument tab, right-click the previous instrument definition you created and click “Duplicate instrument”. Then edit the new instrument.)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AFACA2-CBC0-5D89-9EE0-0FC79B096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085" y="365125"/>
            <a:ext cx="5502729" cy="85086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9156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04934-B683-B1F4-595B-43F009149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A737-9918-5231-B557-FB14D5E61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25E9A-E432-A801-979C-662AF1AB6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7920"/>
            <a:ext cx="7766957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Set the instrument parameters as shown here: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r>
              <a:rPr lang="en-GB" noProof="0" dirty="0"/>
              <a:t>In the Actions tab, select the new instrument and the first calculation type: </a:t>
            </a:r>
            <a:r>
              <a:rPr lang="en-GB" noProof="0" dirty="0" err="1"/>
              <a:t>DynamicCoherentStructureFactor</a:t>
            </a:r>
            <a:r>
              <a:rPr lang="en-GB" noProof="0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FFEF74-61A6-7D8B-2360-67F3BDC90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657" y="204693"/>
            <a:ext cx="3363686" cy="6448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FB2194-3A58-82F9-AB24-2D01C0133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" y="2629367"/>
            <a:ext cx="6166757" cy="422863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0CF00A-E2DA-71DB-5625-788EB689AB26}"/>
              </a:ext>
            </a:extLst>
          </p:cNvPr>
          <p:cNvCxnSpPr/>
          <p:nvPr/>
        </p:nvCxnSpPr>
        <p:spPr>
          <a:xfrm>
            <a:off x="5671038" y="1178169"/>
            <a:ext cx="2224454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552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7292E-7647-C191-99FE-1CB6350D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69C55-1CA4-9631-8824-6639E1F8D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CF655-FC18-7828-87CB-70A4BDE9D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7920"/>
            <a:ext cx="6791642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In the Actions tab, select the new instrument and the first calculation type: </a:t>
            </a:r>
            <a:r>
              <a:rPr lang="en-GB" noProof="0" dirty="0" err="1"/>
              <a:t>DynamicCoherentStructureFactor</a:t>
            </a:r>
            <a:r>
              <a:rPr lang="en-GB" noProof="0" dirty="0"/>
              <a:t>.</a:t>
            </a:r>
          </a:p>
          <a:p>
            <a:pPr marL="0" indent="0">
              <a:buNone/>
            </a:pPr>
            <a:r>
              <a:rPr lang="en-GB" noProof="0" dirty="0"/>
              <a:t>The Q-vector generator parameters should be the same as here: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23DEB-1BB4-CF03-7C76-0656AF8E8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" y="2629367"/>
            <a:ext cx="6166757" cy="4228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C3D531-10EA-22CD-7796-C491910A0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545" y="443469"/>
            <a:ext cx="4387149" cy="3240508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E0FC89F8-1849-CD7A-AE85-EF3179F57878}"/>
              </a:ext>
            </a:extLst>
          </p:cNvPr>
          <p:cNvSpPr/>
          <p:nvPr/>
        </p:nvSpPr>
        <p:spPr>
          <a:xfrm rot="16200000">
            <a:off x="8523623" y="3766717"/>
            <a:ext cx="1608992" cy="1600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3796A1-DE7E-81D7-C213-75E2B0AF83D2}"/>
              </a:ext>
            </a:extLst>
          </p:cNvPr>
          <p:cNvCxnSpPr/>
          <p:nvPr/>
        </p:nvCxnSpPr>
        <p:spPr>
          <a:xfrm>
            <a:off x="1573823" y="2136531"/>
            <a:ext cx="55607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65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E975-4655-E73D-1AA7-DC4DD980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EDFAB3E-9F34-4176-4C13-30D9FAE50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18" y="206254"/>
            <a:ext cx="4427795" cy="35208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2A0D41-0A21-DF6D-A99F-8F379B77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D5973-4AA4-9ACF-C7B9-37636FEF2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7920"/>
            <a:ext cx="6791642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In the Actions tab, select the new instrument and the first calculation type: </a:t>
            </a:r>
            <a:r>
              <a:rPr lang="en-GB" noProof="0" dirty="0" err="1"/>
              <a:t>DynamicCoherentStructureFactor</a:t>
            </a:r>
            <a:r>
              <a:rPr lang="en-GB" noProof="0" dirty="0"/>
              <a:t>.</a:t>
            </a:r>
          </a:p>
          <a:p>
            <a:pPr marL="0" indent="0">
              <a:buNone/>
            </a:pPr>
            <a:r>
              <a:rPr lang="en-GB" noProof="0" dirty="0"/>
              <a:t>The Q-vector generator parameters should be the same as here: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93DC7-6E8F-E2D0-E7CE-DDEE74067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" y="2629367"/>
            <a:ext cx="6166757" cy="4228633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C509BDEF-85FE-1956-2E8B-159593171DB9}"/>
              </a:ext>
            </a:extLst>
          </p:cNvPr>
          <p:cNvSpPr/>
          <p:nvPr/>
        </p:nvSpPr>
        <p:spPr>
          <a:xfrm rot="7553154">
            <a:off x="9109202" y="434086"/>
            <a:ext cx="799647" cy="8068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8A9DB9-0130-C24B-AECC-180321F704E2}"/>
              </a:ext>
            </a:extLst>
          </p:cNvPr>
          <p:cNvCxnSpPr/>
          <p:nvPr/>
        </p:nvCxnSpPr>
        <p:spPr>
          <a:xfrm>
            <a:off x="1573823" y="2136531"/>
            <a:ext cx="55607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50C24DA-26A8-B4CC-D789-EB309C3CA605}"/>
              </a:ext>
            </a:extLst>
          </p:cNvPr>
          <p:cNvSpPr txBox="1"/>
          <p:nvPr/>
        </p:nvSpPr>
        <p:spPr>
          <a:xfrm>
            <a:off x="7058343" y="4000500"/>
            <a:ext cx="4485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NOTE:</a:t>
            </a:r>
          </a:p>
          <a:p>
            <a:r>
              <a:rPr lang="en-GB" noProof="0" dirty="0">
                <a:solidFill>
                  <a:schemeClr val="accent1"/>
                </a:solidFill>
              </a:rPr>
              <a:t>We set the random seed to 1 to make sure that the results are reproducible between repeated calculations.</a:t>
            </a:r>
          </a:p>
        </p:txBody>
      </p:sp>
    </p:spTree>
    <p:extLst>
      <p:ext uri="{BB962C8B-B14F-4D97-AF65-F5344CB8AC3E}">
        <p14:creationId xmlns:p14="http://schemas.microsoft.com/office/powerpoint/2010/main" val="3061223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FC295-31A5-7A70-7A9D-BD5EC43E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48E2BA-CAAF-B93F-25E5-44E60BFB2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18" y="206254"/>
            <a:ext cx="4427795" cy="35208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7EA563-171B-FA5C-9A4E-D6C258CC4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E1980-E788-1EF0-BA41-16F8D08A6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7920"/>
            <a:ext cx="6791642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In the Actions tab, select the new instrument and the first calculation type: </a:t>
            </a:r>
            <a:r>
              <a:rPr lang="en-GB" noProof="0" dirty="0" err="1"/>
              <a:t>DynamicCoherentStructureFactor</a:t>
            </a:r>
            <a:r>
              <a:rPr lang="en-GB" noProof="0" dirty="0"/>
              <a:t>.</a:t>
            </a:r>
          </a:p>
          <a:p>
            <a:pPr marL="0" indent="0">
              <a:buNone/>
            </a:pPr>
            <a:r>
              <a:rPr lang="en-GB" noProof="0" dirty="0"/>
              <a:t>The Q-vector generator parameters should be the same as here: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7C5DCF-7130-0A4E-A19F-6BA335ECF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" y="2629367"/>
            <a:ext cx="6166757" cy="4228633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FDF7F567-00CB-3C9B-EE78-17AFFC14DE76}"/>
              </a:ext>
            </a:extLst>
          </p:cNvPr>
          <p:cNvSpPr/>
          <p:nvPr/>
        </p:nvSpPr>
        <p:spPr>
          <a:xfrm rot="7553154">
            <a:off x="9109202" y="434086"/>
            <a:ext cx="799647" cy="8068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7A9B48-82FE-A334-BD00-94628F4831F3}"/>
              </a:ext>
            </a:extLst>
          </p:cNvPr>
          <p:cNvCxnSpPr/>
          <p:nvPr/>
        </p:nvCxnSpPr>
        <p:spPr>
          <a:xfrm>
            <a:off x="1573823" y="2136531"/>
            <a:ext cx="55607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4E82A22-7B3F-32BF-A4A1-DFAA5A8986C4}"/>
              </a:ext>
            </a:extLst>
          </p:cNvPr>
          <p:cNvSpPr txBox="1"/>
          <p:nvPr/>
        </p:nvSpPr>
        <p:spPr>
          <a:xfrm>
            <a:off x="7058343" y="4000500"/>
            <a:ext cx="4485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NOTE:</a:t>
            </a:r>
          </a:p>
          <a:p>
            <a:r>
              <a:rPr lang="en-GB" noProof="0" dirty="0">
                <a:solidFill>
                  <a:schemeClr val="accent1"/>
                </a:solidFill>
              </a:rPr>
              <a:t>We set the random seed to 1 to make sure that the results are reproducible between repeated calculations.</a:t>
            </a:r>
          </a:p>
        </p:txBody>
      </p:sp>
    </p:spTree>
    <p:extLst>
      <p:ext uri="{BB962C8B-B14F-4D97-AF65-F5344CB8AC3E}">
        <p14:creationId xmlns:p14="http://schemas.microsoft.com/office/powerpoint/2010/main" val="2428139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A4660-63F7-C020-E35E-30DAB0FA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9340986-518C-6E78-4F0A-1147F9D8F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18" y="206254"/>
            <a:ext cx="4427795" cy="35208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97DD08-B068-2635-E61D-D57D4F9AB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44493-60C6-E606-6D96-C978C4D32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7920"/>
            <a:ext cx="6953216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Run the </a:t>
            </a:r>
            <a:r>
              <a:rPr lang="en-GB" b="1" noProof="0" dirty="0"/>
              <a:t>DCSF</a:t>
            </a:r>
            <a:r>
              <a:rPr lang="en-GB" noProof="0" dirty="0"/>
              <a:t> and </a:t>
            </a:r>
            <a:r>
              <a:rPr lang="en-GB" b="1" noProof="0" dirty="0"/>
              <a:t>DISF</a:t>
            </a:r>
            <a:r>
              <a:rPr lang="en-GB" noProof="0" dirty="0"/>
              <a:t> calculations, for </a:t>
            </a:r>
            <a:r>
              <a:rPr lang="en-GB" b="1" noProof="0" dirty="0"/>
              <a:t>both trajectories</a:t>
            </a:r>
            <a:r>
              <a:rPr lang="en-GB" noProof="0" dirty="0"/>
              <a:t>, while giving the output files meaningful names, such as:</a:t>
            </a:r>
          </a:p>
          <a:p>
            <a:pPr marL="0" indent="0">
              <a:buNone/>
            </a:pPr>
            <a:endParaRPr lang="en-GB" noProof="0" dirty="0"/>
          </a:p>
          <a:p>
            <a:r>
              <a:rPr lang="en-GB" noProof="0" dirty="0" err="1"/>
              <a:t>mdanse_outputs</a:t>
            </a:r>
            <a:r>
              <a:rPr lang="en-GB" noProof="0" dirty="0"/>
              <a:t>/disf_atm1atm2.mda</a:t>
            </a:r>
          </a:p>
          <a:p>
            <a:r>
              <a:rPr lang="en-GB" noProof="0" dirty="0" err="1"/>
              <a:t>mdanse_outputs</a:t>
            </a:r>
            <a:r>
              <a:rPr lang="en-GB" noProof="0" dirty="0"/>
              <a:t>/dcsf_atm1atm2.mda</a:t>
            </a:r>
          </a:p>
          <a:p>
            <a:pPr marL="0" indent="0">
              <a:buNone/>
            </a:pPr>
            <a:endParaRPr lang="en-GB" noProof="0" dirty="0"/>
          </a:p>
          <a:p>
            <a:r>
              <a:rPr lang="en-GB" noProof="0" dirty="0" err="1"/>
              <a:t>mdanse_outputs</a:t>
            </a:r>
            <a:r>
              <a:rPr lang="en-GB" noProof="0" dirty="0"/>
              <a:t>/disf_atm1_atm2.mda</a:t>
            </a:r>
          </a:p>
          <a:p>
            <a:r>
              <a:rPr lang="en-GB" noProof="0" dirty="0" err="1"/>
              <a:t>mdanse_outputs</a:t>
            </a:r>
            <a:r>
              <a:rPr lang="en-GB" noProof="0" dirty="0"/>
              <a:t>/dcsf_atm1_atm2.mda</a:t>
            </a:r>
          </a:p>
          <a:p>
            <a:pPr marL="0" indent="0">
              <a:buNone/>
            </a:pPr>
            <a:endParaRPr lang="en-GB" noProof="0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DE3673F2-0AEB-AC46-60B0-C616D692820A}"/>
              </a:ext>
            </a:extLst>
          </p:cNvPr>
          <p:cNvSpPr/>
          <p:nvPr/>
        </p:nvSpPr>
        <p:spPr>
          <a:xfrm rot="7553154">
            <a:off x="9109202" y="434086"/>
            <a:ext cx="799647" cy="8068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5D747-49EC-5A6C-410F-74514048A53E}"/>
              </a:ext>
            </a:extLst>
          </p:cNvPr>
          <p:cNvSpPr txBox="1"/>
          <p:nvPr/>
        </p:nvSpPr>
        <p:spPr>
          <a:xfrm>
            <a:off x="7459477" y="3886022"/>
            <a:ext cx="40990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chemeClr val="accent1"/>
                </a:solidFill>
              </a:rPr>
              <a:t>NOTE:</a:t>
            </a:r>
          </a:p>
          <a:p>
            <a:r>
              <a:rPr lang="en-GB" noProof="0" dirty="0">
                <a:solidFill>
                  <a:schemeClr val="accent1"/>
                </a:solidFill>
              </a:rPr>
              <a:t>We set the random seed to 1 to make sure that the results are reproducible between repeated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606316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76803-2906-2B6F-473B-A8E3626D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CBBF-DC9D-5667-4FC9-4473464E0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3ED28-E6DC-80B8-09B7-00017D630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7920"/>
            <a:ext cx="5166945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You can check on the progress of your analysis in the “Running Jobs” tab.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noProof="0" dirty="0"/>
              <a:t>It is fine to run multiple analysis tasks at the same time, as long as you have enough CPU cores and memory to spare.</a:t>
            </a:r>
          </a:p>
          <a:p>
            <a:pPr marL="0" indent="0">
              <a:buNone/>
            </a:pPr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A9A1E-59CF-9C67-A281-B37E73D6F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769" y="997920"/>
            <a:ext cx="4889358" cy="532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79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0955-A008-1BDC-2B0C-75DA4031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3EA30-E257-7306-DAC1-23FE412F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A0692-A0D5-F4E1-BF50-B7F455707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7920"/>
            <a:ext cx="6953216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Run the </a:t>
            </a:r>
            <a:r>
              <a:rPr lang="en-GB" noProof="0" dirty="0" err="1"/>
              <a:t>NeutronDynamicTotalStructureFactor</a:t>
            </a:r>
            <a:r>
              <a:rPr lang="en-GB" noProof="0" dirty="0"/>
              <a:t>.</a:t>
            </a:r>
          </a:p>
          <a:p>
            <a:pPr marL="0" indent="0">
              <a:buNone/>
            </a:pPr>
            <a:r>
              <a:rPr lang="en-GB" noProof="0" dirty="0"/>
              <a:t>Match the trajectory name to the input file names.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105AF-9B9E-DB76-B8E7-423F6B055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2151673"/>
            <a:ext cx="5007219" cy="3361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1C88F8-C24E-914B-96C6-4AA37360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15248"/>
            <a:ext cx="4321001" cy="24980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167720-8649-1530-7A31-2E0D7615623F}"/>
              </a:ext>
            </a:extLst>
          </p:cNvPr>
          <p:cNvSpPr txBox="1"/>
          <p:nvPr/>
        </p:nvSpPr>
        <p:spPr>
          <a:xfrm>
            <a:off x="6173251" y="1793337"/>
            <a:ext cx="4555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 err="1">
                <a:solidFill>
                  <a:schemeClr val="accent1"/>
                </a:solidFill>
              </a:rPr>
              <a:t>mdanse_outputs</a:t>
            </a:r>
            <a:r>
              <a:rPr lang="en-GB" noProof="0" dirty="0">
                <a:solidFill>
                  <a:schemeClr val="accent1"/>
                </a:solidFill>
              </a:rPr>
              <a:t>/disf_atm1atm2.mda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 err="1">
                <a:solidFill>
                  <a:schemeClr val="accent1"/>
                </a:solidFill>
              </a:rPr>
              <a:t>mdanse_outputs</a:t>
            </a:r>
            <a:r>
              <a:rPr lang="en-GB" noProof="0" dirty="0">
                <a:solidFill>
                  <a:schemeClr val="accent1"/>
                </a:solidFill>
              </a:rPr>
              <a:t>/dcsf_atm1atm2.mda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88375C2-3A48-0A05-DD79-CA5D0DCE111B}"/>
                  </a:ext>
                </a:extLst>
              </p14:cNvPr>
              <p14:cNvContentPartPr/>
              <p14:nvPr/>
            </p14:nvContentPartPr>
            <p14:xfrm>
              <a:off x="8306225" y="2138857"/>
              <a:ext cx="335880" cy="50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88375C2-3A48-0A05-DD79-CA5D0DCE11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97585" y="2130217"/>
                <a:ext cx="3535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9F68F01-ECD4-13F8-115E-D90BDC1CA663}"/>
                  </a:ext>
                </a:extLst>
              </p14:cNvPr>
              <p14:cNvContentPartPr/>
              <p14:nvPr/>
            </p14:nvContentPartPr>
            <p14:xfrm>
              <a:off x="8338985" y="2699017"/>
              <a:ext cx="322920" cy="23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9F68F01-ECD4-13F8-115E-D90BDC1CA6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30345" y="2690377"/>
                <a:ext cx="34056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11A9F044-C91D-53DD-F5B1-889E8144CA44}"/>
              </a:ext>
            </a:extLst>
          </p:cNvPr>
          <p:cNvGrpSpPr/>
          <p:nvPr/>
        </p:nvGrpSpPr>
        <p:grpSpPr>
          <a:xfrm>
            <a:off x="10057265" y="1973617"/>
            <a:ext cx="726480" cy="3201480"/>
            <a:chOff x="10057265" y="1973617"/>
            <a:chExt cx="726480" cy="320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5817B9-A51D-1481-9332-B2FC9AC44089}"/>
                    </a:ext>
                  </a:extLst>
                </p14:cNvPr>
                <p14:cNvContentPartPr/>
                <p14:nvPr/>
              </p14:nvContentPartPr>
              <p14:xfrm>
                <a:off x="10074545" y="1973617"/>
                <a:ext cx="709200" cy="3129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5817B9-A51D-1481-9332-B2FC9AC440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65545" y="1964617"/>
                  <a:ext cx="726840" cy="31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6DEE580-5898-9B3A-5F2A-A7C763E2010A}"/>
                    </a:ext>
                  </a:extLst>
                </p14:cNvPr>
                <p14:cNvContentPartPr/>
                <p14:nvPr/>
              </p14:nvContentPartPr>
              <p14:xfrm>
                <a:off x="10057265" y="5041897"/>
                <a:ext cx="180360" cy="133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6DEE580-5898-9B3A-5F2A-A7C763E201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48625" y="5033257"/>
                  <a:ext cx="19800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3CA6E3-10B2-B6F2-FF53-6BAF45B6AB25}"/>
              </a:ext>
            </a:extLst>
          </p:cNvPr>
          <p:cNvGrpSpPr/>
          <p:nvPr/>
        </p:nvGrpSpPr>
        <p:grpSpPr>
          <a:xfrm>
            <a:off x="5952905" y="2498497"/>
            <a:ext cx="487080" cy="1546200"/>
            <a:chOff x="5952905" y="2498497"/>
            <a:chExt cx="487080" cy="154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E635355-9DA2-CB6B-C40B-D58B38CDCE98}"/>
                    </a:ext>
                  </a:extLst>
                </p14:cNvPr>
                <p14:cNvContentPartPr/>
                <p14:nvPr/>
              </p14:nvContentPartPr>
              <p14:xfrm>
                <a:off x="5952905" y="2498497"/>
                <a:ext cx="429840" cy="1513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E635355-9DA2-CB6B-C40B-D58B38CDCE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44265" y="2489857"/>
                  <a:ext cx="447480" cy="15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9F63674-344B-541B-9849-657F72A59D6B}"/>
                    </a:ext>
                  </a:extLst>
                </p14:cNvPr>
                <p14:cNvContentPartPr/>
                <p14:nvPr/>
              </p14:nvContentPartPr>
              <p14:xfrm>
                <a:off x="6255665" y="3865777"/>
                <a:ext cx="184320" cy="178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9F63674-344B-541B-9849-657F72A59D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46665" y="3857137"/>
                  <a:ext cx="201960" cy="19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65578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3084-8B4D-32C6-F107-2598C1538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AA1F-2602-581E-A8D7-9090DFC8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4CECC-4F14-B7BE-333D-B2E2A3D7C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7920"/>
            <a:ext cx="6090137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Run the </a:t>
            </a:r>
            <a:r>
              <a:rPr lang="en-GB" noProof="0" dirty="0" err="1"/>
              <a:t>NeutronDynamicTotalStructureFactor</a:t>
            </a:r>
            <a:r>
              <a:rPr lang="en-GB" noProof="0" dirty="0"/>
              <a:t>.</a:t>
            </a:r>
          </a:p>
          <a:p>
            <a:pPr marL="0" indent="0">
              <a:buNone/>
            </a:pPr>
            <a:r>
              <a:rPr lang="en-GB" noProof="0" dirty="0"/>
              <a:t>Match the trajectory name to the input file names.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r>
              <a:rPr lang="en-GB" noProof="0" dirty="0"/>
              <a:t>Here, we assume that you used output file names:</a:t>
            </a:r>
          </a:p>
          <a:p>
            <a:r>
              <a:rPr lang="en-GB" noProof="0" dirty="0" err="1"/>
              <a:t>mdanse_outputs</a:t>
            </a:r>
            <a:r>
              <a:rPr lang="en-GB" noProof="0" dirty="0"/>
              <a:t>/ndtsf_atm1atm2.mda</a:t>
            </a:r>
          </a:p>
          <a:p>
            <a:r>
              <a:rPr lang="en-GB" noProof="0" dirty="0" err="1"/>
              <a:t>mdanse_outputs</a:t>
            </a:r>
            <a:r>
              <a:rPr lang="en-GB" noProof="0" dirty="0"/>
              <a:t>/ndtsf_atm1_atm2.mda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86647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55FD-3A80-5CEF-C5A7-1910669E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E0FB-8AA6-0A54-446B-1EA718858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6A428-6C7A-56B6-ED63-01DF90B7E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7920"/>
            <a:ext cx="7883768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In the Plot Creator tab, create plots to compare the results.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noProof="0" dirty="0"/>
              <a:t>Here, we compare</a:t>
            </a:r>
          </a:p>
          <a:p>
            <a:pPr marL="0" indent="0">
              <a:buNone/>
            </a:pPr>
            <a:r>
              <a:rPr lang="en-GB" dirty="0"/>
              <a:t>the total S(Q, </a:t>
            </a:r>
            <a:r>
              <a:rPr lang="en-GB" dirty="0" err="1"/>
              <a:t>ω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noProof="0" dirty="0"/>
              <a:t>from each trajectory.</a:t>
            </a:r>
          </a:p>
          <a:p>
            <a:pPr marL="0" indent="0">
              <a:buNone/>
            </a:pPr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DFCAE-137C-5708-A6A3-16F868EEA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407" y="1741981"/>
            <a:ext cx="9190891" cy="4924930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A1868D1C-4A24-567F-435E-BE064B870E35}"/>
              </a:ext>
            </a:extLst>
          </p:cNvPr>
          <p:cNvSpPr/>
          <p:nvPr/>
        </p:nvSpPr>
        <p:spPr>
          <a:xfrm>
            <a:off x="2092569" y="4863511"/>
            <a:ext cx="1037493" cy="833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E0C5F61-B9C1-85FD-D03C-51246DC50448}"/>
              </a:ext>
            </a:extLst>
          </p:cNvPr>
          <p:cNvSpPr/>
          <p:nvPr/>
        </p:nvSpPr>
        <p:spPr>
          <a:xfrm rot="6696504">
            <a:off x="7026518" y="5443128"/>
            <a:ext cx="1002324" cy="8339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AD055FB-C1BC-2AF7-1B53-0E264AC2EF4B}"/>
              </a:ext>
            </a:extLst>
          </p:cNvPr>
          <p:cNvSpPr/>
          <p:nvPr/>
        </p:nvSpPr>
        <p:spPr>
          <a:xfrm rot="12045250">
            <a:off x="7444598" y="3158825"/>
            <a:ext cx="736458" cy="7824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97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2B6BC-79BA-069E-945A-1284D68B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B244D-6927-7BF3-4B9B-EE2509837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562CA-EFAD-5F5C-2A9F-47BD745A5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7920"/>
            <a:ext cx="7883768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In the Plot Creator tab, create plots to compare the results.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noProof="0" dirty="0"/>
              <a:t>Here, we compare</a:t>
            </a:r>
          </a:p>
          <a:p>
            <a:pPr marL="0" indent="0">
              <a:buNone/>
            </a:pPr>
            <a:r>
              <a:rPr lang="en-GB" dirty="0"/>
              <a:t>the total S(Q, </a:t>
            </a:r>
            <a:r>
              <a:rPr lang="en-GB" dirty="0" err="1"/>
              <a:t>ω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noProof="0" dirty="0"/>
              <a:t>from each trajectory.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Plot the results as a function of Q,</a:t>
            </a:r>
          </a:p>
          <a:p>
            <a:pPr marL="0" indent="0">
              <a:buNone/>
            </a:pPr>
            <a:r>
              <a:rPr lang="en-GB" noProof="0" dirty="0"/>
              <a:t>and pick the data row in the </a:t>
            </a:r>
            <a:r>
              <a:rPr lang="en-GB" dirty="0"/>
              <a:t>middle of</a:t>
            </a:r>
          </a:p>
          <a:p>
            <a:pPr marL="0" indent="0">
              <a:buNone/>
            </a:pPr>
            <a:r>
              <a:rPr lang="en-GB" noProof="0" dirty="0"/>
              <a:t>the range (which is E=0).</a:t>
            </a:r>
          </a:p>
          <a:p>
            <a:pPr marL="0" indent="0">
              <a:buNone/>
            </a:pPr>
            <a:endParaRPr lang="en-GB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FF648E-2D6A-7E09-C96D-35E2DB4FE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130" y="1546673"/>
            <a:ext cx="7274169" cy="3316838"/>
          </a:xfrm>
          <a:prstGeom prst="rect">
            <a:avLst/>
          </a:prstGeom>
        </p:spPr>
      </p:pic>
      <p:sp>
        <p:nvSpPr>
          <p:cNvPr id="11" name="Up Arrow 10">
            <a:extLst>
              <a:ext uri="{FF2B5EF4-FFF2-40B4-BE49-F238E27FC236}">
                <a16:creationId xmlns:a16="http://schemas.microsoft.com/office/drawing/2014/main" id="{4CECC79A-93B4-3A06-9429-DE74D9D6D053}"/>
              </a:ext>
            </a:extLst>
          </p:cNvPr>
          <p:cNvSpPr/>
          <p:nvPr/>
        </p:nvSpPr>
        <p:spPr>
          <a:xfrm>
            <a:off x="5744308" y="4863511"/>
            <a:ext cx="1931377" cy="126609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Edit</a:t>
            </a:r>
          </a:p>
          <a:p>
            <a:pPr algn="ctr"/>
            <a:r>
              <a:rPr lang="en-US" dirty="0"/>
              <a:t>labels</a:t>
            </a:r>
          </a:p>
        </p:txBody>
      </p:sp>
      <p:sp>
        <p:nvSpPr>
          <p:cNvPr id="12" name="Up Arrow 11">
            <a:extLst>
              <a:ext uri="{FF2B5EF4-FFF2-40B4-BE49-F238E27FC236}">
                <a16:creationId xmlns:a16="http://schemas.microsoft.com/office/drawing/2014/main" id="{3E3684AE-6A00-C85D-B336-E9126A989826}"/>
              </a:ext>
            </a:extLst>
          </p:cNvPr>
          <p:cNvSpPr/>
          <p:nvPr/>
        </p:nvSpPr>
        <p:spPr>
          <a:xfrm>
            <a:off x="8941777" y="4893518"/>
            <a:ext cx="1521069" cy="103749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 to Q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E129F7BF-19FA-2804-8897-87C7A750D91E}"/>
              </a:ext>
            </a:extLst>
          </p:cNvPr>
          <p:cNvSpPr/>
          <p:nvPr/>
        </p:nvSpPr>
        <p:spPr>
          <a:xfrm>
            <a:off x="9952892" y="2637692"/>
            <a:ext cx="1793631" cy="14507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Range </a:t>
            </a:r>
            <a:r>
              <a:rPr lang="en-US" dirty="0" err="1"/>
              <a:t>centre</a:t>
            </a:r>
            <a:endParaRPr lang="en-US" dirty="0"/>
          </a:p>
        </p:txBody>
      </p:sp>
      <p:sp>
        <p:nvSpPr>
          <p:cNvPr id="15" name="U-turn Arrow 14">
            <a:extLst>
              <a:ext uri="{FF2B5EF4-FFF2-40B4-BE49-F238E27FC236}">
                <a16:creationId xmlns:a16="http://schemas.microsoft.com/office/drawing/2014/main" id="{19239EB5-9915-C8E1-54EF-E9CB54F7AE51}"/>
              </a:ext>
            </a:extLst>
          </p:cNvPr>
          <p:cNvSpPr/>
          <p:nvPr/>
        </p:nvSpPr>
        <p:spPr>
          <a:xfrm>
            <a:off x="8036170" y="1994449"/>
            <a:ext cx="3059722" cy="890924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ACBEC428-72A9-4830-85EB-B8D7E78574C2}"/>
              </a:ext>
            </a:extLst>
          </p:cNvPr>
          <p:cNvSpPr/>
          <p:nvPr/>
        </p:nvSpPr>
        <p:spPr>
          <a:xfrm>
            <a:off x="7253653" y="2703634"/>
            <a:ext cx="1793631" cy="1450731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check size</a:t>
            </a:r>
          </a:p>
        </p:txBody>
      </p:sp>
    </p:spTree>
    <p:extLst>
      <p:ext uri="{BB962C8B-B14F-4D97-AF65-F5344CB8AC3E}">
        <p14:creationId xmlns:p14="http://schemas.microsoft.com/office/powerpoint/2010/main" val="420940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12883-E98E-F02C-EE47-EDBE2D031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CDE9-6B31-A180-A0FB-0A498BB6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67A17-7EB6-4512-4488-04A836574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7920"/>
            <a:ext cx="7883768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In the Plot Creator tab, create plots to compare the results.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noProof="0" dirty="0"/>
              <a:t>Here, we compare</a:t>
            </a:r>
          </a:p>
          <a:p>
            <a:pPr marL="0" indent="0">
              <a:buNone/>
            </a:pPr>
            <a:r>
              <a:rPr lang="en-GB" dirty="0"/>
              <a:t>the total S(Q, </a:t>
            </a:r>
            <a:r>
              <a:rPr lang="en-GB" dirty="0" err="1"/>
              <a:t>ω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noProof="0" dirty="0"/>
              <a:t>from each trajectory.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4C147D-4EF5-137F-DF3D-663866D4A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499" y="1556842"/>
            <a:ext cx="9178913" cy="507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6939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65417-8C71-EE6E-7FF5-EF3495F4C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BFA1-1358-EC38-F33B-D3312B46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DCSF, DISF and NDTSF calculations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46CE8-9485-F981-9C75-4DE39CDCB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7920"/>
            <a:ext cx="7883768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In the Plot Creator tab, create plots to compare the results.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noProof="0" dirty="0"/>
              <a:t>Here, we compare</a:t>
            </a:r>
          </a:p>
          <a:p>
            <a:pPr marL="0" indent="0">
              <a:buNone/>
            </a:pPr>
            <a:r>
              <a:rPr lang="en-GB" dirty="0"/>
              <a:t>the coherent and</a:t>
            </a:r>
          </a:p>
          <a:p>
            <a:pPr marL="0" indent="0">
              <a:buNone/>
            </a:pPr>
            <a:r>
              <a:rPr lang="en-GB" dirty="0"/>
              <a:t>incoherent components</a:t>
            </a:r>
          </a:p>
          <a:p>
            <a:pPr marL="0" indent="0">
              <a:buNone/>
            </a:pPr>
            <a:r>
              <a:rPr lang="en-GB" dirty="0"/>
              <a:t>of S(Q, </a:t>
            </a:r>
            <a:r>
              <a:rPr lang="en-GB" dirty="0" err="1"/>
              <a:t>ω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noProof="0" dirty="0"/>
              <a:t>from each trajectory.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AEA290-2CC3-8E85-106C-10776D312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323" y="1509834"/>
            <a:ext cx="8852750" cy="482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04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3C0C4-DFE6-6193-87C9-7F2E38DF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B9A9-9C66-2EAB-2C2C-6874A89A9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381014" cy="472363"/>
          </a:xfrm>
        </p:spPr>
        <p:txBody>
          <a:bodyPr/>
          <a:lstStyle/>
          <a:p>
            <a:r>
              <a:rPr lang="en-GB" b="1" noProof="0" dirty="0">
                <a:latin typeface="Arial"/>
                <a:cs typeface="Arial"/>
              </a:rPr>
              <a:t>Interpretation of the results</a:t>
            </a:r>
            <a:endParaRPr lang="en-GB" noProof="0" dirty="0">
              <a:latin typeface="Arial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44852-5208-A7D9-5C58-46FCEC06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34" y="1765214"/>
            <a:ext cx="5158153" cy="3865591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A longer trajectory </a:t>
            </a:r>
            <a:r>
              <a:rPr lang="en-GB" noProof="0" dirty="0" err="1"/>
              <a:t>woul</a:t>
            </a:r>
            <a:r>
              <a:rPr lang="en-GB" dirty="0"/>
              <a:t>d have produced a less noisy result.</a:t>
            </a:r>
          </a:p>
          <a:p>
            <a:pPr marL="0" indent="0">
              <a:buNone/>
            </a:pPr>
            <a:r>
              <a:rPr lang="en-GB" noProof="0" dirty="0"/>
              <a:t>Overall, the total scattering produced by the two trajectories converges to the same result.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F79A66-9B54-7DFA-6EBA-705140A94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207" y="3566126"/>
            <a:ext cx="5980717" cy="3256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52DDE3-9ACD-EB1E-B746-D3D9A303D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76" y="3507427"/>
            <a:ext cx="5881070" cy="3250065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3C4912B-657D-B47A-8B1D-2CCD13649C8D}"/>
              </a:ext>
            </a:extLst>
          </p:cNvPr>
          <p:cNvSpPr txBox="1">
            <a:spLocks/>
          </p:cNvSpPr>
          <p:nvPr/>
        </p:nvSpPr>
        <p:spPr>
          <a:xfrm>
            <a:off x="6261096" y="616851"/>
            <a:ext cx="5158153" cy="3865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67676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67676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67676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67676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There is a difference between a trajectory where every atom is of an </a:t>
            </a:r>
            <a:r>
              <a:rPr lang="en-GB" b="1" dirty="0"/>
              <a:t>exactly known, specific type</a:t>
            </a:r>
            <a:r>
              <a:rPr lang="en-GB" dirty="0"/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and a trajectory which uses the </a:t>
            </a:r>
            <a:r>
              <a:rPr lang="en-GB" b="1" dirty="0"/>
              <a:t>averaged atom type</a:t>
            </a:r>
            <a:r>
              <a:rPr lang="en-GB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The trajectory with a mix of Atm1 and Atm2 does not show the isotopic incoherence contribution to the incoherent signal.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3448091"/>
      </p:ext>
    </p:extLst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STFC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5DF8"/>
      </a:accent1>
      <a:accent2>
        <a:srgbClr val="FF9D1B"/>
      </a:accent2>
      <a:accent3>
        <a:srgbClr val="003088"/>
      </a:accent3>
      <a:accent4>
        <a:srgbClr val="D77900"/>
      </a:accent4>
      <a:accent5>
        <a:srgbClr val="008AAD"/>
      </a:accent5>
      <a:accent6>
        <a:srgbClr val="3E863E"/>
      </a:accent6>
      <a:hlink>
        <a:srgbClr val="1E5DF8"/>
      </a:hlink>
      <a:folHlink>
        <a:srgbClr val="923D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riangles">
  <a:themeElements>
    <a:clrScheme name="STFC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5DF8"/>
      </a:accent1>
      <a:accent2>
        <a:srgbClr val="FF9D1B"/>
      </a:accent2>
      <a:accent3>
        <a:srgbClr val="003088"/>
      </a:accent3>
      <a:accent4>
        <a:srgbClr val="D77900"/>
      </a:accent4>
      <a:accent5>
        <a:srgbClr val="008AAD"/>
      </a:accent5>
      <a:accent6>
        <a:srgbClr val="3E863E"/>
      </a:accent6>
      <a:hlink>
        <a:srgbClr val="1E5DF8"/>
      </a:hlink>
      <a:folHlink>
        <a:srgbClr val="923D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Pattern">
  <a:themeElements>
    <a:clrScheme name="STFC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5DF8"/>
      </a:accent1>
      <a:accent2>
        <a:srgbClr val="FF9D1B"/>
      </a:accent2>
      <a:accent3>
        <a:srgbClr val="003088"/>
      </a:accent3>
      <a:accent4>
        <a:srgbClr val="D77900"/>
      </a:accent4>
      <a:accent5>
        <a:srgbClr val="008AAD"/>
      </a:accent5>
      <a:accent6>
        <a:srgbClr val="3E863E"/>
      </a:accent6>
      <a:hlink>
        <a:srgbClr val="1E5DF8"/>
      </a:hlink>
      <a:folHlink>
        <a:srgbClr val="923D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Blank Layouts">
  <a:themeElements>
    <a:clrScheme name="STFC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5DF8"/>
      </a:accent1>
      <a:accent2>
        <a:srgbClr val="FF9D1B"/>
      </a:accent2>
      <a:accent3>
        <a:srgbClr val="003088"/>
      </a:accent3>
      <a:accent4>
        <a:srgbClr val="D77900"/>
      </a:accent4>
      <a:accent5>
        <a:srgbClr val="008AAD"/>
      </a:accent5>
      <a:accent6>
        <a:srgbClr val="3E863E"/>
      </a:accent6>
      <a:hlink>
        <a:srgbClr val="1E5DF8"/>
      </a:hlink>
      <a:folHlink>
        <a:srgbClr val="923D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453390EE4BA43A5D6133E94472E90" ma:contentTypeVersion="17" ma:contentTypeDescription="Create a new document." ma:contentTypeScope="" ma:versionID="a3dd40fe961babd590db7e6ab2b6c3cc">
  <xsd:schema xmlns:xsd="http://www.w3.org/2001/XMLSchema" xmlns:xs="http://www.w3.org/2001/XMLSchema" xmlns:p="http://schemas.microsoft.com/office/2006/metadata/properties" xmlns:ns2="7a6c5452-7205-4e2c-a322-0d36e47a4095" xmlns:ns3="4367b676-3231-4229-b246-27e36f6a6ea0" targetNamespace="http://schemas.microsoft.com/office/2006/metadata/properties" ma:root="true" ma:fieldsID="9c9a1b7cbcb1e6780652342e7736d883" ns2:_="" ns3:_="">
    <xsd:import namespace="7a6c5452-7205-4e2c-a322-0d36e47a4095"/>
    <xsd:import namespace="4367b676-3231-4229-b246-27e36f6a6e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c5452-7205-4e2c-a322-0d36e47a40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e07c91c-676c-4292-ab42-0332d43006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7b676-3231-4229-b246-27e36f6a6ea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5bb8876-a7eb-42f8-850b-785a27f532ba}" ma:internalName="TaxCatchAll" ma:showField="CatchAllData" ma:web="4367b676-3231-4229-b246-27e36f6a6e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367b676-3231-4229-b246-27e36f6a6ea0" xsi:nil="true"/>
    <lcf76f155ced4ddcb4097134ff3c332f xmlns="7a6c5452-7205-4e2c-a322-0d36e47a409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9CAF4C5-C546-4E53-8B48-77E78F83DEF3}">
  <ds:schemaRefs>
    <ds:schemaRef ds:uri="4367b676-3231-4229-b246-27e36f6a6ea0"/>
    <ds:schemaRef ds:uri="7a6c5452-7205-4e2c-a322-0d36e47a40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79237DF-6E98-4AFD-A1AD-E1C9D616A3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DF670E-3DD2-40A0-8524-D0B4771A7312}">
  <ds:schemaRefs>
    <ds:schemaRef ds:uri="4367b676-3231-4229-b246-27e36f6a6ea0"/>
    <ds:schemaRef ds:uri="7a6c5452-7205-4e2c-a322-0d36e47a40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1854</Words>
  <Application>Microsoft Macintosh PowerPoint</Application>
  <PresentationFormat>Widescreen</PresentationFormat>
  <Paragraphs>209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Verdana</vt:lpstr>
      <vt:lpstr>Arial</vt:lpstr>
      <vt:lpstr>Consolas</vt:lpstr>
      <vt:lpstr>Calibri</vt:lpstr>
      <vt:lpstr>Cambria Math</vt:lpstr>
      <vt:lpstr>Aptos</vt:lpstr>
      <vt:lpstr>1_Title slide</vt:lpstr>
      <vt:lpstr>2_Triangles</vt:lpstr>
      <vt:lpstr>3_Pattern</vt:lpstr>
      <vt:lpstr>4_Blank Layouts</vt:lpstr>
      <vt:lpstr>Tutorial: Neutron Scattering Lengths</vt:lpstr>
      <vt:lpstr>Tutorial: Neutron Scattering Lengths</vt:lpstr>
      <vt:lpstr>Spin Incoherence</vt:lpstr>
      <vt:lpstr>Isotopic incoherence</vt:lpstr>
      <vt:lpstr>Isotopic incoherence</vt:lpstr>
      <vt:lpstr>Chemical incoherence</vt:lpstr>
      <vt:lpstr>Scenario of the tutorial</vt:lpstr>
      <vt:lpstr>The trajectories</vt:lpstr>
      <vt:lpstr>Adding new chemical elements</vt:lpstr>
      <vt:lpstr>Adding new chemical elements</vt:lpstr>
      <vt:lpstr>Replacing atoms in the trajectory</vt:lpstr>
      <vt:lpstr>Replacing atoms in the trajectory</vt:lpstr>
      <vt:lpstr>Replacing atoms in the trajectory</vt:lpstr>
      <vt:lpstr>Replacing atoms in the trajectory</vt:lpstr>
      <vt:lpstr>Replacing atoms in the trajectory</vt:lpstr>
      <vt:lpstr>DCSF, DISF and NDTSF calculations</vt:lpstr>
      <vt:lpstr>DCSF, DISF and NDTSF calculations</vt:lpstr>
      <vt:lpstr>DCSF, DISF and NDTSF calculations</vt:lpstr>
      <vt:lpstr>DCSF, DISF and NDTSF calculations</vt:lpstr>
      <vt:lpstr>DCSF, DISF and NDTSF calculations</vt:lpstr>
      <vt:lpstr>DCSF, DISF and NDTSF calculations</vt:lpstr>
      <vt:lpstr>DCSF, DISF and NDTSF calculations</vt:lpstr>
      <vt:lpstr>DCSF, DISF and NDTSF calculations</vt:lpstr>
      <vt:lpstr>DCSF, DISF and NDTSF calculations</vt:lpstr>
      <vt:lpstr>DCSF, DISF and NDTSF calculations</vt:lpstr>
      <vt:lpstr>DCSF, DISF and NDTSF calculations</vt:lpstr>
      <vt:lpstr>DCSF, DISF and NDTSF calculations</vt:lpstr>
      <vt:lpstr>DCSF, DISF and NDTSF calculations</vt:lpstr>
      <vt:lpstr>Interpretation of the results</vt:lpstr>
    </vt:vector>
  </TitlesOfParts>
  <Company>Science and Technology Facilities Council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Richardson, Stephanie (STFC,RAL,ISIS)</dc:creator>
  <cp:lastModifiedBy>Bartkowiak, Maciej (STFC,RAL,ISIS)</cp:lastModifiedBy>
  <cp:revision>731</cp:revision>
  <dcterms:created xsi:type="dcterms:W3CDTF">2023-01-10T12:41:06Z</dcterms:created>
  <dcterms:modified xsi:type="dcterms:W3CDTF">2026-10-29T10:14:04Z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0x010100FC2453390EE4BA43A5D6133E94472E90</vt:lpwstr>
  </property>
  <property fmtid="{D5CDD505-2E9C-101B-9397-08002B2CF9AE}" pid="3" name="MediaServiceImageTags">
    <vt:lpwstr/>
  </property>
</Properties>
</file>