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7" r:id="rId4"/>
    <p:sldMasterId id="2147483719" r:id="rId5"/>
    <p:sldMasterId id="2147483663" r:id="rId6"/>
    <p:sldMasterId id="2147483734" r:id="rId7"/>
  </p:sldMasterIdLst>
  <p:notesMasterIdLst>
    <p:notesMasterId r:id="rId26"/>
  </p:notesMasterIdLst>
  <p:handoutMasterIdLst>
    <p:handoutMasterId r:id="rId27"/>
  </p:handoutMasterIdLst>
  <p:sldIdLst>
    <p:sldId id="320" r:id="rId8"/>
    <p:sldId id="329" r:id="rId9"/>
    <p:sldId id="340" r:id="rId10"/>
    <p:sldId id="341" r:id="rId11"/>
    <p:sldId id="342" r:id="rId12"/>
    <p:sldId id="326" r:id="rId13"/>
    <p:sldId id="360" r:id="rId14"/>
    <p:sldId id="324" r:id="rId15"/>
    <p:sldId id="327" r:id="rId16"/>
    <p:sldId id="382" r:id="rId17"/>
    <p:sldId id="383" r:id="rId18"/>
    <p:sldId id="362" r:id="rId19"/>
    <p:sldId id="363" r:id="rId20"/>
    <p:sldId id="337" r:id="rId21"/>
    <p:sldId id="338" r:id="rId22"/>
    <p:sldId id="381" r:id="rId23"/>
    <p:sldId id="328" r:id="rId24"/>
    <p:sldId id="331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D1B"/>
    <a:srgbClr val="676767"/>
    <a:srgbClr val="003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3"/>
    <p:restoredTop sz="94731"/>
  </p:normalViewPr>
  <p:slideViewPr>
    <p:cSldViewPr snapToGrid="0">
      <p:cViewPr varScale="1">
        <p:scale>
          <a:sx n="152" d="100"/>
          <a:sy n="152" d="100"/>
        </p:scale>
        <p:origin x="4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font" Target="fonts/font7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C82ED0-7452-4354-A24E-35FB24BF9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969E9-2182-2FF9-A02F-A1842CE2A4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6A77-BC89-4E24-A414-B6543411FF58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84D48-5E89-47EA-5EE7-5780CF041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9F5C8-55D8-4294-92FA-96C28702B9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A80C6-5E9B-493C-B5B8-6FAC8DE86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783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C3C9-6966-4135-9541-6A3DFC32DD62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63FC-987E-4E6D-8D19-EC63681CE5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38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136145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1F2F3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5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78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67594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62360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74781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391002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26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12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18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97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672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41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458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549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967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953054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932876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92225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727778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670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900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134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</p:spPr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79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315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150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0711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1991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62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283479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155470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9163027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7843107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47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50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0530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</p:spPr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1619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6241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7109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7743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4803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1F2F3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6090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244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0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E97D3-004E-241C-1F4D-DA2001CE04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" y="0"/>
            <a:ext cx="12190811" cy="685799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D0781EEC-C938-86FA-B882-0B112DC0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7086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CFD7A-BAD1-80E9-241B-1E0D4B05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659" y="1304925"/>
            <a:ext cx="116546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7968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E97D3-004E-241C-1F4D-DA2001CE042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3" cy="685799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D0781EEC-C938-86FA-B882-0B112DC0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7086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CFD7A-BAD1-80E9-241B-1E0D4B05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659" y="1304925"/>
            <a:ext cx="116546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223255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6" r:id="rId3"/>
    <p:sldLayoutId id="2147483724" r:id="rId4"/>
    <p:sldLayoutId id="2147483725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B5F44-508E-D5E3-9686-E5DB5331D65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0"/>
            <a:ext cx="12189289" cy="685799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92D61-4A60-6946-D1E3-5AC93DE8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4AB4-12A7-2444-B999-E190C2D00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241-55FA-000D-E911-88A86A203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D9DA-6B18-0AEA-604C-ADB3F8C64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71A0C6-6FDD-31C0-2DA4-598F590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304925"/>
            <a:ext cx="1165468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37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0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B5F44-508E-D5E3-9686-E5DB5331D65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0"/>
            <a:ext cx="12189289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92D61-4A60-6946-D1E3-5AC93DE8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4AB4-12A7-2444-B999-E190C2D00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6E3D24-6BCE-48F4-B6DB-AB007E8B5F8E}" type="datetimeFigureOut">
              <a:rPr lang="en-GB" smtClean="0"/>
              <a:pPr/>
              <a:t>30/10/2026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241-55FA-000D-E911-88A86A203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D9DA-6B18-0AEA-604C-ADB3F8C64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71A0C6-6FDD-31C0-2DA4-598F590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304925"/>
            <a:ext cx="1165468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3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2" r:id="rId12"/>
    <p:sldLayoutId id="2147483743" r:id="rId13"/>
    <p:sldLayoutId id="2147483762" r:id="rId14"/>
    <p:sldLayoutId id="21474837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0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7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5CD0-94BB-02A9-D0D6-755513A2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2557461"/>
            <a:ext cx="6118772" cy="1138240"/>
          </a:xfrm>
        </p:spPr>
        <p:txBody>
          <a:bodyPr/>
          <a:lstStyle/>
          <a:p>
            <a:r>
              <a:rPr lang="en-GB" b="1">
                <a:ea typeface="Verdana"/>
                <a:cs typeface="Arial"/>
              </a:rPr>
              <a:t>Tutorial 3: Quasielastic Neutron Scattering (QENS)</a:t>
            </a:r>
            <a:endParaRPr lang="en-GB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80B9D-A009-468E-DD38-1C459E82E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ea typeface="Verdana"/>
                <a:cs typeface="Arial"/>
              </a:rPr>
              <a:t>Chi Y. Cheng, Maciej Bartkowiak, Sanghamitra Mukhopadhyay</a:t>
            </a:r>
            <a:endParaRPr lang="en-US">
              <a:latin typeface="Arial"/>
              <a:ea typeface="Verdana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7514D-CA92-5C28-8A6F-C434B7EF14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ea typeface="Verdana"/>
                <a:cs typeface="Arial"/>
              </a:rPr>
              <a:t>MDANSE Workshop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C80D5-0EB8-807C-B0E7-140CDCF28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ea typeface="Verdana"/>
                <a:cs typeface="Arial"/>
              </a:rPr>
              <a:t>04/11/2026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48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B7C7-948D-36CC-8D62-D7296D7B9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5BFF-CE0D-9748-F498-06FE52EC6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The van Hove function (and therefore the PDF) are closely related to the dynamics structure factor via Fourier transforms. Here we show the self-part and its Fourier transforms.</a:t>
            </a:r>
            <a:endParaRPr lang="en-US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542B65-3546-9CE6-35C3-85001D0DC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83" y="2193121"/>
            <a:ext cx="1356215" cy="455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7AA1BE-812D-B7D1-1F54-CABB4656B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098" y="2193120"/>
            <a:ext cx="1670732" cy="4552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B2EC00-44BB-F422-D938-9F0E577D8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279" y="2171337"/>
            <a:ext cx="1483442" cy="458744"/>
          </a:xfrm>
          <a:prstGeom prst="rect">
            <a:avLst/>
          </a:prstGeom>
        </p:spPr>
      </p:pic>
      <p:pic>
        <p:nvPicPr>
          <p:cNvPr id="8" name="Picture 7" descr="A graph of a number of data&#10;&#10;Description automatically generated">
            <a:extLst>
              <a:ext uri="{FF2B5EF4-FFF2-40B4-BE49-F238E27FC236}">
                <a16:creationId xmlns:a16="http://schemas.microsoft.com/office/drawing/2014/main" id="{9865E905-5340-E5AB-3109-55B938704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57" y="2750743"/>
            <a:ext cx="3374977" cy="3031332"/>
          </a:xfrm>
          <a:prstGeom prst="rect">
            <a:avLst/>
          </a:prstGeom>
        </p:spPr>
      </p:pic>
      <p:pic>
        <p:nvPicPr>
          <p:cNvPr id="15" name="Picture 14" descr="A graph of a number of numbers&#10;&#10;Description automatically generated">
            <a:extLst>
              <a:ext uri="{FF2B5EF4-FFF2-40B4-BE49-F238E27FC236}">
                <a16:creationId xmlns:a16="http://schemas.microsoft.com/office/drawing/2014/main" id="{89D8E66D-20C7-26A2-510E-CE42C9EBD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919" y="2771917"/>
            <a:ext cx="3531389" cy="3029415"/>
          </a:xfrm>
          <a:prstGeom prst="rect">
            <a:avLst/>
          </a:prstGeom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93E3FD00-7E99-7068-A12E-63A13BE5C4AF}"/>
              </a:ext>
            </a:extLst>
          </p:cNvPr>
          <p:cNvSpPr/>
          <p:nvPr/>
        </p:nvSpPr>
        <p:spPr>
          <a:xfrm>
            <a:off x="3310394" y="3905623"/>
            <a:ext cx="1170878" cy="6597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9410D64C-2449-C66F-DA70-9A95DF5C68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978" y="2678991"/>
            <a:ext cx="3524491" cy="3103757"/>
          </a:xfrm>
          <a:prstGeom prst="rect">
            <a:avLst/>
          </a:prstGeom>
        </p:spPr>
      </p:pic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C6106EBF-5E85-7F9F-C7B3-C6C254DD1E41}"/>
              </a:ext>
            </a:extLst>
          </p:cNvPr>
          <p:cNvSpPr/>
          <p:nvPr/>
        </p:nvSpPr>
        <p:spPr>
          <a:xfrm>
            <a:off x="7519978" y="3905623"/>
            <a:ext cx="1170878" cy="6597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8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CC25-1A1E-2927-971D-6C3808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1AAE-3DEE-7B33-3B25-797AADE58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5927985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From the previous slides, we can see that the self-part of the van Hove function (and therefore the self intermediate scattering function and the incoherent scattering) is closely related to the diffusion of a particle.</a:t>
            </a:r>
          </a:p>
          <a:p>
            <a:r>
              <a:rPr lang="en-US">
                <a:latin typeface="Arial"/>
                <a:cs typeface="Arial"/>
              </a:rPr>
              <a:t>We can rewrite the self intermediate scattering function as the exponential of a power-series in terms of the cumulants of d(t). </a:t>
            </a:r>
          </a:p>
          <a:p>
            <a:endParaRPr lang="en-US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8577F-6C28-B97A-38AF-92EA747B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623" y="1222315"/>
            <a:ext cx="4380671" cy="598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6AE9B0-21E5-638A-3038-958AE77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189" y="3683131"/>
            <a:ext cx="2968514" cy="285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E7C01-11AD-D360-3954-C0A7E8411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542" y="2101886"/>
            <a:ext cx="4717840" cy="12890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43BBD0-5B3C-ADD1-9523-EF721EE84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665" y="4670458"/>
            <a:ext cx="2456425" cy="6829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405F1C-10CF-E284-74CE-0A8DD5C21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568" y="5884539"/>
            <a:ext cx="4230328" cy="6677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A262E4-3CB1-9EB1-CB65-E9FED206A6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209" y="4353562"/>
            <a:ext cx="6065678" cy="7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12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CC25-1A1E-2927-971D-6C3808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/>
                <a:cs typeface="Arial"/>
              </a:rPr>
              <a:t>Self Intermediate Scattering Function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1AAE-3DEE-7B33-3B25-797AADE58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5084050" cy="48078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Taking the leading term, the self intermediate scattering function is simply a Gaussian, this is known as the Gaussian approximation.</a:t>
            </a:r>
          </a:p>
          <a:p>
            <a:r>
              <a:rPr lang="en-US" dirty="0">
                <a:latin typeface="Arial"/>
                <a:cs typeface="Arial"/>
              </a:rPr>
              <a:t>When the system is isotropic, &lt;d^2(t)&gt; is related the MSD of the particle.</a:t>
            </a:r>
          </a:p>
          <a:p>
            <a:r>
              <a:rPr lang="en-US" dirty="0">
                <a:latin typeface="Arial"/>
                <a:cs typeface="Arial"/>
              </a:rPr>
              <a:t>The MSD of a particle is related to the to the diffusion constant via MSD = 6D|t|. Here I drop the summation as I assume a monoatomic system.</a:t>
            </a: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43EF5-5BCA-DADF-9CA1-5D39F1E8A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306" y="1460453"/>
            <a:ext cx="3910775" cy="721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E3954-A454-4195-61AB-519CF4F6C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852" y="2825143"/>
            <a:ext cx="4574455" cy="8062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E6253D-60CB-2E64-863C-DA689D4B7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305" y="4328325"/>
            <a:ext cx="3025873" cy="36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6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0F15959-01A5-C19C-5C55-BB119A32E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For an isotropic system which follows the Gaussian approximation, we can see that van Hove function simply depends on the diffusion constant of the system.</a:t>
            </a:r>
          </a:p>
        </p:txBody>
      </p:sp>
      <p:pic>
        <p:nvPicPr>
          <p:cNvPr id="6" name="Picture 5" descr="A graph of a number of data&#10;&#10;Description automatically generated">
            <a:extLst>
              <a:ext uri="{FF2B5EF4-FFF2-40B4-BE49-F238E27FC236}">
                <a16:creationId xmlns:a16="http://schemas.microsoft.com/office/drawing/2014/main" id="{BF10545E-C1D0-EC85-7802-811DDFBD0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7" y="2750743"/>
            <a:ext cx="3374977" cy="3031332"/>
          </a:xfrm>
          <a:prstGeom prst="rect">
            <a:avLst/>
          </a:prstGeom>
        </p:spPr>
      </p:pic>
      <p:pic>
        <p:nvPicPr>
          <p:cNvPr id="12" name="Picture 11" descr="A graph of a number of numbers&#10;&#10;Description automatically generated">
            <a:extLst>
              <a:ext uri="{FF2B5EF4-FFF2-40B4-BE49-F238E27FC236}">
                <a16:creationId xmlns:a16="http://schemas.microsoft.com/office/drawing/2014/main" id="{37AB303F-CBC4-8558-AB2D-58FDADC23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919" y="2771917"/>
            <a:ext cx="3531389" cy="30294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43B7C7-948D-36CC-8D62-D7296D7B9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/>
                <a:cs typeface="Arial"/>
              </a:rPr>
              <a:t>Van Hove Function (relation to diffusion)</a:t>
            </a:r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365FC45B-D638-C1A8-1D1E-87643F886CE2}"/>
              </a:ext>
            </a:extLst>
          </p:cNvPr>
          <p:cNvSpPr/>
          <p:nvPr/>
        </p:nvSpPr>
        <p:spPr>
          <a:xfrm>
            <a:off x="3310394" y="3905623"/>
            <a:ext cx="1170878" cy="6597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aph of a function&#10;&#10;Description automatically generated">
            <a:extLst>
              <a:ext uri="{FF2B5EF4-FFF2-40B4-BE49-F238E27FC236}">
                <a16:creationId xmlns:a16="http://schemas.microsoft.com/office/drawing/2014/main" id="{29579F4B-C251-FEB4-317F-205B04D09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978" y="2678991"/>
            <a:ext cx="3524491" cy="3103757"/>
          </a:xfrm>
          <a:prstGeom prst="rect">
            <a:avLst/>
          </a:prstGeom>
        </p:spPr>
      </p:pic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8760DFBD-D061-BDD0-E6CB-088F2A101910}"/>
              </a:ext>
            </a:extLst>
          </p:cNvPr>
          <p:cNvSpPr/>
          <p:nvPr/>
        </p:nvSpPr>
        <p:spPr>
          <a:xfrm>
            <a:off x="7519978" y="3905623"/>
            <a:ext cx="1170878" cy="6597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FF0353-FF6A-0B60-B793-FC34701B8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628" y="2206196"/>
            <a:ext cx="3025873" cy="3603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EBBDB7-62C8-B5FD-4D70-2B6BE29C7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29" y="2113081"/>
            <a:ext cx="3370004" cy="5465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4E3D650-AB03-AAE4-A188-9A199D1BD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1175" y="2114477"/>
            <a:ext cx="2743197" cy="53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6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B9EE20-946A-D6BC-6F47-B8726BD4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910" y="91221"/>
            <a:ext cx="6394139" cy="6524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2DAE66-413D-0156-6FB4-EF9F1D5A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EF515-9394-864A-1F16-4EF59037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935648"/>
            <a:ext cx="5393642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Elastically scattered neutron have the same energy before and after scattering. This leads to a sharp peak at </a:t>
            </a:r>
            <a:r>
              <a:rPr lang="en-US" dirty="0">
                <a:solidFill>
                  <a:srgbClr val="1E5DF8"/>
                </a:solidFill>
                <a:latin typeface="Arial"/>
                <a:cs typeface="Arial"/>
              </a:rPr>
              <a:t>ω=0. </a:t>
            </a:r>
            <a:endParaRPr lang="en-US" dirty="0">
              <a:solidFill>
                <a:srgbClr val="1E5DF8"/>
              </a:solidFill>
            </a:endParaRPr>
          </a:p>
          <a:p>
            <a:r>
              <a:rPr lang="en-US" dirty="0">
                <a:latin typeface="Arial"/>
                <a:cs typeface="Arial"/>
              </a:rPr>
              <a:t>Quasielastic scattering is a special case of inelastic scattering and leads to a broad peak around ω=0. QENS that can be used to determine diffusion constant of liquids and solids.</a:t>
            </a:r>
            <a:endParaRPr lang="en-US" dirty="0"/>
          </a:p>
          <a:p>
            <a:r>
              <a:rPr lang="en-US" dirty="0">
                <a:latin typeface="Arial"/>
                <a:cs typeface="Arial"/>
              </a:rPr>
              <a:t>We'll be looking at a paper by </a:t>
            </a:r>
            <a:r>
              <a:rPr lang="en-US" dirty="0" err="1">
                <a:latin typeface="Arial"/>
                <a:cs typeface="Arial"/>
              </a:rPr>
              <a:t>Sk</a:t>
            </a:r>
            <a:r>
              <a:rPr lang="en-GB" dirty="0">
                <a:latin typeface="Arial"/>
                <a:cs typeface="Arial"/>
              </a:rPr>
              <a:t>ö</a:t>
            </a:r>
            <a:r>
              <a:rPr lang="en-US" dirty="0" err="1">
                <a:latin typeface="Arial"/>
                <a:cs typeface="Arial"/>
              </a:rPr>
              <a:t>ld</a:t>
            </a:r>
            <a:r>
              <a:rPr lang="en-US" dirty="0">
                <a:latin typeface="Arial"/>
                <a:cs typeface="Arial"/>
              </a:rPr>
              <a:t> et al.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document&#10;&#10;Description automatically generated">
            <a:extLst>
              <a:ext uri="{FF2B5EF4-FFF2-40B4-BE49-F238E27FC236}">
                <a16:creationId xmlns:a16="http://schemas.microsoft.com/office/drawing/2014/main" id="{12DB38DE-E91A-A792-5C59-C27715E83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12" y="3823383"/>
            <a:ext cx="4583415" cy="1151056"/>
          </a:xfrm>
          <a:prstGeom prst="rect">
            <a:avLst/>
          </a:prstGeom>
        </p:spPr>
      </p:pic>
      <p:pic>
        <p:nvPicPr>
          <p:cNvPr id="13" name="Picture 1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FE90BD6-E894-C176-C0C6-7A0250C20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280" y="5905631"/>
            <a:ext cx="2001535" cy="8707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09FCB6-3C66-2CC5-B6C5-014BFB0F09FF}"/>
              </a:ext>
            </a:extLst>
          </p:cNvPr>
          <p:cNvSpPr txBox="1"/>
          <p:nvPr/>
        </p:nvSpPr>
        <p:spPr>
          <a:xfrm>
            <a:off x="465992" y="5187462"/>
            <a:ext cx="519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Phys. Rev. A </a:t>
            </a:r>
            <a:r>
              <a:rPr lang="en-GB" sz="1400" b="1" dirty="0"/>
              <a:t>6</a:t>
            </a:r>
            <a:r>
              <a:rPr lang="en-GB" sz="1400" dirty="0"/>
              <a:t>, 1107 – </a:t>
            </a:r>
            <a:r>
              <a:rPr lang="en-GB" sz="1400" b="1" dirty="0"/>
              <a:t>1972</a:t>
            </a:r>
            <a:endParaRPr lang="en-GB" sz="1400" dirty="0"/>
          </a:p>
          <a:p>
            <a:r>
              <a:rPr lang="en-GB" sz="1400" dirty="0"/>
              <a:t>DOI: https://</a:t>
            </a:r>
            <a:r>
              <a:rPr lang="en-GB" sz="1400" dirty="0" err="1"/>
              <a:t>doi.org</a:t>
            </a:r>
            <a:r>
              <a:rPr lang="en-GB" sz="1400" dirty="0"/>
              <a:t>/10.1103/PhysRevA.6.1107</a:t>
            </a:r>
          </a:p>
        </p:txBody>
      </p:sp>
    </p:spTree>
    <p:extLst>
      <p:ext uri="{BB962C8B-B14F-4D97-AF65-F5344CB8AC3E}">
        <p14:creationId xmlns:p14="http://schemas.microsoft.com/office/powerpoint/2010/main" val="121586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74C5-104B-3310-5288-8B36A22C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Arial"/>
                <a:cs typeface="Arial"/>
              </a:rPr>
              <a:t>Tutorial 3: Quasielastic Neutron Scattering (QENS)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BE34-888C-AA71-4CF5-1AB80485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5829071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In this paper, neutrons were obtained from a reactor source (Materials Testing Reactor - Idaho National Laboratory – decommissioned 2011).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GB"/>
              <a:t>Experimental setup:</a:t>
            </a:r>
          </a:p>
          <a:p>
            <a:pPr>
              <a:buNone/>
            </a:pPr>
            <a:r>
              <a:rPr lang="en-GB">
                <a:latin typeface="Arial"/>
                <a:cs typeface="Arial"/>
              </a:rPr>
              <a:t>•  Neutron instrument with a velocity selector (chopper-based)</a:t>
            </a:r>
          </a:p>
          <a:p>
            <a:pPr>
              <a:buNone/>
            </a:pPr>
            <a:r>
              <a:rPr lang="en-GB">
                <a:latin typeface="Arial"/>
                <a:cs typeface="Arial"/>
              </a:rPr>
              <a:t>•  Time of flight inelastic instrument using thermal neutrons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10A83-FAF2-91AA-4BF1-67DF8D6F2BB8}"/>
              </a:ext>
            </a:extLst>
          </p:cNvPr>
          <p:cNvSpPr txBox="1"/>
          <p:nvPr/>
        </p:nvSpPr>
        <p:spPr>
          <a:xfrm>
            <a:off x="10157421" y="1017617"/>
            <a:ext cx="96110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i="1">
                <a:solidFill>
                  <a:srgbClr val="54595D"/>
                </a:solidFill>
                <a:ea typeface="+mn-lt"/>
                <a:cs typeface="+mn-lt"/>
              </a:rPr>
              <a:t>Image: View down through 20 feet of water into the tank of Materials Testing Reactor 1955</a:t>
            </a:r>
            <a:endParaRPr lang="en-US" sz="700" i="1">
              <a:cs typeface="Arial" panose="020B0604020202020204"/>
            </a:endParaRPr>
          </a:p>
        </p:txBody>
      </p:sp>
      <p:pic>
        <p:nvPicPr>
          <p:cNvPr id="6" name="Picture 5" descr="undefined">
            <a:extLst>
              <a:ext uri="{FF2B5EF4-FFF2-40B4-BE49-F238E27FC236}">
                <a16:creationId xmlns:a16="http://schemas.microsoft.com/office/drawing/2014/main" id="{994BB3AD-CBE1-7C4D-1246-378EE21C9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202" y="1017932"/>
            <a:ext cx="2386978" cy="1887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E873A6-8519-ECA2-E21D-3809AF47F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695" y="3075877"/>
            <a:ext cx="2321247" cy="35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AE66-413D-0156-6FB4-EF9F1D5A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741693" cy="472363"/>
          </a:xfrm>
        </p:spPr>
        <p:txBody>
          <a:bodyPr/>
          <a:lstStyle/>
          <a:p>
            <a:r>
              <a:rPr lang="en-GB" b="1">
                <a:latin typeface="Arial"/>
                <a:cs typeface="Arial"/>
              </a:rPr>
              <a:t>Tutorial 3: Quasielastic Neutron Scattering (QENS)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EF515-9394-864A-1F16-4EF59037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5832661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The QENS peak is a </a:t>
            </a:r>
            <a:r>
              <a:rPr lang="en-US" dirty="0">
                <a:solidFill>
                  <a:srgbClr val="1E5DF8"/>
                </a:solidFill>
                <a:latin typeface="Arial"/>
                <a:cs typeface="Arial"/>
              </a:rPr>
              <a:t>Lorentz function.</a:t>
            </a:r>
          </a:p>
          <a:p>
            <a:r>
              <a:rPr lang="en-US" dirty="0">
                <a:latin typeface="Arial"/>
                <a:cs typeface="Arial"/>
              </a:rPr>
              <a:t>By measuring the half-width at half-maximum of the QENS peak for a number of values of q the diffusion constant (D) of the system can be determined.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  <p:pic>
        <p:nvPicPr>
          <p:cNvPr id="7" name="Picture 6" descr="A graph of a simple diffusion&#10;&#10;Description automatically generated">
            <a:extLst>
              <a:ext uri="{FF2B5EF4-FFF2-40B4-BE49-F238E27FC236}">
                <a16:creationId xmlns:a16="http://schemas.microsoft.com/office/drawing/2014/main" id="{40544DEC-2574-6E5C-432E-577AB9366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57" y="1058644"/>
            <a:ext cx="2848603" cy="5424367"/>
          </a:xfrm>
          <a:prstGeom prst="rect">
            <a:avLst/>
          </a:prstGeom>
        </p:spPr>
      </p:pic>
      <p:pic>
        <p:nvPicPr>
          <p:cNvPr id="8" name="Picture 7" descr="A graph of a function&#10;&#10;Description automatically generated">
            <a:extLst>
              <a:ext uri="{FF2B5EF4-FFF2-40B4-BE49-F238E27FC236}">
                <a16:creationId xmlns:a16="http://schemas.microsoft.com/office/drawing/2014/main" id="{9D44D77F-7B42-1509-9F65-F6E07B5B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604" y="3025942"/>
            <a:ext cx="2464468" cy="1325478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A0C0416-1E0B-AC9E-6D55-2EC934782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657" y="3205309"/>
            <a:ext cx="265698" cy="967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6872B-8E50-283A-C58A-781E7539C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853" y="3398479"/>
            <a:ext cx="3890293" cy="745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A9F266-D11F-7476-6DE0-CE3C3D4F1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821" y="4795974"/>
            <a:ext cx="1903358" cy="44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57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A552-AB44-B0C6-5854-2DBD41D3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Arial"/>
                <a:cs typeface="Arial"/>
              </a:rPr>
              <a:t>Tutorial 3: Quasielastic Neutron Scattering (QENS)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3103-E30D-07C0-4861-7D67EBBD5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9747739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Let's calculate the QENS peaks and determine the diffusion constant from it following the paper from Sk</a:t>
            </a:r>
            <a:r>
              <a:rPr lang="en-GB" dirty="0">
                <a:solidFill>
                  <a:srgbClr val="1E5DF8"/>
                </a:solidFill>
                <a:latin typeface="Arial"/>
                <a:cs typeface="Arial"/>
              </a:rPr>
              <a:t>ö</a:t>
            </a:r>
            <a:r>
              <a:rPr lang="en-GB" dirty="0">
                <a:latin typeface="Arial"/>
                <a:cs typeface="Arial"/>
              </a:rPr>
              <a:t>ld et at.</a:t>
            </a:r>
          </a:p>
          <a:p>
            <a:r>
              <a:rPr lang="en-GB" dirty="0">
                <a:latin typeface="Arial"/>
                <a:cs typeface="Arial"/>
              </a:rPr>
              <a:t>Load up the Argon MDT trajectory </a:t>
            </a:r>
            <a:r>
              <a:rPr lang="en-US" dirty="0">
                <a:latin typeface="Consolas"/>
                <a:cs typeface="Arial"/>
              </a:rPr>
              <a:t>ar36_120fs_8_f64.mdt</a:t>
            </a:r>
            <a:r>
              <a:rPr lang="en-GB" dirty="0">
                <a:latin typeface="Arial"/>
                <a:cs typeface="Arial"/>
              </a:rPr>
              <a:t>.</a:t>
            </a:r>
          </a:p>
          <a:p>
            <a:r>
              <a:rPr lang="en-GB" dirty="0">
                <a:latin typeface="Arial"/>
                <a:cs typeface="Arial"/>
              </a:rPr>
              <a:t>First, we will save the scattering parameters as an instrument profile.</a:t>
            </a:r>
          </a:p>
          <a:p>
            <a:r>
              <a:rPr lang="en-GB" dirty="0">
                <a:latin typeface="Arial"/>
                <a:cs typeface="Arial"/>
              </a:rPr>
              <a:t>Then, we will calculate the Dynamic Incoherent Structure Factor (DISF) and determine the diffusion constant by fitting the results.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214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4A94-B598-F9D5-B61D-EA492C25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A2F2-6DF1-4845-0057-6FFE78CB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Save your</a:t>
            </a:r>
            <a:br>
              <a:rPr lang="en-GB" b="1" dirty="0">
                <a:latin typeface="Arial"/>
                <a:cs typeface="Arial"/>
              </a:rPr>
            </a:br>
            <a:r>
              <a:rPr lang="en-GB" b="1" dirty="0">
                <a:latin typeface="Arial"/>
                <a:cs typeface="Arial"/>
              </a:rPr>
              <a:t>scattering parameters</a:t>
            </a:r>
            <a:endParaRPr lang="en-US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4471E-EE01-CC16-EE0F-487B41E70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699" y="1304925"/>
                <a:ext cx="4222174" cy="3865591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r>
                  <a:rPr lang="en-GB" dirty="0">
                    <a:latin typeface="Arial"/>
                    <a:cs typeface="Arial"/>
                  </a:rPr>
                  <a:t>Go to the Instruments tab</a:t>
                </a:r>
              </a:p>
              <a:p>
                <a:r>
                  <a:rPr lang="en-GB" dirty="0">
                    <a:latin typeface="Arial"/>
                    <a:cs typeface="Arial"/>
                  </a:rPr>
                  <a:t>Click ”</a:t>
                </a:r>
                <a:r>
                  <a:rPr lang="en-GB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Create Instrument</a:t>
                </a:r>
                <a:r>
                  <a:rPr lang="en-GB" dirty="0">
                    <a:latin typeface="Arial"/>
                    <a:cs typeface="Arial"/>
                  </a:rPr>
                  <a:t>”</a:t>
                </a:r>
              </a:p>
              <a:p>
                <a:r>
                  <a:rPr lang="en-GB" dirty="0">
                    <a:latin typeface="Arial"/>
                    <a:cs typeface="Arial"/>
                  </a:rPr>
                  <a:t>Give it a meaningful name</a:t>
                </a:r>
              </a:p>
              <a:p>
                <a:r>
                  <a:rPr lang="en-GB" dirty="0">
                    <a:latin typeface="Arial"/>
                    <a:cs typeface="Arial"/>
                  </a:rPr>
                  <a:t>Pick </a:t>
                </a:r>
                <a:r>
                  <a:rPr lang="en-GB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resolution_type</a:t>
                </a:r>
                <a:r>
                  <a:rPr lang="en-GB" dirty="0">
                    <a:latin typeface="Arial"/>
                    <a:cs typeface="Arial"/>
                  </a:rPr>
                  <a:t>: </a:t>
                </a:r>
                <a:r>
                  <a:rPr lang="en-GB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ideal</a:t>
                </a:r>
              </a:p>
              <a:p>
                <a:r>
                  <a:rPr lang="en-GB" dirty="0">
                    <a:latin typeface="Arial"/>
                    <a:cs typeface="Arial"/>
                  </a:rPr>
                  <a:t>Pick </a:t>
                </a:r>
                <a:r>
                  <a:rPr lang="en-GB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qvector_type</a:t>
                </a:r>
                <a:r>
                  <a:rPr lang="en-GB" dirty="0">
                    <a:latin typeface="Arial"/>
                    <a:cs typeface="Arial"/>
                  </a:rPr>
                  <a:t>: </a:t>
                </a:r>
                <a:r>
                  <a:rPr lang="en-GB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SphericalQVectors</a:t>
                </a:r>
                <a:endParaRPr lang="en-GB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GB" dirty="0">
                    <a:latin typeface="+mn-lt"/>
                    <a:cs typeface="Arial"/>
                  </a:rPr>
                  <a:t>Set q values from 1.0 to 4.4 in steps of 0.2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−1</m:t>
                        </m:r>
                      </m:sup>
                    </m:sSup>
                  </m:oMath>
                </a14:m>
                <a:endParaRPr lang="en-GB" dirty="0">
                  <a:latin typeface="+mn-lt"/>
                  <a:cs typeface="Arial"/>
                </a:endParaRPr>
              </a:p>
              <a:p>
                <a:r>
                  <a:rPr lang="en-GB" dirty="0" err="1">
                    <a:latin typeface="Consolas"/>
                    <a:cs typeface="Arial"/>
                  </a:rPr>
                  <a:t>vectors_per_shell</a:t>
                </a:r>
                <a:r>
                  <a:rPr lang="en-GB" dirty="0">
                    <a:latin typeface="Consolas"/>
                    <a:cs typeface="Arial"/>
                  </a:rPr>
                  <a:t>: 100</a:t>
                </a:r>
              </a:p>
              <a:p>
                <a:r>
                  <a:rPr lang="en-GB" dirty="0">
                    <a:latin typeface="Consolas"/>
                    <a:cs typeface="Arial"/>
                  </a:rPr>
                  <a:t>width: 0.01</a:t>
                </a:r>
              </a:p>
              <a:p>
                <a:r>
                  <a:rPr lang="en-GB" dirty="0">
                    <a:latin typeface="Consolas"/>
                    <a:cs typeface="Arial"/>
                  </a:rPr>
                  <a:t>Save Instruments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4471E-EE01-CC16-EE0F-487B41E70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699" y="1304925"/>
                <a:ext cx="4222174" cy="3865591"/>
              </a:xfrm>
              <a:blipFill>
                <a:blip r:embed="rId2"/>
                <a:stretch>
                  <a:fillRect l="-1502" t="-196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13FFA3D-B0CF-0BA4-A7DC-D19A7447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0"/>
            <a:ext cx="7772400" cy="671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19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AFDF1-6AEA-6E04-43B9-CA8C0D93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3442-AE18-B37A-8B79-00B53105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Arial"/>
                <a:cs typeface="Arial"/>
              </a:rPr>
              <a:t>Tutorial 3: Quasielastic Neutron Scattering (QENS)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A4BEC-C588-4FFF-0527-628D12820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46" y="1304925"/>
            <a:ext cx="2655278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/>
              <a:t>Go to the Actions tab.</a:t>
            </a:r>
          </a:p>
          <a:p>
            <a:pPr marL="0" indent="0">
              <a:buNone/>
            </a:pPr>
            <a:r>
              <a:rPr lang="en-GB" dirty="0"/>
              <a:t>Set the instrument to the one you just created.</a:t>
            </a:r>
          </a:p>
          <a:p>
            <a:pPr marL="0" indent="0">
              <a:buNone/>
            </a:pPr>
            <a:r>
              <a:rPr lang="en-GB" dirty="0"/>
              <a:t>Choose:</a:t>
            </a:r>
          </a:p>
          <a:p>
            <a:pPr marL="0" indent="0">
              <a:buNone/>
            </a:pPr>
            <a:r>
              <a:rPr lang="en-GB" dirty="0"/>
              <a:t>Analysis -&gt;</a:t>
            </a:r>
          </a:p>
          <a:p>
            <a:pPr marL="0" indent="0">
              <a:buNone/>
            </a:pPr>
            <a:r>
              <a:rPr lang="en-GB" dirty="0"/>
              <a:t>  Scattering -&gt; 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DynamicIncoherent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StructureFactor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8FF18-313A-B9F9-F2C7-CD109B605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227" y="949172"/>
            <a:ext cx="9262773" cy="4800998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6136AC77-3B17-2E65-4AFB-F706F2840645}"/>
              </a:ext>
            </a:extLst>
          </p:cNvPr>
          <p:cNvSpPr/>
          <p:nvPr/>
        </p:nvSpPr>
        <p:spPr>
          <a:xfrm rot="20555669">
            <a:off x="2170245" y="5397025"/>
            <a:ext cx="923107" cy="773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DFE54CB6-5FEF-D11F-8023-5ECCBE78696D}"/>
              </a:ext>
            </a:extLst>
          </p:cNvPr>
          <p:cNvSpPr/>
          <p:nvPr/>
        </p:nvSpPr>
        <p:spPr>
          <a:xfrm>
            <a:off x="4202722" y="781805"/>
            <a:ext cx="914400" cy="9021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ECFC0F7-3F07-CEA6-5FEB-30B21365096F}"/>
              </a:ext>
            </a:extLst>
          </p:cNvPr>
          <p:cNvSpPr/>
          <p:nvPr/>
        </p:nvSpPr>
        <p:spPr>
          <a:xfrm rot="8399967">
            <a:off x="5301538" y="3833248"/>
            <a:ext cx="888023" cy="8970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0DFFF0-8224-76F0-8435-67C60D9D9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388" y="2054242"/>
            <a:ext cx="7772400" cy="4699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A46D5-1C66-2D9E-F4D0-5C0DA130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Tutorial 3: Quasielastic Neutron Scattering (QENS)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2055D-B471-467B-4FCD-70207F2D1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35" y="1021736"/>
            <a:ext cx="3753435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Arial"/>
                <a:cs typeface="Arial"/>
              </a:rPr>
              <a:t>Set the weight to equal. </a:t>
            </a:r>
            <a:endParaRPr lang="en-US" sz="1800" dirty="0"/>
          </a:p>
          <a:p>
            <a:r>
              <a:rPr lang="en-US" sz="1800" dirty="0">
                <a:latin typeface="Arial"/>
                <a:cs typeface="Arial"/>
              </a:rPr>
              <a:t>Our trajectory is pure Ar36 which does not scatter incoherently – we set equal to get an unweighted </a:t>
            </a:r>
            <a:r>
              <a:rPr lang="en-US" sz="1800" dirty="0" err="1">
                <a:latin typeface="Arial"/>
                <a:cs typeface="Arial"/>
              </a:rPr>
              <a:t>S_inc</a:t>
            </a:r>
            <a:r>
              <a:rPr lang="en-US" sz="1800" dirty="0">
                <a:latin typeface="Arial"/>
                <a:cs typeface="Arial"/>
              </a:rPr>
              <a:t>(</a:t>
            </a:r>
            <a:r>
              <a:rPr lang="en-US" sz="1800" dirty="0" err="1">
                <a:latin typeface="Arial"/>
                <a:cs typeface="Arial"/>
              </a:rPr>
              <a:t>q,f</a:t>
            </a:r>
            <a:r>
              <a:rPr lang="en-US" sz="1800" dirty="0">
                <a:latin typeface="Arial"/>
                <a:cs typeface="Arial"/>
              </a:rPr>
              <a:t>).</a:t>
            </a:r>
          </a:p>
          <a:p>
            <a:r>
              <a:rPr lang="en-US" sz="1800" dirty="0">
                <a:latin typeface="Arial"/>
                <a:cs typeface="Arial"/>
              </a:rPr>
              <a:t>Experimentally </a:t>
            </a:r>
            <a:r>
              <a:rPr lang="en-US" sz="1800" dirty="0" err="1">
                <a:latin typeface="Arial"/>
                <a:cs typeface="Arial"/>
              </a:rPr>
              <a:t>Sk</a:t>
            </a:r>
            <a:r>
              <a:rPr lang="en-GB" sz="1800" dirty="0">
                <a:latin typeface="Arial"/>
                <a:cs typeface="Arial"/>
              </a:rPr>
              <a:t>ö</a:t>
            </a:r>
            <a:r>
              <a:rPr lang="en-US" sz="1800" dirty="0" err="1">
                <a:latin typeface="Arial"/>
                <a:cs typeface="Arial"/>
              </a:rPr>
              <a:t>ld</a:t>
            </a:r>
            <a:r>
              <a:rPr lang="en-US" sz="1800" dirty="0">
                <a:latin typeface="Arial"/>
                <a:cs typeface="Arial"/>
              </a:rPr>
              <a:t> et al. obtained </a:t>
            </a:r>
            <a:r>
              <a:rPr lang="en-US" sz="1800" dirty="0" err="1">
                <a:latin typeface="Arial"/>
                <a:cs typeface="Arial"/>
              </a:rPr>
              <a:t>S_inc</a:t>
            </a:r>
            <a:r>
              <a:rPr lang="en-US" sz="1800" dirty="0">
                <a:latin typeface="Arial"/>
                <a:cs typeface="Arial"/>
              </a:rPr>
              <a:t>(</a:t>
            </a:r>
            <a:r>
              <a:rPr lang="en-US" sz="1800" dirty="0" err="1">
                <a:latin typeface="Arial"/>
                <a:cs typeface="Arial"/>
              </a:rPr>
              <a:t>q,f</a:t>
            </a:r>
            <a:r>
              <a:rPr lang="en-US" sz="1800" dirty="0">
                <a:latin typeface="Arial"/>
                <a:cs typeface="Arial"/>
              </a:rPr>
              <a:t>) by running scattering experiments on two different Argon samples and solving for </a:t>
            </a:r>
            <a:r>
              <a:rPr lang="en-US" sz="1800" dirty="0" err="1">
                <a:latin typeface="Arial"/>
                <a:cs typeface="Arial"/>
              </a:rPr>
              <a:t>S_inc</a:t>
            </a:r>
            <a:r>
              <a:rPr lang="en-US" sz="1800" dirty="0">
                <a:latin typeface="Arial"/>
                <a:cs typeface="Arial"/>
              </a:rPr>
              <a:t>(</a:t>
            </a:r>
            <a:r>
              <a:rPr lang="en-US" sz="1800" dirty="0" err="1">
                <a:latin typeface="Arial"/>
                <a:cs typeface="Arial"/>
              </a:rPr>
              <a:t>q,f</a:t>
            </a:r>
            <a:r>
              <a:rPr lang="en-US" sz="1800" dirty="0">
                <a:latin typeface="Arial"/>
                <a:cs typeface="Arial"/>
              </a:rPr>
              <a:t>).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A743599-88CE-3D53-0C5D-145F299A67D9}"/>
              </a:ext>
            </a:extLst>
          </p:cNvPr>
          <p:cNvSpPr/>
          <p:nvPr/>
        </p:nvSpPr>
        <p:spPr>
          <a:xfrm rot="4140000">
            <a:off x="8064703" y="4885012"/>
            <a:ext cx="535934" cy="78700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pic>
        <p:nvPicPr>
          <p:cNvPr id="4" name="Picture 3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346C2543-DCB6-0DE9-49B9-DB3EE52BB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41" y="1021736"/>
            <a:ext cx="2832410" cy="1240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2CF090-14E3-35DF-6FDB-EAE8389B0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403" y="837488"/>
            <a:ext cx="2755979" cy="171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46D5-1C66-2D9E-F4D0-5C0DA130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Tutorial 3: Quasielastic Neutron Scattering (QENS)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2055D-B471-467B-4FCD-70207F2D1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3311770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Set the output file, set multicore with 2 or more cores and </a:t>
            </a:r>
            <a:r>
              <a:rPr lang="en-GB" dirty="0">
                <a:latin typeface="Arial"/>
                <a:cs typeface="Arial"/>
              </a:rPr>
              <a:t>hit “RUN!”</a:t>
            </a:r>
            <a:endParaRPr lang="en-US" dirty="0"/>
          </a:p>
          <a:p>
            <a:r>
              <a:rPr lang="en-GB" dirty="0">
                <a:latin typeface="Arial"/>
                <a:cs typeface="Arial"/>
              </a:rPr>
              <a:t>Check the “Running Jobs” tab - this should take less than 3 minutes.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1611D2-4C76-A75B-E62D-E01D91631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915" y="922752"/>
            <a:ext cx="8114173" cy="58552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D202AA2E-8A1E-FCFA-1580-EC26DDD18DD0}"/>
              </a:ext>
            </a:extLst>
          </p:cNvPr>
          <p:cNvSpPr/>
          <p:nvPr/>
        </p:nvSpPr>
        <p:spPr>
          <a:xfrm>
            <a:off x="4589585" y="4176348"/>
            <a:ext cx="1441938" cy="712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F7365B7-4EF6-709B-9F2A-59F7CB585436}"/>
              </a:ext>
            </a:extLst>
          </p:cNvPr>
          <p:cNvSpPr/>
          <p:nvPr/>
        </p:nvSpPr>
        <p:spPr>
          <a:xfrm>
            <a:off x="4589585" y="4888524"/>
            <a:ext cx="1441938" cy="712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CFAC5436-2DF3-CF08-8E69-A5EC565670DE}"/>
              </a:ext>
            </a:extLst>
          </p:cNvPr>
          <p:cNvSpPr/>
          <p:nvPr/>
        </p:nvSpPr>
        <p:spPr>
          <a:xfrm rot="8787649">
            <a:off x="9693241" y="5760756"/>
            <a:ext cx="793988" cy="712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55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A421B67-030C-7445-5B9D-8F701E963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412" y="596162"/>
            <a:ext cx="7772400" cy="6379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27A552-AB44-B0C6-5854-2DBD41D3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123799"/>
            <a:ext cx="11654682" cy="472363"/>
          </a:xfrm>
        </p:spPr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3103-E30D-07C0-4861-7D67EBBD5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3692769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Once complete, go to the Plot Creator and create a plot of </a:t>
            </a:r>
            <a:r>
              <a:rPr lang="en-GB" dirty="0">
                <a:latin typeface="Consolas"/>
                <a:cs typeface="Arial"/>
              </a:rPr>
              <a:t>S(</a:t>
            </a:r>
            <a:r>
              <a:rPr lang="en-GB" dirty="0" err="1">
                <a:latin typeface="Consolas"/>
                <a:cs typeface="Arial"/>
              </a:rPr>
              <a:t>q,f</a:t>
            </a:r>
            <a:r>
              <a:rPr lang="en-GB" dirty="0">
                <a:latin typeface="Consolas"/>
                <a:cs typeface="Arial"/>
              </a:rPr>
              <a:t>)_total</a:t>
            </a:r>
            <a:r>
              <a:rPr lang="en-GB" dirty="0">
                <a:latin typeface="Arial"/>
                <a:cs typeface="Arial"/>
              </a:rPr>
              <a:t>.</a:t>
            </a:r>
            <a:endParaRPr lang="en-US" dirty="0">
              <a:latin typeface="Arial"/>
            </a:endParaRPr>
          </a:p>
          <a:p>
            <a:endParaRPr lang="en-GB" dirty="0">
              <a:latin typeface="Arial"/>
              <a:cs typeface="Arial"/>
            </a:endParaRPr>
          </a:p>
          <a:p>
            <a:endParaRPr lang="en-GB" dirty="0">
              <a:latin typeface="Consolas"/>
              <a:cs typeface="Arial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5C50033-3B1D-3523-BEFE-07302F9D840E}"/>
              </a:ext>
            </a:extLst>
          </p:cNvPr>
          <p:cNvSpPr/>
          <p:nvPr/>
        </p:nvSpPr>
        <p:spPr>
          <a:xfrm rot="5400000">
            <a:off x="5826073" y="4151829"/>
            <a:ext cx="535934" cy="78700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B3E87EF-ED29-774D-F51C-7814444E2EB3}"/>
              </a:ext>
            </a:extLst>
          </p:cNvPr>
          <p:cNvSpPr/>
          <p:nvPr/>
        </p:nvSpPr>
        <p:spPr>
          <a:xfrm rot="5950959">
            <a:off x="8645389" y="2420602"/>
            <a:ext cx="535934" cy="78700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C6D63A0-AAFE-267E-3F04-A3C9E6C14F36}"/>
              </a:ext>
            </a:extLst>
          </p:cNvPr>
          <p:cNvSpPr/>
          <p:nvPr/>
        </p:nvSpPr>
        <p:spPr>
          <a:xfrm rot="2100000">
            <a:off x="8405855" y="4453760"/>
            <a:ext cx="535934" cy="78700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817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1BD06C-D9B9-F4CF-8609-822981D68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31" y="668214"/>
            <a:ext cx="7541665" cy="618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27A552-AB44-B0C6-5854-2DBD41D3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95851"/>
            <a:ext cx="11654682" cy="472363"/>
          </a:xfrm>
        </p:spPr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3103-E30D-07C0-4861-7D67EBBD5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3979986" cy="386559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dirty="0">
                <a:latin typeface="Arial"/>
                <a:cs typeface="Arial"/>
              </a:rPr>
              <a:t>Using your cursor determine the half width at half maximum for each plot.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The first plot is |Q|=1.0 Å</a:t>
            </a:r>
            <a:r>
              <a:rPr lang="en-GB" baseline="30000" dirty="0">
                <a:latin typeface="Arial"/>
                <a:cs typeface="Arial"/>
              </a:rPr>
              <a:t>-1</a:t>
            </a:r>
            <a:r>
              <a:rPr lang="en-GB" dirty="0">
                <a:latin typeface="Arial"/>
                <a:cs typeface="Arial"/>
              </a:rPr>
              <a:t>, the next is |Q|=1.2 Å</a:t>
            </a:r>
            <a:r>
              <a:rPr lang="en-GB" baseline="30000" dirty="0">
                <a:latin typeface="Arial"/>
                <a:cs typeface="Arial"/>
              </a:rPr>
              <a:t>-1</a:t>
            </a:r>
            <a:r>
              <a:rPr lang="en-GB" dirty="0">
                <a:latin typeface="Arial"/>
                <a:cs typeface="Arial"/>
              </a:rPr>
              <a:t>, and etc. </a:t>
            </a:r>
            <a:endParaRPr lang="en-GB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You can enter a number: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or a range: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0:3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in the "Use it?" column to select curves corresponding to specific </a:t>
            </a:r>
            <a:r>
              <a:rPr lang="en-GB" dirty="0" err="1">
                <a:latin typeface="Consolas"/>
                <a:cs typeface="Arial"/>
              </a:rPr>
              <a:t>q_vector</a:t>
            </a:r>
            <a:r>
              <a:rPr lang="en-GB" dirty="0">
                <a:latin typeface="Consolas"/>
                <a:cs typeface="Arial"/>
              </a:rPr>
              <a:t> </a:t>
            </a:r>
            <a:r>
              <a:rPr lang="en-GB" dirty="0">
                <a:latin typeface="Arial"/>
                <a:cs typeface="Arial"/>
              </a:rPr>
              <a:t>magnitudes.</a:t>
            </a:r>
            <a:endParaRPr lang="en-GB" dirty="0"/>
          </a:p>
          <a:p>
            <a:endParaRPr lang="en-GB" dirty="0">
              <a:latin typeface="Arial"/>
              <a:cs typeface="Arial"/>
            </a:endParaRPr>
          </a:p>
          <a:p>
            <a:endParaRPr lang="en-GB" dirty="0">
              <a:latin typeface="Consolas"/>
              <a:cs typeface="Arial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3D7CE0F-94A4-5918-3E32-7DF4BF2101AF}"/>
              </a:ext>
            </a:extLst>
          </p:cNvPr>
          <p:cNvSpPr/>
          <p:nvPr/>
        </p:nvSpPr>
        <p:spPr>
          <a:xfrm rot="13078133">
            <a:off x="4432872" y="3894469"/>
            <a:ext cx="720532" cy="853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26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A552-AB44-B0C6-5854-2DBD41D3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latin typeface="Arial"/>
                <a:cs typeface="Arial"/>
              </a:rPr>
              <a:t>Tutorial 3: Quasielastic Neutron Scattering (QENS)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3103-E30D-07C0-4861-7D67EBBD5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010749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Arial"/>
                <a:cs typeface="Arial"/>
              </a:rPr>
              <a:t>Using a spreadsheet to create a plot to determine the diffusions constant.</a:t>
            </a:r>
            <a:endParaRPr lang="en-GB" dirty="0"/>
          </a:p>
          <a:p>
            <a:r>
              <a:rPr lang="en-GB" dirty="0">
                <a:latin typeface="Arial"/>
                <a:cs typeface="Arial"/>
              </a:rPr>
              <a:t>HINT: see FIG. 11 in the paper by Sköld et al.</a:t>
            </a:r>
          </a:p>
          <a:p>
            <a:endParaRPr lang="en-GB" dirty="0">
              <a:latin typeface="Arial"/>
              <a:cs typeface="Arial"/>
            </a:endParaRPr>
          </a:p>
          <a:p>
            <a:endParaRPr lang="en-GB" dirty="0">
              <a:latin typeface="Consolas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CF603-BE8F-83C4-E540-68651D3D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530" y="1305028"/>
            <a:ext cx="3890293" cy="745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A4240-61AC-41E3-1BA2-84B976C2F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951" y="2391167"/>
            <a:ext cx="1903358" cy="441051"/>
          </a:xfrm>
          <a:prstGeom prst="rect">
            <a:avLst/>
          </a:prstGeom>
        </p:spPr>
      </p:pic>
      <p:pic>
        <p:nvPicPr>
          <p:cNvPr id="5" name="Picture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4027F70D-2F43-2F96-0884-A9C5E3DB9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299" y="3327861"/>
            <a:ext cx="3802628" cy="2660345"/>
          </a:xfrm>
          <a:prstGeom prst="rect">
            <a:avLst/>
          </a:prstGeom>
        </p:spPr>
      </p:pic>
      <p:pic>
        <p:nvPicPr>
          <p:cNvPr id="10" name="Picture 9" descr="A graph of a simple diffusion&#10;&#10;Description automatically generated">
            <a:extLst>
              <a:ext uri="{FF2B5EF4-FFF2-40B4-BE49-F238E27FC236}">
                <a16:creationId xmlns:a16="http://schemas.microsoft.com/office/drawing/2014/main" id="{2DB24D9C-A42F-877A-615C-ED65CADD2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257" y="1058644"/>
            <a:ext cx="2848603" cy="542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95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A8F-76A1-15E7-C82A-D926067F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189279"/>
            <a:ext cx="11654682" cy="472363"/>
          </a:xfrm>
        </p:spPr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9915-6665-36DC-25D0-8FC334F5F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742828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Now let's calculate the diffusion constant directly from the mean square displacement and compare results.</a:t>
            </a:r>
          </a:p>
          <a:p>
            <a:r>
              <a:rPr lang="en-US" dirty="0">
                <a:latin typeface="Arial"/>
                <a:cs typeface="Arial"/>
              </a:rPr>
              <a:t>Using the </a:t>
            </a:r>
            <a:r>
              <a:rPr lang="en-US" dirty="0">
                <a:latin typeface="Consolas"/>
                <a:cs typeface="Arial"/>
              </a:rPr>
              <a:t>ar36_120fs_8_f64.mdt </a:t>
            </a:r>
            <a:r>
              <a:rPr lang="en-US" dirty="0">
                <a:latin typeface="Arial"/>
                <a:cs typeface="Arial"/>
              </a:rPr>
              <a:t>run the mean square displacement calculation.</a:t>
            </a:r>
          </a:p>
          <a:p>
            <a:r>
              <a:rPr lang="en-US" dirty="0">
                <a:latin typeface="Arial"/>
                <a:cs typeface="Arial"/>
              </a:rPr>
              <a:t>Default settings are fine. Just set the output path and run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76764-AF7C-366A-BE87-785FC2311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508" y="788018"/>
            <a:ext cx="7395696" cy="6069982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E24671BE-6923-64F3-001B-32FEF674BD4B}"/>
              </a:ext>
            </a:extLst>
          </p:cNvPr>
          <p:cNvSpPr/>
          <p:nvPr/>
        </p:nvSpPr>
        <p:spPr>
          <a:xfrm rot="11364545">
            <a:off x="6605952" y="3823647"/>
            <a:ext cx="920263" cy="7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C5D6D10-47DC-40EF-2628-5FDC346FD33A}"/>
              </a:ext>
            </a:extLst>
          </p:cNvPr>
          <p:cNvSpPr/>
          <p:nvPr/>
        </p:nvSpPr>
        <p:spPr>
          <a:xfrm rot="6648940">
            <a:off x="10603523" y="5354515"/>
            <a:ext cx="844062" cy="967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01C3F18E-44F7-739F-EAF6-9A1C51FA8C36}"/>
              </a:ext>
            </a:extLst>
          </p:cNvPr>
          <p:cNvSpPr/>
          <p:nvPr/>
        </p:nvSpPr>
        <p:spPr>
          <a:xfrm rot="18763611">
            <a:off x="7285635" y="4434253"/>
            <a:ext cx="844062" cy="967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63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A8F-76A1-15E7-C82A-D926067F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33725"/>
            <a:ext cx="11654682" cy="472363"/>
          </a:xfrm>
        </p:spPr>
        <p:txBody>
          <a:bodyPr/>
          <a:lstStyle/>
          <a:p>
            <a:r>
              <a:rPr lang="en-GB" b="1" dirty="0">
                <a:latin typeface="Arial"/>
                <a:cs typeface="Arial"/>
              </a:rPr>
              <a:t>Tutorial 3: </a:t>
            </a:r>
            <a:r>
              <a:rPr lang="en-GB" b="1" dirty="0" err="1">
                <a:latin typeface="Arial"/>
                <a:cs typeface="Arial"/>
              </a:rPr>
              <a:t>Quasielastic</a:t>
            </a:r>
            <a:r>
              <a:rPr lang="en-GB" b="1" dirty="0">
                <a:latin typeface="Arial"/>
                <a:cs typeface="Arial"/>
              </a:rPr>
              <a:t> Neutron Scattering (QENS)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9915-6665-36DC-25D0-8FC334F5F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481147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The Argon MSD is essentially linear for long times, we can calculate the diffusion constant with.</a:t>
            </a: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Calculate the diffusion constant using the last time step t=60000 fs.</a:t>
            </a:r>
          </a:p>
          <a:p>
            <a:r>
              <a:rPr lang="en-US" dirty="0">
                <a:latin typeface="Arial"/>
                <a:cs typeface="Arial"/>
              </a:rPr>
              <a:t>Did your results from QENS and MSD agree with the experimental?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7274C-C806-65FA-82E6-E11026E22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45" y="2406235"/>
            <a:ext cx="1941921" cy="7384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A3F193-4510-CCF6-C2F8-3B62FC240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846" y="748246"/>
            <a:ext cx="7444154" cy="61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05468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riangles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Pattern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Blank Layouts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67b676-3231-4229-b246-27e36f6a6ea0" xsi:nil="true"/>
    <lcf76f155ced4ddcb4097134ff3c332f xmlns="7a6c5452-7205-4e2c-a322-0d36e47a40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453390EE4BA43A5D6133E94472E90" ma:contentTypeVersion="17" ma:contentTypeDescription="Create a new document." ma:contentTypeScope="" ma:versionID="a3dd40fe961babd590db7e6ab2b6c3cc">
  <xsd:schema xmlns:xsd="http://www.w3.org/2001/XMLSchema" xmlns:xs="http://www.w3.org/2001/XMLSchema" xmlns:p="http://schemas.microsoft.com/office/2006/metadata/properties" xmlns:ns2="7a6c5452-7205-4e2c-a322-0d36e47a4095" xmlns:ns3="4367b676-3231-4229-b246-27e36f6a6ea0" targetNamespace="http://schemas.microsoft.com/office/2006/metadata/properties" ma:root="true" ma:fieldsID="9c9a1b7cbcb1e6780652342e7736d883" ns2:_="" ns3:_="">
    <xsd:import namespace="7a6c5452-7205-4e2c-a322-0d36e47a4095"/>
    <xsd:import namespace="4367b676-3231-4229-b246-27e36f6a6e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c5452-7205-4e2c-a322-0d36e47a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e07c91c-676c-4292-ab42-0332d43006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7b676-3231-4229-b246-27e36f6a6ea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5bb8876-a7eb-42f8-850b-785a27f532ba}" ma:internalName="TaxCatchAll" ma:showField="CatchAllData" ma:web="4367b676-3231-4229-b246-27e36f6a6e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DF670E-3DD2-40A0-8524-D0B4771A7312}">
  <ds:schemaRefs>
    <ds:schemaRef ds:uri="4367b676-3231-4229-b246-27e36f6a6ea0"/>
    <ds:schemaRef ds:uri="7a6c5452-7205-4e2c-a322-0d36e47a40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9CAF4C5-C546-4E53-8B48-77E78F83DEF3}">
  <ds:schemaRefs>
    <ds:schemaRef ds:uri="4367b676-3231-4229-b246-27e36f6a6ea0"/>
    <ds:schemaRef ds:uri="7a6c5452-7205-4e2c-a322-0d36e47a40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79237DF-6E98-4AFD-A1AD-E1C9D616A3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1012</Words>
  <Application>Microsoft Office PowerPoint</Application>
  <PresentationFormat>Widescreen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Calibri</vt:lpstr>
      <vt:lpstr>Consolas</vt:lpstr>
      <vt:lpstr>Verdana</vt:lpstr>
      <vt:lpstr>Aptos</vt:lpstr>
      <vt:lpstr>Cambria Math</vt:lpstr>
      <vt:lpstr>Arial</vt:lpstr>
      <vt:lpstr>1_Title slide</vt:lpstr>
      <vt:lpstr>2_Triangles</vt:lpstr>
      <vt:lpstr>3_Pattern</vt:lpstr>
      <vt:lpstr>4_Blank Layouts</vt:lpstr>
      <vt:lpstr>Tutorial 3: Quasielastic Neutron Scattering (QENS)</vt:lpstr>
      <vt:lpstr>Tutorial 3: Quasielastic Neutron Scattering (QENS)</vt:lpstr>
      <vt:lpstr>Tutorial 3: Quasielastic Neutron Scattering (QENS)</vt:lpstr>
      <vt:lpstr>Self Intermediate Scattering Function</vt:lpstr>
      <vt:lpstr>Van Hove Function (relation to diffusion)</vt:lpstr>
      <vt:lpstr>Tutorial 3: Quasielastic Neutron Scattering (QENS)</vt:lpstr>
      <vt:lpstr>Tutorial 3: Quasielastic Neutron Scattering (QENS)</vt:lpstr>
      <vt:lpstr>Tutorial 3: Quasielastic Neutron Scattering (QENS)</vt:lpstr>
      <vt:lpstr>Tutorial 3: Quasielastic Neutron Scattering (QENS)</vt:lpstr>
      <vt:lpstr>Tutorial 3: Save your scattering parameters</vt:lpstr>
      <vt:lpstr>Tutorial 3: Quasielastic Neutron Scattering (QENS)</vt:lpstr>
      <vt:lpstr>Tutorial 3: Quasielastic Neutron Scattering (QENS)</vt:lpstr>
      <vt:lpstr>Tutorial 3: Quasielastic Neutron Scattering (QENS)</vt:lpstr>
      <vt:lpstr>Tutorial 3: Quasielastic Neutron Scattering (QENS)</vt:lpstr>
      <vt:lpstr>Tutorial 3: Quasielastic Neutron Scattering (QENS)</vt:lpstr>
      <vt:lpstr>Tutorial 3: Quasielastic Neutron Scattering (QENS)</vt:lpstr>
      <vt:lpstr>Tutorial 3: Quasielastic Neutron Scattering (QENS)</vt:lpstr>
      <vt:lpstr>Tutorial 3: Quasielastic Neutron Scattering (QENS)</vt:lpstr>
    </vt:vector>
  </TitlesOfParts>
  <Company>Science and Technology Facilities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Richardson, Stephanie (STFC,RAL,ISIS)</dc:creator>
  <cp:lastModifiedBy>Cheng, Chi (STFC,RAL,ISIS)</cp:lastModifiedBy>
  <cp:revision>721</cp:revision>
  <dcterms:created xsi:type="dcterms:W3CDTF">2023-01-10T12:41:06Z</dcterms:created>
  <dcterms:modified xsi:type="dcterms:W3CDTF">2026-10-30T10:07:40Z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0x010100FC2453390EE4BA43A5D6133E94472E90</vt:lpwstr>
  </property>
  <property fmtid="{D5CDD505-2E9C-101B-9397-08002B2CF9AE}" pid="3" name="MediaServiceImageTags">
    <vt:lpwstr/>
  </property>
</Properties>
</file>