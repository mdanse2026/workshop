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27" r:id="rId4"/>
    <p:sldMasterId id="2147483719" r:id="rId5"/>
    <p:sldMasterId id="2147483663" r:id="rId6"/>
    <p:sldMasterId id="2147483734" r:id="rId7"/>
  </p:sldMasterIdLst>
  <p:notesMasterIdLst>
    <p:notesMasterId r:id="rId22"/>
  </p:notesMasterIdLst>
  <p:handoutMasterIdLst>
    <p:handoutMasterId r:id="rId23"/>
  </p:handoutMasterIdLst>
  <p:sldIdLst>
    <p:sldId id="320" r:id="rId8"/>
    <p:sldId id="326" r:id="rId9"/>
    <p:sldId id="360" r:id="rId10"/>
    <p:sldId id="324" r:id="rId11"/>
    <p:sldId id="327" r:id="rId12"/>
    <p:sldId id="382" r:id="rId13"/>
    <p:sldId id="383" r:id="rId14"/>
    <p:sldId id="362" r:id="rId15"/>
    <p:sldId id="363" r:id="rId16"/>
    <p:sldId id="337" r:id="rId17"/>
    <p:sldId id="338" r:id="rId18"/>
    <p:sldId id="381" r:id="rId19"/>
    <p:sldId id="328" r:id="rId20"/>
    <p:sldId id="331" r:id="rId21"/>
  </p:sldIdLst>
  <p:sldSz cx="12192000" cy="6858000"/>
  <p:notesSz cx="6858000" cy="9144000"/>
  <p:embeddedFontLs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Verdana" panose="020B0604030504040204" pitchFamily="34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D1B"/>
    <a:srgbClr val="676767"/>
    <a:srgbClr val="0030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13"/>
    <p:restoredTop sz="94731"/>
  </p:normalViewPr>
  <p:slideViewPr>
    <p:cSldViewPr snapToGrid="0">
      <p:cViewPr varScale="1">
        <p:scale>
          <a:sx n="119" d="100"/>
          <a:sy n="119" d="100"/>
        </p:scale>
        <p:origin x="2136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34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handoutMaster" Target="handoutMasters/handoutMaster1.xml"/><Relationship Id="rId28" Type="http://schemas.openxmlformats.org/officeDocument/2006/relationships/font" Target="fonts/font5.fntdata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1C82ED0-7452-4354-A24E-35FB24BF9A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6969E9-2182-2FF9-A02F-A1842CE2A4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6A77-BC89-4E24-A414-B6543411FF58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E84D48-5E89-47EA-5EE7-5780CF041D6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69F5C8-55D8-4294-92FA-96C28702B9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4A80C6-5E9B-493C-B5B8-6FAC8DE86E5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07835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71C3C9-6966-4135-9541-6A3DFC32DD62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9363FC-987E-4E6D-8D19-EC63681CE5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3383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5D46A-4F53-F706-E005-3B7F94B067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200" y="2557461"/>
            <a:ext cx="9144000" cy="1138240"/>
          </a:xfrm>
        </p:spPr>
        <p:txBody>
          <a:bodyPr anchor="t" anchorCtr="0">
            <a:normAutofit/>
          </a:bodyPr>
          <a:lstStyle>
            <a:lvl1pPr algn="l">
              <a:defRPr sz="3600" b="0">
                <a:latin typeface="+mj-lt"/>
              </a:defRPr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060A-4567-A74A-3AF0-E66CB6AC33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3200" y="3929062"/>
            <a:ext cx="9144000" cy="43134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speaker name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7C9208F-2B17-BF13-15F3-C2942141E5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3200" y="4610100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location 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633D74CF-0634-649D-508B-5F74DC1A06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3200" y="4930325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date </a:t>
            </a:r>
          </a:p>
        </p:txBody>
      </p:sp>
    </p:spTree>
    <p:extLst>
      <p:ext uri="{BB962C8B-B14F-4D97-AF65-F5344CB8AC3E}">
        <p14:creationId xmlns:p14="http://schemas.microsoft.com/office/powerpoint/2010/main" val="1361455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bg>
      <p:bgPr>
        <a:solidFill>
          <a:srgbClr val="F1F2F3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7052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678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8">
            <a:extLst>
              <a:ext uri="{FF2B5EF4-FFF2-40B4-BE49-F238E27FC236}">
                <a16:creationId xmlns:a16="http://schemas.microsoft.com/office/drawing/2014/main" id="{BCE196B2-446B-C638-E24B-42F7A659B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58293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9E2D15B4-3C1F-6E32-114C-0E3C063437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88100" y="1304922"/>
            <a:ext cx="4025900" cy="4351339"/>
          </a:xfrm>
        </p:spPr>
        <p:txBody>
          <a:bodyPr/>
          <a:lstStyle/>
          <a:p>
            <a:endParaRPr lang="en-GB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D58FB62-6305-D775-94D1-00380F2AC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58293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1675949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8">
            <a:extLst>
              <a:ext uri="{FF2B5EF4-FFF2-40B4-BE49-F238E27FC236}">
                <a16:creationId xmlns:a16="http://schemas.microsoft.com/office/drawing/2014/main" id="{BCE196B2-446B-C638-E24B-42F7A659B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58293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9E2D15B4-3C1F-6E32-114C-0E3C063437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8980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39A72C94-07DD-E2CA-345A-A35125CE44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6670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1BFA7CDF-E186-FDDF-CF2E-0B3F10DB84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77825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A93167B-5805-9EBB-6E54-360D545AFA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1117600"/>
            <a:ext cx="10223500" cy="838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3623609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8">
            <a:extLst>
              <a:ext uri="{FF2B5EF4-FFF2-40B4-BE49-F238E27FC236}">
                <a16:creationId xmlns:a16="http://schemas.microsoft.com/office/drawing/2014/main" id="{3BF16C2F-A1C7-9D4A-331C-5D46DAAB20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63246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D3A8A21F-2C7D-3EED-D3DE-935B34DCF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1026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1747815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5D46A-4F53-F706-E005-3B7F94B067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200" y="2557461"/>
            <a:ext cx="9144000" cy="1138240"/>
          </a:xfrm>
        </p:spPr>
        <p:txBody>
          <a:bodyPr anchor="t" anchorCtr="0">
            <a:normAutofit/>
          </a:bodyPr>
          <a:lstStyle>
            <a:lvl1pPr algn="l">
              <a:defRPr sz="3600" b="0">
                <a:latin typeface="+mj-lt"/>
              </a:defRPr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060A-4567-A74A-3AF0-E66CB6AC33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3200" y="3929062"/>
            <a:ext cx="9144000" cy="43134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speaker name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7C9208F-2B17-BF13-15F3-C2942141E5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3200" y="4610100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location 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633D74CF-0634-649D-508B-5F74DC1A06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3200" y="4930325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date </a:t>
            </a:r>
          </a:p>
        </p:txBody>
      </p:sp>
    </p:spTree>
    <p:extLst>
      <p:ext uri="{BB962C8B-B14F-4D97-AF65-F5344CB8AC3E}">
        <p14:creationId xmlns:p14="http://schemas.microsoft.com/office/powerpoint/2010/main" val="391002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4CB8-F44D-BEE4-6DCA-1B2662AB0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699" y="1122363"/>
            <a:ext cx="11654683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BCF0F3-44B5-9EF2-3A88-E4424DDC89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3602038"/>
            <a:ext cx="11654682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83C9B-D14B-899C-B084-D233E5CF9D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C38EF-93AE-9214-FDFE-009AE71CD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81CBA-3EB3-43A7-D2FA-2410CF2B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226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4E776-F347-2357-03E5-35C58A736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654682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32FCD-286F-104A-BCF2-B9138BD0B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11654683" cy="386559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11ECD2-7228-FC6F-D057-E1D381721D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01347-B148-1746-115D-B3672939A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4C7FE-56F7-317A-6A29-7F808D2B3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1121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1C41-E6F8-8CDB-15CB-AFE023C13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1709738"/>
            <a:ext cx="11654682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976CA-B5E0-87F5-9BB8-567EA6D05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699" y="4700187"/>
            <a:ext cx="11654683" cy="448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1FB1F-7BDA-DC86-9EF3-DB36350C8D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E4339-5CB2-7EDB-C9AA-C007FA14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7BCC8-EC59-1A12-7C24-DEA423BC7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187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3409-495B-2752-6BF2-B1848FDE6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4D184-1DF7-03BD-F6A8-1290E291CF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6700" y="1304925"/>
            <a:ext cx="5580000" cy="3852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07A8-6978-C1D1-B0D6-FDA0CC1F42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1383" y="1304925"/>
            <a:ext cx="5580000" cy="3852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00EE24-2BFB-8E46-2E66-3BA36D59A1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F2556D-B5E1-EF44-908B-500C8837B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B4910F-1642-C042-4D26-BC4F3A55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8975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38E961-1532-85E1-EF19-CD6FD29F8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701" y="1304925"/>
            <a:ext cx="5580000" cy="74572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52AB67-467B-B4C7-6EEB-C8D144E36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66700" y="2330075"/>
            <a:ext cx="5580000" cy="2846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16626-4911-CA49-90C2-CE3262F728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1380" y="1304925"/>
            <a:ext cx="5580001" cy="74572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2FF839-783C-36FF-2F59-B33FD00F2E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1379" y="2330075"/>
            <a:ext cx="5580003" cy="2846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0523E-13BC-6AF4-F44B-1E81F50780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ACC21D-81ED-0C7F-2CF7-CFDE23016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BA4D1-1395-871F-083F-CCC3ADAA7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6479E40-CA8C-9DEB-E10E-9B0E9423E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6729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4210A-8AD6-DB76-6435-6F1565CF23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5DFFE2-973C-8808-2027-0A0826D0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27C7D8-7501-4918-C3A4-210FC2D1A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3C41D6-330E-7D22-3BA7-5AD129D23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8419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2BAE-96E7-8067-F384-6C81451D5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65125"/>
            <a:ext cx="5825382" cy="481428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1E5DF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600200" marR="0" lvl="3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2057400" marR="0" lvl="4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676767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7ED95-2655-DA64-A0CC-0DB50CEC6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418324"/>
            <a:ext cx="5588000" cy="37610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BF7D06-9178-0519-324E-D3FAE1553A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ED0C21-14CC-0A4D-09D2-207115B3D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4D343D-82C5-3AAA-AADD-2197F991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7006FAE-DBD1-BA77-7F74-11A8DCE9D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5588000" cy="8654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84585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03EE30-E243-DD16-09E0-8B68AEC32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365125"/>
            <a:ext cx="6738195" cy="4788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748DA-A10C-6B03-FEDA-D99AE6E85A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BA5F-3B12-9A62-2D70-80CF77B99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A75CB-A493-E2D5-0C56-6C9F25C86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EDEF678-90EE-1594-AB80-39E97C15D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418324"/>
            <a:ext cx="4638586" cy="37610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BA06E30-B013-E2B6-FBD1-5AB600612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4638586" cy="8654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5495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89674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8">
            <a:extLst>
              <a:ext uri="{FF2B5EF4-FFF2-40B4-BE49-F238E27FC236}">
                <a16:creationId xmlns:a16="http://schemas.microsoft.com/office/drawing/2014/main" id="{BCE196B2-446B-C638-E24B-42F7A659B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58293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9E2D15B4-3C1F-6E32-114C-0E3C063437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88100" y="1304922"/>
            <a:ext cx="4025900" cy="4351339"/>
          </a:xfrm>
        </p:spPr>
        <p:txBody>
          <a:bodyPr/>
          <a:lstStyle/>
          <a:p>
            <a:endParaRPr lang="en-GB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D58FB62-6305-D775-94D1-00380F2AC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58293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19530548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8">
            <a:extLst>
              <a:ext uri="{FF2B5EF4-FFF2-40B4-BE49-F238E27FC236}">
                <a16:creationId xmlns:a16="http://schemas.microsoft.com/office/drawing/2014/main" id="{BCE196B2-446B-C638-E24B-42F7A659B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58293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9E2D15B4-3C1F-6E32-114C-0E3C063437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8980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39A72C94-07DD-E2CA-345A-A35125CE44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6670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1BFA7CDF-E186-FDDF-CF2E-0B3F10DB84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77825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A93167B-5805-9EBB-6E54-360D545AFA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1117600"/>
            <a:ext cx="10223500" cy="838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39328763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8">
            <a:extLst>
              <a:ext uri="{FF2B5EF4-FFF2-40B4-BE49-F238E27FC236}">
                <a16:creationId xmlns:a16="http://schemas.microsoft.com/office/drawing/2014/main" id="{3BF16C2F-A1C7-9D4A-331C-5D46DAAB20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63246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D3A8A21F-2C7D-3EED-D3DE-935B34DCF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1026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1922252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5D46A-4F53-F706-E005-3B7F94B067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200" y="2557461"/>
            <a:ext cx="9144000" cy="1138240"/>
          </a:xfrm>
        </p:spPr>
        <p:txBody>
          <a:bodyPr anchor="t" anchorCtr="0">
            <a:normAutofit/>
          </a:bodyPr>
          <a:lstStyle>
            <a:lvl1pPr algn="l">
              <a:defRPr sz="3600" b="0">
                <a:latin typeface="+mj-lt"/>
              </a:defRPr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060A-4567-A74A-3AF0-E66CB6AC33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3200" y="3929062"/>
            <a:ext cx="9144000" cy="43134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speaker name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7C9208F-2B17-BF13-15F3-C2942141E5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3200" y="4610100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location 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633D74CF-0634-649D-508B-5F74DC1A06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3200" y="4930325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date </a:t>
            </a:r>
          </a:p>
        </p:txBody>
      </p:sp>
    </p:spTree>
    <p:extLst>
      <p:ext uri="{BB962C8B-B14F-4D97-AF65-F5344CB8AC3E}">
        <p14:creationId xmlns:p14="http://schemas.microsoft.com/office/powerpoint/2010/main" val="7277783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4CB8-F44D-BEE4-6DCA-1B2662AB0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699" y="1122363"/>
            <a:ext cx="11654683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BCF0F3-44B5-9EF2-3A88-E4424DDC89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3602038"/>
            <a:ext cx="11654682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83C9B-D14B-899C-B084-D233E5CF9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C38EF-93AE-9214-FDFE-009AE71CD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81CBA-3EB3-43A7-D2FA-2410CF2B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06707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4E776-F347-2357-03E5-35C58A736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654682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32FCD-286F-104A-BCF2-B9138BD0B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11654683" cy="386559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11ECD2-7228-FC6F-D057-E1D381721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01347-B148-1746-115D-B3672939A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4C7FE-56F7-317A-6A29-7F808D2B3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590000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1C41-E6F8-8CDB-15CB-AFE023C13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1709738"/>
            <a:ext cx="11654682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976CA-B5E0-87F5-9BB8-567EA6D05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699" y="4700187"/>
            <a:ext cx="11654683" cy="448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1FB1F-7BDA-DC86-9EF3-DB36350C8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E4339-5CB2-7EDB-C9AA-C007FA14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7BCC8-EC59-1A12-7C24-DEA423BC7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313434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3409-495B-2752-6BF2-B1848FDE6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4D184-1DF7-03BD-F6A8-1290E291CF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6700" y="1304925"/>
            <a:ext cx="5580000" cy="3852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07A8-6978-C1D1-B0D6-FDA0CC1F42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1383" y="1304925"/>
            <a:ext cx="5580000" cy="3852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00EE24-2BFB-8E46-2E66-3BA36D59A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F2556D-B5E1-EF44-908B-500C8837B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B4910F-1642-C042-4D26-BC4F3A55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</p:spPr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9794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38E961-1532-85E1-EF19-CD6FD29F8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701" y="1304925"/>
            <a:ext cx="5580000" cy="74572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52AB67-467B-B4C7-6EEB-C8D144E36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66700" y="2330075"/>
            <a:ext cx="5580000" cy="2846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16626-4911-CA49-90C2-CE3262F728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1380" y="1304925"/>
            <a:ext cx="5580001" cy="74572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2FF839-783C-36FF-2F59-B33FD00F2E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1379" y="2330075"/>
            <a:ext cx="5580003" cy="2846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0523E-13BC-6AF4-F44B-1E81F5078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ACC21D-81ED-0C7F-2CF7-CFDE23016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BA4D1-1395-871F-083F-CCC3ADAA7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6479E40-CA8C-9DEB-E10E-9B0E9423E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6315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4210A-8AD6-DB76-6435-6F1565CF2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5DFFE2-973C-8808-2027-0A0826D0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27C7D8-7501-4918-C3A4-210FC2D1A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3C41D6-330E-7D22-3BA7-5AD129D23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1503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2BAE-96E7-8067-F384-6C81451D5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65125"/>
            <a:ext cx="5825382" cy="481428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1E5DF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600200" marR="0" lvl="3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2057400" marR="0" lvl="4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676767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7ED95-2655-DA64-A0CC-0DB50CEC6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418324"/>
            <a:ext cx="5588000" cy="37610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BF7D06-9178-0519-324E-D3FAE1553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ED0C21-14CC-0A4D-09D2-207115B3D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4D343D-82C5-3AAA-AADD-2197F991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7006FAE-DBD1-BA77-7F74-11A8DCE9D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5588000" cy="8654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0711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03EE30-E243-DD16-09E0-8B68AEC32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365125"/>
            <a:ext cx="6738195" cy="4788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748DA-A10C-6B03-FEDA-D99AE6E85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BA5F-3B12-9A62-2D70-80CF77B99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A75CB-A493-E2D5-0C56-6C9F25C86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EDEF678-90EE-1594-AB80-39E97C15D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418324"/>
            <a:ext cx="4638586" cy="37610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BA06E30-B013-E2B6-FBD1-5AB600612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4638586" cy="8654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19910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06270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8">
            <a:extLst>
              <a:ext uri="{FF2B5EF4-FFF2-40B4-BE49-F238E27FC236}">
                <a16:creationId xmlns:a16="http://schemas.microsoft.com/office/drawing/2014/main" id="{BCE196B2-446B-C638-E24B-42F7A659B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58293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9E2D15B4-3C1F-6E32-114C-0E3C063437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88100" y="1304922"/>
            <a:ext cx="4025900" cy="4351339"/>
          </a:xfrm>
        </p:spPr>
        <p:txBody>
          <a:bodyPr/>
          <a:lstStyle/>
          <a:p>
            <a:endParaRPr lang="en-GB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D58FB62-6305-D775-94D1-00380F2AC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58293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3283479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8">
            <a:extLst>
              <a:ext uri="{FF2B5EF4-FFF2-40B4-BE49-F238E27FC236}">
                <a16:creationId xmlns:a16="http://schemas.microsoft.com/office/drawing/2014/main" id="{BCE196B2-446B-C638-E24B-42F7A659B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58293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9E2D15B4-3C1F-6E32-114C-0E3C063437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8980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39A72C94-07DD-E2CA-345A-A35125CE44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6670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1BFA7CDF-E186-FDDF-CF2E-0B3F10DB84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778251" y="2286000"/>
            <a:ext cx="3201066" cy="3213102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A93167B-5805-9EBB-6E54-360D545AFA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1117600"/>
            <a:ext cx="10223500" cy="838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31554707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8">
            <a:extLst>
              <a:ext uri="{FF2B5EF4-FFF2-40B4-BE49-F238E27FC236}">
                <a16:creationId xmlns:a16="http://schemas.microsoft.com/office/drawing/2014/main" id="{3BF16C2F-A1C7-9D4A-331C-5D46DAAB20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6700" y="365125"/>
            <a:ext cx="63246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D3A8A21F-2C7D-3EED-D3DE-935B34DCF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1026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9163027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5D46A-4F53-F706-E005-3B7F94B067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200" y="2557461"/>
            <a:ext cx="9144000" cy="1138240"/>
          </a:xfrm>
        </p:spPr>
        <p:txBody>
          <a:bodyPr anchor="t" anchorCtr="0">
            <a:normAutofit/>
          </a:bodyPr>
          <a:lstStyle>
            <a:lvl1pPr algn="l">
              <a:defRPr sz="3600" b="0">
                <a:latin typeface="+mj-lt"/>
              </a:defRPr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060A-4567-A74A-3AF0-E66CB6AC33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3200" y="3929062"/>
            <a:ext cx="9144000" cy="43134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speaker name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7C9208F-2B17-BF13-15F3-C2942141E5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3200" y="4610100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location 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633D74CF-0634-649D-508B-5F74DC1A06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3200" y="4930325"/>
            <a:ext cx="8648700" cy="263975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date </a:t>
            </a:r>
          </a:p>
        </p:txBody>
      </p:sp>
    </p:spTree>
    <p:extLst>
      <p:ext uri="{BB962C8B-B14F-4D97-AF65-F5344CB8AC3E}">
        <p14:creationId xmlns:p14="http://schemas.microsoft.com/office/powerpoint/2010/main" val="7843107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4CB8-F44D-BEE4-6DCA-1B2662AB0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699" y="1122363"/>
            <a:ext cx="11654683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BCF0F3-44B5-9EF2-3A88-E4424DDC89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3602038"/>
            <a:ext cx="11654682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83C9B-D14B-899C-B084-D233E5CF9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C38EF-93AE-9214-FDFE-009AE71CD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81CBA-3EB3-43A7-D2FA-2410CF2B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747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4E776-F347-2357-03E5-35C58A736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654682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32FCD-286F-104A-BCF2-B9138BD0B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11654683" cy="386559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11ECD2-7228-FC6F-D057-E1D381721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01347-B148-1746-115D-B3672939A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4C7FE-56F7-317A-6A29-7F808D2B3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5047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1C41-E6F8-8CDB-15CB-AFE023C13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1709738"/>
            <a:ext cx="11654682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976CA-B5E0-87F5-9BB8-567EA6D05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699" y="4700187"/>
            <a:ext cx="11654683" cy="448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1FB1F-7BDA-DC86-9EF3-DB36350C8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E4339-5CB2-7EDB-C9AA-C007FA14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7BCC8-EC59-1A12-7C24-DEA423BC7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705303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3409-495B-2752-6BF2-B1848FDE6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4D184-1DF7-03BD-F6A8-1290E291CF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6700" y="1304925"/>
            <a:ext cx="5580000" cy="3852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07A8-6978-C1D1-B0D6-FDA0CC1F42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1383" y="1304925"/>
            <a:ext cx="5580000" cy="3852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00EE24-2BFB-8E46-2E66-3BA36D59A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F2556D-B5E1-EF44-908B-500C8837B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B4910F-1642-C042-4D26-BC4F3A55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8183" y="5367135"/>
            <a:ext cx="2743200" cy="365125"/>
          </a:xfrm>
        </p:spPr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16197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38E961-1532-85E1-EF19-CD6FD29F8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701" y="1304925"/>
            <a:ext cx="5580000" cy="74572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52AB67-467B-B4C7-6EEB-C8D144E36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66700" y="2330075"/>
            <a:ext cx="5580000" cy="2846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16626-4911-CA49-90C2-CE3262F728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1380" y="1304925"/>
            <a:ext cx="5580001" cy="74572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2FF839-783C-36FF-2F59-B33FD00F2E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1379" y="2330075"/>
            <a:ext cx="5580003" cy="2846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0523E-13BC-6AF4-F44B-1E81F5078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ACC21D-81ED-0C7F-2CF7-CFDE23016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BA4D1-1395-871F-083F-CCC3ADAA7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6479E40-CA8C-9DEB-E10E-9B0E9423E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862415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4210A-8AD6-DB76-6435-6F1565CF2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5DFFE2-973C-8808-2027-0A0826D0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27C7D8-7501-4918-C3A4-210FC2D1A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3C41D6-330E-7D22-3BA7-5AD129D23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087100" cy="4723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7109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2BAE-96E7-8067-F384-6C81451D5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65125"/>
            <a:ext cx="5825382" cy="481428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1E5DF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600200" marR="0" lvl="3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2057400" marR="0" lvl="4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67676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676767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7ED95-2655-DA64-A0CC-0DB50CEC6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418324"/>
            <a:ext cx="5588000" cy="37610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BF7D06-9178-0519-324E-D3FAE1553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ED0C21-14CC-0A4D-09D2-207115B3D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4D343D-82C5-3AAA-AADD-2197F991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7006FAE-DBD1-BA77-7F74-11A8DCE9D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5588000" cy="8654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7743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03EE30-E243-DD16-09E0-8B68AEC32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365125"/>
            <a:ext cx="6738195" cy="4788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748DA-A10C-6B03-FEDA-D99AE6E85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E3D24-6BCE-48F4-B6DB-AB007E8B5F8E}" type="datetimeFigureOut">
              <a:rPr lang="en-GB" smtClean="0"/>
              <a:t>28/10/2026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BA5F-3B12-9A62-2D70-80CF77B99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A75CB-A493-E2D5-0C56-6C9F25C86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01B8E-4C5D-4D9E-8821-9696CA0E0E3F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EDEF678-90EE-1594-AB80-39E97C15D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418324"/>
            <a:ext cx="4638586" cy="37610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BA06E30-B013-E2B6-FBD1-5AB600612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4638586" cy="8654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94803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bg>
      <p:bgPr>
        <a:solidFill>
          <a:srgbClr val="F1F2F3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060906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C8C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02446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30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5EE97D3-004E-241C-1F4D-DA2001CE042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" y="0"/>
            <a:ext cx="12190811" cy="6857998"/>
          </a:xfrm>
          <a:prstGeom prst="rect">
            <a:avLst/>
          </a:prstGeom>
        </p:spPr>
      </p:pic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D0781EEC-C938-86FA-B882-0B112DC0D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70866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6BCFD7A-BAD1-80E9-241B-1E0D4B057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659" y="1304925"/>
            <a:ext cx="1165468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3796829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6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accent3"/>
          </a:solidFill>
          <a:latin typeface="Arial" panose="020B0604020202020204" pitchFamily="34" charset="0"/>
          <a:ea typeface="Verdana" panose="020B0604030504040204" pitchFamily="34" charset="0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Arial" panose="020B0604020202020204" pitchFamily="34" charset="0"/>
          <a:ea typeface="Verdana" panose="020B0604030504040204" pitchFamily="34" charset="0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5EE97D3-004E-241C-1F4D-DA2001CE042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3" y="0"/>
            <a:ext cx="12190813" cy="6857998"/>
          </a:xfrm>
          <a:prstGeom prst="rect">
            <a:avLst/>
          </a:prstGeom>
        </p:spPr>
      </p:pic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D0781EEC-C938-86FA-B882-0B112DC0D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7086600" cy="57467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6BCFD7A-BAD1-80E9-241B-1E0D4B057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659" y="1304925"/>
            <a:ext cx="1165468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body text</a:t>
            </a:r>
          </a:p>
        </p:txBody>
      </p:sp>
    </p:spTree>
    <p:extLst>
      <p:ext uri="{BB962C8B-B14F-4D97-AF65-F5344CB8AC3E}">
        <p14:creationId xmlns:p14="http://schemas.microsoft.com/office/powerpoint/2010/main" val="223255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6" r:id="rId3"/>
    <p:sldLayoutId id="2147483724" r:id="rId4"/>
    <p:sldLayoutId id="2147483725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accent3"/>
          </a:solidFill>
          <a:latin typeface="Arial" panose="020B0604020202020204" pitchFamily="34" charset="0"/>
          <a:ea typeface="Verdana" panose="020B0604030504040204" pitchFamily="34" charset="0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Arial" panose="020B0604020202020204" pitchFamily="34" charset="0"/>
          <a:ea typeface="Verdana" panose="020B0604030504040204" pitchFamily="34" charset="0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2AB5F44-508E-D5E3-9686-E5DB5331D65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5" y="0"/>
            <a:ext cx="12189289" cy="6857998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592D61-4A60-6946-D1E3-5AC93DE86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654682" cy="4723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C4AB4-12A7-2444-B999-E190C2D007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43241-55FA-000D-E911-88A86A203D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6D9DA-6B18-0AEA-604C-ADB3F8C641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7E71A0C6-6FDD-31C0-2DA4-598F59053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700" y="1304925"/>
            <a:ext cx="11654683" cy="3865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374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1" r:id="rId12"/>
    <p:sldLayoutId id="214748367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03088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2AB5F44-508E-D5E3-9686-E5DB5331D657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5" y="0"/>
            <a:ext cx="12189289" cy="6857999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592D61-4A60-6946-D1E3-5AC93DE86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11654682" cy="4723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C4AB4-12A7-2444-B999-E190C2D007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6700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46E3D24-6BCE-48F4-B6DB-AB007E8B5F8E}" type="datetimeFigureOut">
              <a:rPr lang="en-GB" smtClean="0"/>
              <a:pPr/>
              <a:t>28/10/2026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43241-55FA-000D-E911-88A86A203D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6642" y="536713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6D9DA-6B18-0AEA-604C-ADB3F8C641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8183" y="536713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4601B8E-4C5D-4D9E-8821-9696CA0E0E3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7E71A0C6-6FDD-31C0-2DA4-598F59053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700" y="1304925"/>
            <a:ext cx="11654683" cy="3865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2387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2" r:id="rId12"/>
    <p:sldLayoutId id="2147483743" r:id="rId13"/>
    <p:sldLayoutId id="2147483762" r:id="rId14"/>
    <p:sldLayoutId id="21474837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03088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67676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5.xml"/><Relationship Id="rId5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5CD0-94BB-02A9-D0D6-755513A291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2557461"/>
            <a:ext cx="6118772" cy="1138240"/>
          </a:xfrm>
        </p:spPr>
        <p:txBody>
          <a:bodyPr/>
          <a:lstStyle/>
          <a:p>
            <a:r>
              <a:rPr lang="en-GB" b="1">
                <a:ea typeface="Verdana"/>
                <a:cs typeface="Arial"/>
              </a:rPr>
              <a:t>Tutorial 3: Quasielastic Neutron Scattering (QENS)</a:t>
            </a:r>
            <a:endParaRPr lang="en-GB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80B9D-A009-468E-DD38-1C459E82E2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>
                <a:latin typeface="Arial"/>
                <a:ea typeface="Verdana"/>
                <a:cs typeface="Arial"/>
              </a:rPr>
              <a:t>Chi Y. Cheng, Maciej Bartkowiak, Sanghamitra Mukhopadhyay</a:t>
            </a:r>
            <a:endParaRPr lang="en-US">
              <a:latin typeface="Arial"/>
              <a:ea typeface="Verdana"/>
              <a:cs typeface="Arial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7514D-CA92-5C28-8A6F-C434B7EF14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GB" dirty="0">
                <a:ea typeface="Verdana"/>
                <a:cs typeface="Arial"/>
              </a:rPr>
              <a:t>MDANSE Workshop 2026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CC80D5-0EB8-807C-B0E7-140CDCF28F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GB" dirty="0">
                <a:ea typeface="Verdana"/>
                <a:cs typeface="Arial"/>
              </a:rPr>
              <a:t>04/11/2026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748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B9EE20-946A-D6BC-6F47-B8726BD4D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910" y="91221"/>
            <a:ext cx="6394139" cy="65240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2DAE66-413D-0156-6FB4-EF9F1D5A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9678710" cy="472363"/>
          </a:xfrm>
        </p:spPr>
        <p:txBody>
          <a:bodyPr/>
          <a:lstStyle/>
          <a:p>
            <a:r>
              <a:rPr lang="en-GB" b="1">
                <a:latin typeface="Arial"/>
                <a:cs typeface="Arial"/>
              </a:rPr>
              <a:t>Tutorial 3: Quasielastic Neutron Scattering (QENS)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EF515-9394-864A-1F16-4EF590374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935648"/>
            <a:ext cx="5393642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Elastically scattered neutron have the same energy before and after scattering. This leads to a sharp peak at </a:t>
            </a:r>
            <a:r>
              <a:rPr lang="en-US" dirty="0">
                <a:solidFill>
                  <a:srgbClr val="1E5DF8"/>
                </a:solidFill>
                <a:latin typeface="Arial"/>
                <a:cs typeface="Arial"/>
              </a:rPr>
              <a:t>ω=0. </a:t>
            </a:r>
            <a:endParaRPr lang="en-US" dirty="0">
              <a:solidFill>
                <a:srgbClr val="1E5DF8"/>
              </a:solidFill>
            </a:endParaRPr>
          </a:p>
          <a:p>
            <a:r>
              <a:rPr lang="en-US" dirty="0">
                <a:latin typeface="Arial"/>
                <a:cs typeface="Arial"/>
              </a:rPr>
              <a:t>Quasielastic scattering is a special case of inelastic scattering and leads to a broad peak around ω=0. QENS that can be used to determine diffusion constant of liquids and solids.</a:t>
            </a:r>
            <a:endParaRPr lang="en-US" dirty="0"/>
          </a:p>
          <a:p>
            <a:r>
              <a:rPr lang="en-US" dirty="0">
                <a:latin typeface="Arial"/>
                <a:cs typeface="Arial"/>
              </a:rPr>
              <a:t>We'll be looking at a paper by </a:t>
            </a:r>
            <a:r>
              <a:rPr lang="en-US" dirty="0" err="1">
                <a:latin typeface="Arial"/>
                <a:cs typeface="Arial"/>
              </a:rPr>
              <a:t>Sk</a:t>
            </a:r>
            <a:r>
              <a:rPr lang="en-GB" dirty="0">
                <a:latin typeface="Arial"/>
                <a:cs typeface="Arial"/>
              </a:rPr>
              <a:t>ö</a:t>
            </a:r>
            <a:r>
              <a:rPr lang="en-US" dirty="0" err="1">
                <a:latin typeface="Arial"/>
                <a:cs typeface="Arial"/>
              </a:rPr>
              <a:t>ld</a:t>
            </a:r>
            <a:r>
              <a:rPr lang="en-US" dirty="0">
                <a:latin typeface="Arial"/>
                <a:cs typeface="Arial"/>
              </a:rPr>
              <a:t> et al.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 descr="A close-up of a document&#10;&#10;Description automatically generated">
            <a:extLst>
              <a:ext uri="{FF2B5EF4-FFF2-40B4-BE49-F238E27FC236}">
                <a16:creationId xmlns:a16="http://schemas.microsoft.com/office/drawing/2014/main" id="{12DB38DE-E91A-A792-5C59-C27715E83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12" y="3823383"/>
            <a:ext cx="4583415" cy="1151056"/>
          </a:xfrm>
          <a:prstGeom prst="rect">
            <a:avLst/>
          </a:prstGeom>
        </p:spPr>
      </p:pic>
      <p:pic>
        <p:nvPicPr>
          <p:cNvPr id="13" name="Picture 12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AFE90BD6-E894-C176-C0C6-7A0250C20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8280" y="5905631"/>
            <a:ext cx="2001535" cy="8707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09FCB6-3C66-2CC5-B6C5-014BFB0F09FF}"/>
              </a:ext>
            </a:extLst>
          </p:cNvPr>
          <p:cNvSpPr txBox="1"/>
          <p:nvPr/>
        </p:nvSpPr>
        <p:spPr>
          <a:xfrm>
            <a:off x="465992" y="5187462"/>
            <a:ext cx="51943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Phys. Rev. A </a:t>
            </a:r>
            <a:r>
              <a:rPr lang="en-GB" sz="1400" b="1" dirty="0"/>
              <a:t>6</a:t>
            </a:r>
            <a:r>
              <a:rPr lang="en-GB" sz="1400" dirty="0"/>
              <a:t>, 1107 – </a:t>
            </a:r>
            <a:r>
              <a:rPr lang="en-GB" sz="1400" b="1" dirty="0"/>
              <a:t>1972</a:t>
            </a:r>
            <a:endParaRPr lang="en-GB" sz="1400" dirty="0"/>
          </a:p>
          <a:p>
            <a:r>
              <a:rPr lang="en-GB" sz="1400" dirty="0"/>
              <a:t>DOI: https://</a:t>
            </a:r>
            <a:r>
              <a:rPr lang="en-GB" sz="1400" dirty="0" err="1"/>
              <a:t>doi.org</a:t>
            </a:r>
            <a:r>
              <a:rPr lang="en-GB" sz="1400" dirty="0"/>
              <a:t>/10.1103/PhysRevA.6.1107</a:t>
            </a:r>
          </a:p>
        </p:txBody>
      </p:sp>
    </p:spTree>
    <p:extLst>
      <p:ext uri="{BB962C8B-B14F-4D97-AF65-F5344CB8AC3E}">
        <p14:creationId xmlns:p14="http://schemas.microsoft.com/office/powerpoint/2010/main" val="1215862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B74C5-104B-3310-5288-8B36A22CA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Arial"/>
                <a:cs typeface="Arial"/>
              </a:rPr>
              <a:t>Tutorial 3: Quasielastic Neutron Scattering (QENS)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4BE34-888C-AA71-4CF5-1AB80485B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5829071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>
                <a:latin typeface="Arial"/>
                <a:cs typeface="Arial"/>
              </a:rPr>
              <a:t>In this paper, neutrons were obtained from a reactor source (Materials Testing Reactor - Idaho National Laboratory – decommissioned 2011).</a:t>
            </a:r>
            <a:endParaRPr lang="en-US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None/>
            </a:pPr>
            <a:r>
              <a:rPr lang="en-GB"/>
              <a:t>Experimental setup:</a:t>
            </a:r>
          </a:p>
          <a:p>
            <a:pPr>
              <a:buNone/>
            </a:pPr>
            <a:r>
              <a:rPr lang="en-GB">
                <a:latin typeface="Arial"/>
                <a:cs typeface="Arial"/>
              </a:rPr>
              <a:t>•  Neutron instrument with a velocity selector (chopper-based)</a:t>
            </a:r>
          </a:p>
          <a:p>
            <a:pPr>
              <a:buNone/>
            </a:pPr>
            <a:r>
              <a:rPr lang="en-GB">
                <a:latin typeface="Arial"/>
                <a:cs typeface="Arial"/>
              </a:rPr>
              <a:t>•  Time of flight inelastic instrument using thermal neutrons</a:t>
            </a:r>
          </a:p>
          <a:p>
            <a:pPr marL="0" indent="0">
              <a:buNone/>
            </a:pP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510A83-FAF2-91AA-4BF1-67DF8D6F2BB8}"/>
              </a:ext>
            </a:extLst>
          </p:cNvPr>
          <p:cNvSpPr txBox="1"/>
          <p:nvPr/>
        </p:nvSpPr>
        <p:spPr>
          <a:xfrm>
            <a:off x="10157421" y="1017617"/>
            <a:ext cx="961101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" i="1">
                <a:solidFill>
                  <a:srgbClr val="54595D"/>
                </a:solidFill>
                <a:ea typeface="+mn-lt"/>
                <a:cs typeface="+mn-lt"/>
              </a:rPr>
              <a:t>Image: View down through 20 feet of water into the tank of Materials Testing Reactor 1955</a:t>
            </a:r>
            <a:endParaRPr lang="en-US" sz="700" i="1">
              <a:cs typeface="Arial" panose="020B0604020202020204"/>
            </a:endParaRPr>
          </a:p>
        </p:txBody>
      </p:sp>
      <p:pic>
        <p:nvPicPr>
          <p:cNvPr id="6" name="Picture 5" descr="undefined">
            <a:extLst>
              <a:ext uri="{FF2B5EF4-FFF2-40B4-BE49-F238E27FC236}">
                <a16:creationId xmlns:a16="http://schemas.microsoft.com/office/drawing/2014/main" id="{994BB3AD-CBE1-7C4D-1246-378EE21C9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9202" y="1017932"/>
            <a:ext cx="2386978" cy="18876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E873A6-8519-ECA2-E21D-3809AF47F5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4695" y="3075877"/>
            <a:ext cx="2321247" cy="359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5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AE66-413D-0156-6FB4-EF9F1D5A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65125"/>
            <a:ext cx="9741693" cy="472363"/>
          </a:xfrm>
        </p:spPr>
        <p:txBody>
          <a:bodyPr/>
          <a:lstStyle/>
          <a:p>
            <a:r>
              <a:rPr lang="en-GB" b="1">
                <a:latin typeface="Arial"/>
                <a:cs typeface="Arial"/>
              </a:rPr>
              <a:t>Tutorial 3: Quasielastic Neutron Scattering (QENS)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EF515-9394-864A-1F16-4EF590374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5832661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The QENS peak is a </a:t>
            </a:r>
            <a:r>
              <a:rPr lang="en-US" dirty="0">
                <a:solidFill>
                  <a:srgbClr val="1E5DF8"/>
                </a:solidFill>
                <a:latin typeface="Arial"/>
                <a:cs typeface="Arial"/>
              </a:rPr>
              <a:t>Lorentz function.</a:t>
            </a:r>
          </a:p>
          <a:p>
            <a:r>
              <a:rPr lang="en-US" dirty="0">
                <a:latin typeface="Arial"/>
                <a:cs typeface="Arial"/>
              </a:rPr>
              <a:t>By measuring the half-width at half-maximum of the QENS peak for a number of values of q the diffusion constant (D) of the system can be determined.</a:t>
            </a:r>
            <a:endParaRPr lang="en-US" dirty="0"/>
          </a:p>
          <a:p>
            <a:endParaRPr lang="en-US"/>
          </a:p>
          <a:p>
            <a:endParaRPr lang="en-US"/>
          </a:p>
        </p:txBody>
      </p:sp>
      <p:pic>
        <p:nvPicPr>
          <p:cNvPr id="7" name="Picture 6" descr="A graph of a simple diffusion&#10;&#10;Description automatically generated">
            <a:extLst>
              <a:ext uri="{FF2B5EF4-FFF2-40B4-BE49-F238E27FC236}">
                <a16:creationId xmlns:a16="http://schemas.microsoft.com/office/drawing/2014/main" id="{40544DEC-2574-6E5C-432E-577AB9366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257" y="1058644"/>
            <a:ext cx="2848603" cy="5424367"/>
          </a:xfrm>
          <a:prstGeom prst="rect">
            <a:avLst/>
          </a:prstGeom>
        </p:spPr>
      </p:pic>
      <p:pic>
        <p:nvPicPr>
          <p:cNvPr id="8" name="Picture 7" descr="A graph of a function&#10;&#10;Description automatically generated">
            <a:extLst>
              <a:ext uri="{FF2B5EF4-FFF2-40B4-BE49-F238E27FC236}">
                <a16:creationId xmlns:a16="http://schemas.microsoft.com/office/drawing/2014/main" id="{9D44D77F-7B42-1509-9F65-F6E07B5BB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604" y="3025942"/>
            <a:ext cx="2464468" cy="1325478"/>
          </a:xfrm>
          <a:prstGeom prst="rect">
            <a:avLst/>
          </a:prstGeom>
        </p:spPr>
      </p:pic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7A0C0416-1E0B-AC9E-6D55-2EC934782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657" y="3205309"/>
            <a:ext cx="265698" cy="967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6872B-8E50-283A-C58A-781E7539C4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853" y="3398479"/>
            <a:ext cx="3890293" cy="7452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A9F266-D11F-7476-6DE0-CE3C3D4F14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821" y="4795974"/>
            <a:ext cx="1903358" cy="44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657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A552-AB44-B0C6-5854-2DBD41D3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Arial"/>
                <a:cs typeface="Arial"/>
              </a:rPr>
              <a:t>Tutorial 3: Quasielastic Neutron Scattering (QENS)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03103-E30D-07C0-4861-7D67EBBD5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9747739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Arial"/>
                <a:cs typeface="Arial"/>
              </a:rPr>
              <a:t>Let's calculate the QENS peaks and determine the diffusion constant from it following the paper from Sk</a:t>
            </a:r>
            <a:r>
              <a:rPr lang="en-GB" dirty="0">
                <a:solidFill>
                  <a:srgbClr val="1E5DF8"/>
                </a:solidFill>
                <a:latin typeface="Arial"/>
                <a:cs typeface="Arial"/>
              </a:rPr>
              <a:t>ö</a:t>
            </a:r>
            <a:r>
              <a:rPr lang="en-GB" dirty="0">
                <a:latin typeface="Arial"/>
                <a:cs typeface="Arial"/>
              </a:rPr>
              <a:t>ld et at.</a:t>
            </a:r>
          </a:p>
          <a:p>
            <a:r>
              <a:rPr lang="en-GB" dirty="0">
                <a:latin typeface="Arial"/>
                <a:cs typeface="Arial"/>
              </a:rPr>
              <a:t>Load up the Argon MDT trajectory </a:t>
            </a:r>
            <a:r>
              <a:rPr lang="en-US" dirty="0">
                <a:latin typeface="Consolas"/>
                <a:cs typeface="Arial"/>
              </a:rPr>
              <a:t>ar36_120fs_8_f64.mdt</a:t>
            </a:r>
            <a:r>
              <a:rPr lang="en-GB" dirty="0">
                <a:latin typeface="Arial"/>
                <a:cs typeface="Arial"/>
              </a:rPr>
              <a:t>.</a:t>
            </a:r>
          </a:p>
          <a:p>
            <a:r>
              <a:rPr lang="en-GB" dirty="0">
                <a:latin typeface="Arial"/>
                <a:cs typeface="Arial"/>
              </a:rPr>
              <a:t>First, we will save the scattering parameters as an instrument profile.</a:t>
            </a:r>
          </a:p>
          <a:p>
            <a:r>
              <a:rPr lang="en-GB" dirty="0">
                <a:latin typeface="Arial"/>
                <a:cs typeface="Arial"/>
              </a:rPr>
              <a:t>Then, we will calculate the Dynamic Incoherent Structure Factor (DISF) and determine the diffusion constant by fitting the results.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00214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C4A94-B598-F9D5-B61D-EA492C25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DA2F2-6DF1-4845-0057-6FFE78CB6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Arial"/>
                <a:cs typeface="Arial"/>
              </a:rPr>
              <a:t>Tutorial 3: Save your</a:t>
            </a:r>
            <a:br>
              <a:rPr lang="en-GB" b="1" dirty="0">
                <a:latin typeface="Arial"/>
                <a:cs typeface="Arial"/>
              </a:rPr>
            </a:br>
            <a:r>
              <a:rPr lang="en-GB" b="1" dirty="0">
                <a:latin typeface="Arial"/>
                <a:cs typeface="Arial"/>
              </a:rPr>
              <a:t>scattering parameters</a:t>
            </a:r>
            <a:endParaRPr lang="en-US" dirty="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4471E-EE01-CC16-EE0F-487B41E70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6699" y="1304925"/>
                <a:ext cx="4222174" cy="386559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GB" dirty="0">
                    <a:latin typeface="Arial"/>
                    <a:cs typeface="Arial"/>
                  </a:rPr>
                  <a:t>Go to the Instruments tab</a:t>
                </a:r>
              </a:p>
              <a:p>
                <a:r>
                  <a:rPr lang="en-GB" dirty="0">
                    <a:latin typeface="Arial"/>
                    <a:cs typeface="Arial"/>
                  </a:rPr>
                  <a:t>Click ”</a:t>
                </a:r>
                <a:r>
                  <a:rPr lang="en-GB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Create Instrument</a:t>
                </a:r>
                <a:r>
                  <a:rPr lang="en-GB" dirty="0">
                    <a:latin typeface="Arial"/>
                    <a:cs typeface="Arial"/>
                  </a:rPr>
                  <a:t>”</a:t>
                </a:r>
              </a:p>
              <a:p>
                <a:r>
                  <a:rPr lang="en-GB" dirty="0">
                    <a:latin typeface="Arial"/>
                    <a:cs typeface="Arial"/>
                  </a:rPr>
                  <a:t>Give it a meaningful name</a:t>
                </a:r>
              </a:p>
              <a:p>
                <a:r>
                  <a:rPr lang="en-GB" dirty="0">
                    <a:latin typeface="Arial"/>
                    <a:cs typeface="Arial"/>
                  </a:rPr>
                  <a:t>Pick </a:t>
                </a:r>
                <a:r>
                  <a:rPr lang="en-GB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resolution_type</a:t>
                </a:r>
                <a:r>
                  <a:rPr lang="en-GB" dirty="0">
                    <a:latin typeface="Arial"/>
                    <a:cs typeface="Arial"/>
                  </a:rPr>
                  <a:t>: </a:t>
                </a:r>
                <a:r>
                  <a:rPr lang="en-GB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ideal</a:t>
                </a:r>
              </a:p>
              <a:p>
                <a:r>
                  <a:rPr lang="en-GB" dirty="0">
                    <a:latin typeface="Arial"/>
                    <a:cs typeface="Arial"/>
                  </a:rPr>
                  <a:t>Pick </a:t>
                </a:r>
                <a:r>
                  <a:rPr lang="en-GB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qvector_type</a:t>
                </a:r>
                <a:r>
                  <a:rPr lang="en-GB" dirty="0">
                    <a:latin typeface="Arial"/>
                    <a:cs typeface="Arial"/>
                  </a:rPr>
                  <a:t>: </a:t>
                </a:r>
                <a:r>
                  <a:rPr lang="en-GB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SphericalQVectors</a:t>
                </a:r>
                <a:endParaRPr lang="en-GB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GB" dirty="0">
                    <a:latin typeface="+mn-lt"/>
                    <a:cs typeface="Arial"/>
                  </a:rPr>
                  <a:t>Set q values from 1.0 to 4.4 in steps of 0.2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+mn-lt"/>
                            <a:ea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GB" i="1">
                            <a:latin typeface="+mn-lt"/>
                            <a:ea typeface="Cambria Math" panose="02040503050406030204" pitchFamily="18" charset="0"/>
                            <a:cs typeface="Arial"/>
                          </a:rPr>
                          <m:t>Å</m:t>
                        </m:r>
                      </m:e>
                      <m:sup>
                        <m:r>
                          <a:rPr lang="en-GB" b="0" i="1" smtClean="0">
                            <a:latin typeface="+mn-lt"/>
                            <a:ea typeface="Cambria Math" panose="02040503050406030204" pitchFamily="18" charset="0"/>
                            <a:cs typeface="Arial"/>
                          </a:rPr>
                          <m:t>-1</m:t>
                        </m:r>
                      </m:sup>
                    </m:sSup>
                  </m:oMath>
                </a14:m>
                <a:endParaRPr lang="en-GB" dirty="0">
                  <a:latin typeface="+mn-lt"/>
                  <a:cs typeface="Arial"/>
                </a:endParaRPr>
              </a:p>
              <a:p>
                <a:r>
                  <a:rPr lang="en-GB" dirty="0" err="1">
                    <a:latin typeface="Consolas"/>
                    <a:cs typeface="Arial"/>
                  </a:rPr>
                  <a:t>vectors_per_shell</a:t>
                </a:r>
                <a:r>
                  <a:rPr lang="en-GB" dirty="0">
                    <a:latin typeface="Consolas"/>
                    <a:cs typeface="Arial"/>
                  </a:rPr>
                  <a:t>: 100</a:t>
                </a:r>
              </a:p>
              <a:p>
                <a:r>
                  <a:rPr lang="en-GB" dirty="0">
                    <a:latin typeface="Consolas"/>
                    <a:cs typeface="Arial"/>
                  </a:rPr>
                  <a:t>width: 0.01</a:t>
                </a:r>
              </a:p>
              <a:p>
                <a:r>
                  <a:rPr lang="en-GB" dirty="0">
                    <a:latin typeface="Consolas"/>
                    <a:cs typeface="Arial"/>
                  </a:rPr>
                  <a:t>Save Instruments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4471E-EE01-CC16-EE0F-487B41E70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6699" y="1304925"/>
                <a:ext cx="4222174" cy="3865591"/>
              </a:xfrm>
              <a:blipFill>
                <a:blip r:embed="rId2"/>
                <a:stretch>
                  <a:fillRect l="-1502" t="-196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13FFA3D-B0CF-0BA4-A7DC-D19A744717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0"/>
            <a:ext cx="7772400" cy="671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319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AFDF1-6AEA-6E04-43B9-CA8C0D931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3442-AE18-B37A-8B79-00B53105B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Arial"/>
                <a:cs typeface="Arial"/>
              </a:rPr>
              <a:t>Tutorial 3: Quasielastic Neutron Scattering (QENS)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A4BEC-C588-4FFF-0527-628D12820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846" y="1304925"/>
            <a:ext cx="2655278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Go to the Actions tab.</a:t>
            </a:r>
          </a:p>
          <a:p>
            <a:pPr marL="0" indent="0">
              <a:buNone/>
            </a:pPr>
            <a:r>
              <a:rPr lang="en-GB" dirty="0"/>
              <a:t>Set the instrument to the one you just created.</a:t>
            </a:r>
          </a:p>
          <a:p>
            <a:pPr marL="0" indent="0">
              <a:buNone/>
            </a:pPr>
            <a:r>
              <a:rPr lang="en-GB" dirty="0"/>
              <a:t>Choose:</a:t>
            </a:r>
          </a:p>
          <a:p>
            <a:pPr marL="0" indent="0">
              <a:buNone/>
            </a:pPr>
            <a:r>
              <a:rPr lang="en-GB" dirty="0"/>
              <a:t>Analysis -&gt;</a:t>
            </a:r>
          </a:p>
          <a:p>
            <a:pPr marL="0" indent="0">
              <a:buNone/>
            </a:pPr>
            <a:r>
              <a:rPr lang="en-GB" dirty="0"/>
              <a:t>  Scattering -&gt; </a:t>
            </a:r>
          </a:p>
          <a:p>
            <a:pPr marL="0" indent="0">
              <a:buNone/>
            </a:pPr>
            <a:r>
              <a:rPr lang="en-GB" dirty="0"/>
              <a:t>    </a:t>
            </a:r>
            <a:r>
              <a:rPr lang="en-GB" dirty="0" err="1"/>
              <a:t>DynamicIncoherent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    </a:t>
            </a:r>
            <a:r>
              <a:rPr lang="en-GB" dirty="0" err="1"/>
              <a:t>StructureFactor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48FF18-313A-B9F9-F2C7-CD109B6057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9227" y="949172"/>
            <a:ext cx="9262773" cy="4800998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6136AC77-3B17-2E65-4AFB-F706F2840645}"/>
              </a:ext>
            </a:extLst>
          </p:cNvPr>
          <p:cNvSpPr/>
          <p:nvPr/>
        </p:nvSpPr>
        <p:spPr>
          <a:xfrm rot="20555669">
            <a:off x="1354016" y="5521966"/>
            <a:ext cx="1758461" cy="773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DFE54CB6-5FEF-D11F-8023-5ECCBE78696D}"/>
              </a:ext>
            </a:extLst>
          </p:cNvPr>
          <p:cNvSpPr/>
          <p:nvPr/>
        </p:nvSpPr>
        <p:spPr>
          <a:xfrm>
            <a:off x="4202722" y="781805"/>
            <a:ext cx="914400" cy="90217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AECFC0F7-3F07-CEA6-5FEB-30B21365096F}"/>
              </a:ext>
            </a:extLst>
          </p:cNvPr>
          <p:cNvSpPr/>
          <p:nvPr/>
        </p:nvSpPr>
        <p:spPr>
          <a:xfrm rot="8399967">
            <a:off x="5301538" y="3833248"/>
            <a:ext cx="888023" cy="89701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8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E0DFFF0-8224-76F0-8435-67C60D9D99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388" y="2054242"/>
            <a:ext cx="7772400" cy="46992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7A46D5-1C66-2D9E-F4D0-5C0DA130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Tutorial 3: Quasielastic Neutron Scattering (QENS)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02055D-B471-467B-4FCD-70207F2D1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235" y="1021736"/>
            <a:ext cx="3753435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>
                <a:latin typeface="Arial"/>
                <a:cs typeface="Arial"/>
              </a:rPr>
              <a:t>Set the weight to equal. </a:t>
            </a:r>
            <a:endParaRPr lang="en-US" sz="1800" dirty="0"/>
          </a:p>
          <a:p>
            <a:r>
              <a:rPr lang="en-US" sz="1800" dirty="0">
                <a:latin typeface="Arial"/>
                <a:cs typeface="Arial"/>
              </a:rPr>
              <a:t>Our trajectory is pure Ar36 which does not scatter incoherently – we set equal to get an unweighted </a:t>
            </a:r>
            <a:r>
              <a:rPr lang="en-US" sz="1800" dirty="0" err="1">
                <a:latin typeface="Arial"/>
                <a:cs typeface="Arial"/>
              </a:rPr>
              <a:t>S_inc</a:t>
            </a:r>
            <a:r>
              <a:rPr lang="en-US" sz="1800" dirty="0">
                <a:latin typeface="Arial"/>
                <a:cs typeface="Arial"/>
              </a:rPr>
              <a:t>(</a:t>
            </a:r>
            <a:r>
              <a:rPr lang="en-US" sz="1800" dirty="0" err="1">
                <a:latin typeface="Arial"/>
                <a:cs typeface="Arial"/>
              </a:rPr>
              <a:t>q,f</a:t>
            </a:r>
            <a:r>
              <a:rPr lang="en-US" sz="1800" dirty="0">
                <a:latin typeface="Arial"/>
                <a:cs typeface="Arial"/>
              </a:rPr>
              <a:t>).</a:t>
            </a:r>
          </a:p>
          <a:p>
            <a:r>
              <a:rPr lang="en-US" sz="1800" dirty="0">
                <a:latin typeface="Arial"/>
                <a:cs typeface="Arial"/>
              </a:rPr>
              <a:t>Experimentally </a:t>
            </a:r>
            <a:r>
              <a:rPr lang="en-US" sz="1800" dirty="0" err="1">
                <a:latin typeface="Arial"/>
                <a:cs typeface="Arial"/>
              </a:rPr>
              <a:t>Sk</a:t>
            </a:r>
            <a:r>
              <a:rPr lang="en-GB" sz="1800" dirty="0">
                <a:latin typeface="Arial"/>
                <a:cs typeface="Arial"/>
              </a:rPr>
              <a:t>ö</a:t>
            </a:r>
            <a:r>
              <a:rPr lang="en-US" sz="1800" dirty="0" err="1">
                <a:latin typeface="Arial"/>
                <a:cs typeface="Arial"/>
              </a:rPr>
              <a:t>ld</a:t>
            </a:r>
            <a:r>
              <a:rPr lang="en-US" sz="1800" dirty="0">
                <a:latin typeface="Arial"/>
                <a:cs typeface="Arial"/>
              </a:rPr>
              <a:t> et al. obtained </a:t>
            </a:r>
            <a:r>
              <a:rPr lang="en-US" sz="1800" dirty="0" err="1">
                <a:latin typeface="Arial"/>
                <a:cs typeface="Arial"/>
              </a:rPr>
              <a:t>S_inc</a:t>
            </a:r>
            <a:r>
              <a:rPr lang="en-US" sz="1800" dirty="0">
                <a:latin typeface="Arial"/>
                <a:cs typeface="Arial"/>
              </a:rPr>
              <a:t>(</a:t>
            </a:r>
            <a:r>
              <a:rPr lang="en-US" sz="1800" dirty="0" err="1">
                <a:latin typeface="Arial"/>
                <a:cs typeface="Arial"/>
              </a:rPr>
              <a:t>q,f</a:t>
            </a:r>
            <a:r>
              <a:rPr lang="en-US" sz="1800" dirty="0">
                <a:latin typeface="Arial"/>
                <a:cs typeface="Arial"/>
              </a:rPr>
              <a:t>) by running scattering experiments on two different Argon samples and solving for </a:t>
            </a:r>
            <a:r>
              <a:rPr lang="en-US" sz="1800" dirty="0" err="1">
                <a:latin typeface="Arial"/>
                <a:cs typeface="Arial"/>
              </a:rPr>
              <a:t>S_inc</a:t>
            </a:r>
            <a:r>
              <a:rPr lang="en-US" sz="1800" dirty="0">
                <a:latin typeface="Arial"/>
                <a:cs typeface="Arial"/>
              </a:rPr>
              <a:t>(</a:t>
            </a:r>
            <a:r>
              <a:rPr lang="en-US" sz="1800" dirty="0" err="1">
                <a:latin typeface="Arial"/>
                <a:cs typeface="Arial"/>
              </a:rPr>
              <a:t>q,f</a:t>
            </a:r>
            <a:r>
              <a:rPr lang="en-US" sz="1800" dirty="0">
                <a:latin typeface="Arial"/>
                <a:cs typeface="Arial"/>
              </a:rPr>
              <a:t>).</a:t>
            </a:r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2A743599-88CE-3D53-0C5D-145F299A67D9}"/>
              </a:ext>
            </a:extLst>
          </p:cNvPr>
          <p:cNvSpPr/>
          <p:nvPr/>
        </p:nvSpPr>
        <p:spPr>
          <a:xfrm rot="4140000">
            <a:off x="8064703" y="4885012"/>
            <a:ext cx="535934" cy="787006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/>
          </a:p>
        </p:txBody>
      </p:sp>
      <p:pic>
        <p:nvPicPr>
          <p:cNvPr id="4" name="Picture 3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346C2543-DCB6-0DE9-49B9-DB3EE52BB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041" y="1021736"/>
            <a:ext cx="2832410" cy="12408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2CF090-14E3-35DF-6FDB-EAE8389B00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5403" y="837488"/>
            <a:ext cx="2755979" cy="171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77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A46D5-1C66-2D9E-F4D0-5C0DA130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Tutorial 3: Quasielastic Neutron Scattering (QENS)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02055D-B471-467B-4FCD-70207F2D1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3311770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Set the output file, set multicore with 2 or more cores and </a:t>
            </a:r>
            <a:r>
              <a:rPr lang="en-GB" dirty="0">
                <a:latin typeface="Arial"/>
                <a:cs typeface="Arial"/>
              </a:rPr>
              <a:t>hit “RUN!”</a:t>
            </a:r>
            <a:endParaRPr lang="en-US" dirty="0"/>
          </a:p>
          <a:p>
            <a:r>
              <a:rPr lang="en-GB" dirty="0">
                <a:latin typeface="Arial"/>
                <a:cs typeface="Arial"/>
              </a:rPr>
              <a:t>Check the “Running Jobs” tab - this should take less than 3 minutes.</a:t>
            </a:r>
            <a:endParaRPr lang="en-US" dirty="0">
              <a:latin typeface="Arial"/>
              <a:cs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1611D2-4C76-A75B-E62D-E01D916311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915" y="922752"/>
            <a:ext cx="8114173" cy="58552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D202AA2E-8A1E-FCFA-1580-EC26DDD18DD0}"/>
              </a:ext>
            </a:extLst>
          </p:cNvPr>
          <p:cNvSpPr/>
          <p:nvPr/>
        </p:nvSpPr>
        <p:spPr>
          <a:xfrm>
            <a:off x="4589585" y="4176348"/>
            <a:ext cx="1441938" cy="7121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7365B7-4EF6-709B-9F2A-59F7CB585436}"/>
              </a:ext>
            </a:extLst>
          </p:cNvPr>
          <p:cNvSpPr/>
          <p:nvPr/>
        </p:nvSpPr>
        <p:spPr>
          <a:xfrm>
            <a:off x="4589585" y="4888524"/>
            <a:ext cx="1441938" cy="7121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CFAC5436-2DF3-CF08-8E69-A5EC565670DE}"/>
              </a:ext>
            </a:extLst>
          </p:cNvPr>
          <p:cNvSpPr/>
          <p:nvPr/>
        </p:nvSpPr>
        <p:spPr>
          <a:xfrm rot="8787649">
            <a:off x="9693241" y="5760756"/>
            <a:ext cx="793988" cy="7121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75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A421B67-030C-7445-5B9D-8F701E963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412" y="596162"/>
            <a:ext cx="7772400" cy="63791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27A552-AB44-B0C6-5854-2DBD41D3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699" y="123799"/>
            <a:ext cx="11654682" cy="472363"/>
          </a:xfrm>
        </p:spPr>
        <p:txBody>
          <a:bodyPr/>
          <a:lstStyle/>
          <a:p>
            <a:r>
              <a:rPr lang="en-GB" b="1" dirty="0">
                <a:latin typeface="Arial"/>
                <a:cs typeface="Arial"/>
              </a:rPr>
              <a:t>Tutorial 3: </a:t>
            </a:r>
            <a:r>
              <a:rPr lang="en-GB" b="1" dirty="0" err="1">
                <a:latin typeface="Arial"/>
                <a:cs typeface="Arial"/>
              </a:rPr>
              <a:t>Quasielastic</a:t>
            </a:r>
            <a:r>
              <a:rPr lang="en-GB" b="1" dirty="0">
                <a:latin typeface="Arial"/>
                <a:cs typeface="Arial"/>
              </a:rPr>
              <a:t> Neutron Scattering (QENS)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03103-E30D-07C0-4861-7D67EBBD5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3692769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Arial"/>
                <a:cs typeface="Arial"/>
              </a:rPr>
              <a:t>Once complete, go to the Plot Creator and create a plot of </a:t>
            </a:r>
            <a:r>
              <a:rPr lang="en-GB" dirty="0">
                <a:latin typeface="Consolas"/>
                <a:cs typeface="Arial"/>
              </a:rPr>
              <a:t>S(</a:t>
            </a:r>
            <a:r>
              <a:rPr lang="en-GB" dirty="0" err="1">
                <a:latin typeface="Consolas"/>
                <a:cs typeface="Arial"/>
              </a:rPr>
              <a:t>q,f</a:t>
            </a:r>
            <a:r>
              <a:rPr lang="en-GB" dirty="0">
                <a:latin typeface="Consolas"/>
                <a:cs typeface="Arial"/>
              </a:rPr>
              <a:t>)_total</a:t>
            </a:r>
            <a:r>
              <a:rPr lang="en-GB" dirty="0">
                <a:latin typeface="Arial"/>
                <a:cs typeface="Arial"/>
              </a:rPr>
              <a:t>.</a:t>
            </a:r>
            <a:endParaRPr lang="en-US" dirty="0">
              <a:latin typeface="Arial"/>
            </a:endParaRPr>
          </a:p>
          <a:p>
            <a:endParaRPr lang="en-GB" dirty="0">
              <a:latin typeface="Arial"/>
              <a:cs typeface="Arial"/>
            </a:endParaRPr>
          </a:p>
          <a:p>
            <a:endParaRPr lang="en-GB" dirty="0">
              <a:latin typeface="Consolas"/>
              <a:cs typeface="Arial"/>
            </a:endParaRP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E5C50033-3B1D-3523-BEFE-07302F9D840E}"/>
              </a:ext>
            </a:extLst>
          </p:cNvPr>
          <p:cNvSpPr/>
          <p:nvPr/>
        </p:nvSpPr>
        <p:spPr>
          <a:xfrm rot="5400000">
            <a:off x="5826073" y="4151829"/>
            <a:ext cx="535934" cy="787006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9B3E87EF-ED29-774D-F51C-7814444E2EB3}"/>
              </a:ext>
            </a:extLst>
          </p:cNvPr>
          <p:cNvSpPr/>
          <p:nvPr/>
        </p:nvSpPr>
        <p:spPr>
          <a:xfrm rot="5950959">
            <a:off x="8645389" y="2420602"/>
            <a:ext cx="535934" cy="787006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6C6D63A0-AAFE-267E-3F04-A3C9E6C14F36}"/>
              </a:ext>
            </a:extLst>
          </p:cNvPr>
          <p:cNvSpPr/>
          <p:nvPr/>
        </p:nvSpPr>
        <p:spPr>
          <a:xfrm rot="2100000">
            <a:off x="8405855" y="4453760"/>
            <a:ext cx="535934" cy="787006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817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1BD06C-D9B9-F4CF-8609-822981D683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31" y="668214"/>
            <a:ext cx="7541665" cy="618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27A552-AB44-B0C6-5854-2DBD41D3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195851"/>
            <a:ext cx="11654682" cy="472363"/>
          </a:xfrm>
        </p:spPr>
        <p:txBody>
          <a:bodyPr/>
          <a:lstStyle/>
          <a:p>
            <a:r>
              <a:rPr lang="en-GB" b="1" dirty="0">
                <a:latin typeface="Arial"/>
                <a:cs typeface="Arial"/>
              </a:rPr>
              <a:t>Tutorial 3: </a:t>
            </a:r>
            <a:r>
              <a:rPr lang="en-GB" b="1" dirty="0" err="1">
                <a:latin typeface="Arial"/>
                <a:cs typeface="Arial"/>
              </a:rPr>
              <a:t>Quasielastic</a:t>
            </a:r>
            <a:r>
              <a:rPr lang="en-GB" b="1" dirty="0">
                <a:latin typeface="Arial"/>
                <a:cs typeface="Arial"/>
              </a:rPr>
              <a:t> Neutron Scattering (QENS)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03103-E30D-07C0-4861-7D67EBBD5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04925"/>
            <a:ext cx="3979986" cy="3865591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GB" dirty="0">
                <a:latin typeface="Arial"/>
                <a:cs typeface="Arial"/>
              </a:rPr>
              <a:t>Using your cursor determine the half width at half maximum for each plot.</a:t>
            </a: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r>
              <a:rPr lang="en-GB" dirty="0">
                <a:latin typeface="Arial"/>
                <a:cs typeface="Arial"/>
              </a:rPr>
              <a:t>The first plot is |Q|=1.0 Å</a:t>
            </a:r>
            <a:r>
              <a:rPr lang="en-GB" baseline="30000" dirty="0">
                <a:latin typeface="Arial"/>
                <a:cs typeface="Arial"/>
              </a:rPr>
              <a:t>-1</a:t>
            </a:r>
            <a:r>
              <a:rPr lang="en-GB" dirty="0">
                <a:latin typeface="Arial"/>
                <a:cs typeface="Arial"/>
              </a:rPr>
              <a:t>, the next is |Q|=1.2 Å</a:t>
            </a:r>
            <a:r>
              <a:rPr lang="en-GB" baseline="30000" dirty="0">
                <a:latin typeface="Arial"/>
                <a:cs typeface="Arial"/>
              </a:rPr>
              <a:t>-1</a:t>
            </a:r>
            <a:r>
              <a:rPr lang="en-GB" dirty="0">
                <a:latin typeface="Arial"/>
                <a:cs typeface="Arial"/>
              </a:rPr>
              <a:t>, and etc. </a:t>
            </a:r>
            <a:endParaRPr lang="en-GB" dirty="0">
              <a:solidFill>
                <a:srgbClr val="000000"/>
              </a:solidFill>
              <a:latin typeface="Arial"/>
              <a:cs typeface="Arial"/>
            </a:endParaRPr>
          </a:p>
          <a:p>
            <a:r>
              <a:rPr lang="en-GB" dirty="0">
                <a:latin typeface="Arial"/>
                <a:cs typeface="Arial"/>
              </a:rPr>
              <a:t>You can enter a number: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marL="0" indent="0">
              <a:buNone/>
            </a:pPr>
            <a:r>
              <a:rPr lang="en-GB" dirty="0">
                <a:latin typeface="Arial"/>
                <a:cs typeface="Arial"/>
              </a:rPr>
              <a:t>or a range: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0:3</a:t>
            </a:r>
          </a:p>
          <a:p>
            <a:pPr marL="0" indent="0">
              <a:buNone/>
            </a:pPr>
            <a:r>
              <a:rPr lang="en-GB" dirty="0">
                <a:latin typeface="Arial"/>
                <a:cs typeface="Arial"/>
              </a:rPr>
              <a:t>in the "Use it?" column to select curves corresponding to specific </a:t>
            </a:r>
            <a:r>
              <a:rPr lang="en-GB" dirty="0" err="1">
                <a:latin typeface="Consolas"/>
                <a:cs typeface="Arial"/>
              </a:rPr>
              <a:t>q_vector</a:t>
            </a:r>
            <a:r>
              <a:rPr lang="en-GB" dirty="0">
                <a:latin typeface="Consolas"/>
                <a:cs typeface="Arial"/>
              </a:rPr>
              <a:t> </a:t>
            </a:r>
            <a:r>
              <a:rPr lang="en-GB" dirty="0">
                <a:latin typeface="Arial"/>
                <a:cs typeface="Arial"/>
              </a:rPr>
              <a:t>magnitudes.</a:t>
            </a:r>
            <a:endParaRPr lang="en-GB" dirty="0"/>
          </a:p>
          <a:p>
            <a:endParaRPr lang="en-GB" dirty="0">
              <a:latin typeface="Arial"/>
              <a:cs typeface="Arial"/>
            </a:endParaRPr>
          </a:p>
          <a:p>
            <a:endParaRPr lang="en-GB" dirty="0">
              <a:latin typeface="Consolas"/>
              <a:cs typeface="Arial"/>
            </a:endParaRP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F3D7CE0F-94A4-5918-3E32-7DF4BF2101AF}"/>
              </a:ext>
            </a:extLst>
          </p:cNvPr>
          <p:cNvSpPr/>
          <p:nvPr/>
        </p:nvSpPr>
        <p:spPr>
          <a:xfrm rot="13078133">
            <a:off x="4432872" y="3894469"/>
            <a:ext cx="720532" cy="853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326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A552-AB44-B0C6-5854-2DBD41D3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Arial"/>
                <a:cs typeface="Arial"/>
              </a:rPr>
              <a:t>Tutorial 3: Quasielastic Neutron Scattering (QENS)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03103-E30D-07C0-4861-7D67EBBD5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4010749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Arial"/>
                <a:cs typeface="Arial"/>
              </a:rPr>
              <a:t>Using a spreadsheet to create a plot to determine the diffusions constant.</a:t>
            </a:r>
            <a:endParaRPr lang="en-GB" dirty="0"/>
          </a:p>
          <a:p>
            <a:r>
              <a:rPr lang="en-GB" dirty="0">
                <a:latin typeface="Arial"/>
                <a:cs typeface="Arial"/>
              </a:rPr>
              <a:t>HINT: see FIG. 11 in the paper by Sköld et al.</a:t>
            </a:r>
          </a:p>
          <a:p>
            <a:endParaRPr lang="en-GB" dirty="0">
              <a:latin typeface="Arial"/>
              <a:cs typeface="Arial"/>
            </a:endParaRPr>
          </a:p>
          <a:p>
            <a:endParaRPr lang="en-GB" dirty="0">
              <a:latin typeface="Consolas"/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0CF603-BE8F-83C4-E540-68651D3D7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530" y="1305028"/>
            <a:ext cx="3890293" cy="7452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BA4240-61AC-41E3-1BA2-84B976C2F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5951" y="2391167"/>
            <a:ext cx="1903358" cy="441051"/>
          </a:xfrm>
          <a:prstGeom prst="rect">
            <a:avLst/>
          </a:prstGeom>
        </p:spPr>
      </p:pic>
      <p:pic>
        <p:nvPicPr>
          <p:cNvPr id="5" name="Picture 4" descr="A white sheet with black text&#10;&#10;Description automatically generated">
            <a:extLst>
              <a:ext uri="{FF2B5EF4-FFF2-40B4-BE49-F238E27FC236}">
                <a16:creationId xmlns:a16="http://schemas.microsoft.com/office/drawing/2014/main" id="{4027F70D-2F43-2F96-0884-A9C5E3DB9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299" y="3327861"/>
            <a:ext cx="3802628" cy="2660345"/>
          </a:xfrm>
          <a:prstGeom prst="rect">
            <a:avLst/>
          </a:prstGeom>
        </p:spPr>
      </p:pic>
      <p:pic>
        <p:nvPicPr>
          <p:cNvPr id="10" name="Picture 9" descr="A graph of a simple diffusion&#10;&#10;Description automatically generated">
            <a:extLst>
              <a:ext uri="{FF2B5EF4-FFF2-40B4-BE49-F238E27FC236}">
                <a16:creationId xmlns:a16="http://schemas.microsoft.com/office/drawing/2014/main" id="{2DB24D9C-A42F-877A-615C-ED65CADD26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5257" y="1058644"/>
            <a:ext cx="2848603" cy="542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795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A8F-76A1-15E7-C82A-D926067F3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699" y="189279"/>
            <a:ext cx="11654682" cy="472363"/>
          </a:xfrm>
        </p:spPr>
        <p:txBody>
          <a:bodyPr/>
          <a:lstStyle/>
          <a:p>
            <a:r>
              <a:rPr lang="en-GB" b="1" dirty="0">
                <a:latin typeface="Arial"/>
                <a:cs typeface="Arial"/>
              </a:rPr>
              <a:t>Tutorial 3: </a:t>
            </a:r>
            <a:r>
              <a:rPr lang="en-GB" b="1" dirty="0" err="1">
                <a:latin typeface="Arial"/>
                <a:cs typeface="Arial"/>
              </a:rPr>
              <a:t>Quasielastic</a:t>
            </a:r>
            <a:r>
              <a:rPr lang="en-GB" b="1" dirty="0">
                <a:latin typeface="Arial"/>
                <a:cs typeface="Arial"/>
              </a:rPr>
              <a:t> Neutron Scattering (QENS)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49915-6665-36DC-25D0-8FC334F5F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4742828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Now let's calculate the diffusion constant directly from the mean square displacement and compare results.</a:t>
            </a:r>
          </a:p>
          <a:p>
            <a:r>
              <a:rPr lang="en-US" dirty="0">
                <a:latin typeface="Arial"/>
                <a:cs typeface="Arial"/>
              </a:rPr>
              <a:t>Using the </a:t>
            </a:r>
            <a:r>
              <a:rPr lang="en-US" dirty="0">
                <a:latin typeface="Consolas"/>
                <a:cs typeface="Arial"/>
              </a:rPr>
              <a:t>ar36_120fs_8_f64.mdt </a:t>
            </a:r>
            <a:r>
              <a:rPr lang="en-US" dirty="0">
                <a:latin typeface="Arial"/>
                <a:cs typeface="Arial"/>
              </a:rPr>
              <a:t>run the mean square displacement calculation.</a:t>
            </a:r>
          </a:p>
          <a:p>
            <a:r>
              <a:rPr lang="en-US" dirty="0">
                <a:latin typeface="Arial"/>
                <a:cs typeface="Arial"/>
              </a:rPr>
              <a:t>Default settings are fine. Just set the output path and run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676764-AF7C-366A-BE87-785FC2311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7508" y="788018"/>
            <a:ext cx="7395696" cy="6069982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E24671BE-6923-64F3-001B-32FEF674BD4B}"/>
              </a:ext>
            </a:extLst>
          </p:cNvPr>
          <p:cNvSpPr/>
          <p:nvPr/>
        </p:nvSpPr>
        <p:spPr>
          <a:xfrm rot="11364545">
            <a:off x="6605952" y="3823647"/>
            <a:ext cx="920263" cy="7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4C5D6D10-47DC-40EF-2628-5FDC346FD33A}"/>
              </a:ext>
            </a:extLst>
          </p:cNvPr>
          <p:cNvSpPr/>
          <p:nvPr/>
        </p:nvSpPr>
        <p:spPr>
          <a:xfrm rot="6648940">
            <a:off x="10603523" y="5354515"/>
            <a:ext cx="844062" cy="9671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01C3F18E-44F7-739F-EAF6-9A1C51FA8C36}"/>
              </a:ext>
            </a:extLst>
          </p:cNvPr>
          <p:cNvSpPr/>
          <p:nvPr/>
        </p:nvSpPr>
        <p:spPr>
          <a:xfrm rot="18763611">
            <a:off x="7285635" y="4434253"/>
            <a:ext cx="844062" cy="9671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663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A8F-76A1-15E7-C82A-D926067F3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699" y="233725"/>
            <a:ext cx="11654682" cy="472363"/>
          </a:xfrm>
        </p:spPr>
        <p:txBody>
          <a:bodyPr/>
          <a:lstStyle/>
          <a:p>
            <a:r>
              <a:rPr lang="en-GB" b="1" dirty="0">
                <a:latin typeface="Arial"/>
                <a:cs typeface="Arial"/>
              </a:rPr>
              <a:t>Tutorial 3: </a:t>
            </a:r>
            <a:r>
              <a:rPr lang="en-GB" b="1" dirty="0" err="1">
                <a:latin typeface="Arial"/>
                <a:cs typeface="Arial"/>
              </a:rPr>
              <a:t>Quasielastic</a:t>
            </a:r>
            <a:r>
              <a:rPr lang="en-GB" b="1" dirty="0">
                <a:latin typeface="Arial"/>
                <a:cs typeface="Arial"/>
              </a:rPr>
              <a:t> Neutron Scattering (QENS)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49915-6665-36DC-25D0-8FC334F5F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9" y="1304925"/>
            <a:ext cx="4481147" cy="3865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The Argon MSD is essentially linear for long times, we can calculate the diffusion constant with.</a:t>
            </a:r>
          </a:p>
          <a:p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  <a:p>
            <a:r>
              <a:rPr lang="en-US" dirty="0">
                <a:latin typeface="Arial"/>
                <a:cs typeface="Arial"/>
              </a:rPr>
              <a:t>Calculate the diffusion constant using the last time step t=60000 fs.</a:t>
            </a:r>
          </a:p>
          <a:p>
            <a:r>
              <a:rPr lang="en-US" dirty="0">
                <a:latin typeface="Arial"/>
                <a:cs typeface="Arial"/>
              </a:rPr>
              <a:t>Did your results from QENS and MSD agree with the experimental?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47274C-C806-65FA-82E6-E11026E22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145" y="2406235"/>
            <a:ext cx="1941921" cy="7384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A3F193-4510-CCF6-C2F8-3B62FC2408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846" y="748246"/>
            <a:ext cx="7444154" cy="610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405468"/>
      </p:ext>
    </p:extLst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STFC Colour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E5DF8"/>
      </a:accent1>
      <a:accent2>
        <a:srgbClr val="FF9D1B"/>
      </a:accent2>
      <a:accent3>
        <a:srgbClr val="003088"/>
      </a:accent3>
      <a:accent4>
        <a:srgbClr val="D77900"/>
      </a:accent4>
      <a:accent5>
        <a:srgbClr val="008AAD"/>
      </a:accent5>
      <a:accent6>
        <a:srgbClr val="3E863E"/>
      </a:accent6>
      <a:hlink>
        <a:srgbClr val="1E5DF8"/>
      </a:hlink>
      <a:folHlink>
        <a:srgbClr val="923D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Triangles">
  <a:themeElements>
    <a:clrScheme name="STFC Colour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E5DF8"/>
      </a:accent1>
      <a:accent2>
        <a:srgbClr val="FF9D1B"/>
      </a:accent2>
      <a:accent3>
        <a:srgbClr val="003088"/>
      </a:accent3>
      <a:accent4>
        <a:srgbClr val="D77900"/>
      </a:accent4>
      <a:accent5>
        <a:srgbClr val="008AAD"/>
      </a:accent5>
      <a:accent6>
        <a:srgbClr val="3E863E"/>
      </a:accent6>
      <a:hlink>
        <a:srgbClr val="1E5DF8"/>
      </a:hlink>
      <a:folHlink>
        <a:srgbClr val="923D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Pattern">
  <a:themeElements>
    <a:clrScheme name="STFC Colour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E5DF8"/>
      </a:accent1>
      <a:accent2>
        <a:srgbClr val="FF9D1B"/>
      </a:accent2>
      <a:accent3>
        <a:srgbClr val="003088"/>
      </a:accent3>
      <a:accent4>
        <a:srgbClr val="D77900"/>
      </a:accent4>
      <a:accent5>
        <a:srgbClr val="008AAD"/>
      </a:accent5>
      <a:accent6>
        <a:srgbClr val="3E863E"/>
      </a:accent6>
      <a:hlink>
        <a:srgbClr val="1E5DF8"/>
      </a:hlink>
      <a:folHlink>
        <a:srgbClr val="923D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4_Blank Layouts">
  <a:themeElements>
    <a:clrScheme name="STFC Colour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E5DF8"/>
      </a:accent1>
      <a:accent2>
        <a:srgbClr val="FF9D1B"/>
      </a:accent2>
      <a:accent3>
        <a:srgbClr val="003088"/>
      </a:accent3>
      <a:accent4>
        <a:srgbClr val="D77900"/>
      </a:accent4>
      <a:accent5>
        <a:srgbClr val="008AAD"/>
      </a:accent5>
      <a:accent6>
        <a:srgbClr val="3E863E"/>
      </a:accent6>
      <a:hlink>
        <a:srgbClr val="1E5DF8"/>
      </a:hlink>
      <a:folHlink>
        <a:srgbClr val="923D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2453390EE4BA43A5D6133E94472E90" ma:contentTypeVersion="17" ma:contentTypeDescription="Create a new document." ma:contentTypeScope="" ma:versionID="a3dd40fe961babd590db7e6ab2b6c3cc">
  <xsd:schema xmlns:xsd="http://www.w3.org/2001/XMLSchema" xmlns:xs="http://www.w3.org/2001/XMLSchema" xmlns:p="http://schemas.microsoft.com/office/2006/metadata/properties" xmlns:ns2="7a6c5452-7205-4e2c-a322-0d36e47a4095" xmlns:ns3="4367b676-3231-4229-b246-27e36f6a6ea0" targetNamespace="http://schemas.microsoft.com/office/2006/metadata/properties" ma:root="true" ma:fieldsID="9c9a1b7cbcb1e6780652342e7736d883" ns2:_="" ns3:_="">
    <xsd:import namespace="7a6c5452-7205-4e2c-a322-0d36e47a4095"/>
    <xsd:import namespace="4367b676-3231-4229-b246-27e36f6a6e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6c5452-7205-4e2c-a322-0d36e47a40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fe07c91c-676c-4292-ab42-0332d43006d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67b676-3231-4229-b246-27e36f6a6ea0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55bb8876-a7eb-42f8-850b-785a27f532ba}" ma:internalName="TaxCatchAll" ma:showField="CatchAllData" ma:web="4367b676-3231-4229-b246-27e36f6a6ea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367b676-3231-4229-b246-27e36f6a6ea0" xsi:nil="true"/>
    <lcf76f155ced4ddcb4097134ff3c332f xmlns="7a6c5452-7205-4e2c-a322-0d36e47a4095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9CAF4C5-C546-4E53-8B48-77E78F83DEF3}">
  <ds:schemaRefs>
    <ds:schemaRef ds:uri="4367b676-3231-4229-b246-27e36f6a6ea0"/>
    <ds:schemaRef ds:uri="7a6c5452-7205-4e2c-a322-0d36e47a409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DF670E-3DD2-40A0-8524-D0B4771A7312}">
  <ds:schemaRefs>
    <ds:schemaRef ds:uri="4367b676-3231-4229-b246-27e36f6a6ea0"/>
    <ds:schemaRef ds:uri="7a6c5452-7205-4e2c-a322-0d36e47a40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79237DF-6E98-4AFD-A1AD-E1C9D616A34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784</Words>
  <Application>Microsoft Macintosh PowerPoint</Application>
  <PresentationFormat>Widescreen</PresentationFormat>
  <Paragraphs>73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Verdana</vt:lpstr>
      <vt:lpstr>Arial</vt:lpstr>
      <vt:lpstr>Consolas</vt:lpstr>
      <vt:lpstr>Calibri</vt:lpstr>
      <vt:lpstr>Aptos</vt:lpstr>
      <vt:lpstr>1_Title slide</vt:lpstr>
      <vt:lpstr>2_Triangles</vt:lpstr>
      <vt:lpstr>3_Pattern</vt:lpstr>
      <vt:lpstr>4_Blank Layouts</vt:lpstr>
      <vt:lpstr>Tutorial 3: Quasielastic Neutron Scattering (QENS)</vt:lpstr>
      <vt:lpstr>Tutorial 3: Quasielastic Neutron Scattering (QENS)</vt:lpstr>
      <vt:lpstr>Tutorial 3: Quasielastic Neutron Scattering (QENS)</vt:lpstr>
      <vt:lpstr>Tutorial 3: Quasielastic Neutron Scattering (QENS)</vt:lpstr>
      <vt:lpstr>Tutorial 3: Quasielastic Neutron Scattering (QENS)</vt:lpstr>
      <vt:lpstr>Tutorial 3: Save your scattering parameters</vt:lpstr>
      <vt:lpstr>Tutorial 3: Quasielastic Neutron Scattering (QENS)</vt:lpstr>
      <vt:lpstr>Tutorial 3: Quasielastic Neutron Scattering (QENS)</vt:lpstr>
      <vt:lpstr>Tutorial 3: Quasielastic Neutron Scattering (QENS)</vt:lpstr>
      <vt:lpstr>Tutorial 3: Quasielastic Neutron Scattering (QENS)</vt:lpstr>
      <vt:lpstr>Tutorial 3: Quasielastic Neutron Scattering (QENS)</vt:lpstr>
      <vt:lpstr>Tutorial 3: Quasielastic Neutron Scattering (QENS)</vt:lpstr>
      <vt:lpstr>Tutorial 3: Quasielastic Neutron Scattering (QENS)</vt:lpstr>
      <vt:lpstr>Tutorial 3: Quasielastic Neutron Scattering (QENS)</vt:lpstr>
    </vt:vector>
  </TitlesOfParts>
  <Company>Science and Technology Facilities Council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Richardson, Stephanie (STFC,RAL,ISIS)</dc:creator>
  <cp:lastModifiedBy>Bartkowiak, Maciej (STFC,RAL,ISIS)</cp:lastModifiedBy>
  <cp:revision>718</cp:revision>
  <dcterms:created xsi:type="dcterms:W3CDTF">2023-01-10T12:41:06Z</dcterms:created>
  <dcterms:modified xsi:type="dcterms:W3CDTF">2026-10-28T13:50:37Z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0x010100FC2453390EE4BA43A5D6133E94472E90</vt:lpwstr>
  </property>
  <property fmtid="{D5CDD505-2E9C-101B-9397-08002B2CF9AE}" pid="3" name="MediaServiceImageTags">
    <vt:lpwstr/>
  </property>
</Properties>
</file>