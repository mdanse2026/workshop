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ink/ink1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27" r:id="rId4"/>
    <p:sldMasterId id="2147483719" r:id="rId5"/>
    <p:sldMasterId id="2147483663" r:id="rId6"/>
    <p:sldMasterId id="2147483734" r:id="rId7"/>
  </p:sldMasterIdLst>
  <p:notesMasterIdLst>
    <p:notesMasterId r:id="rId69"/>
  </p:notesMasterIdLst>
  <p:handoutMasterIdLst>
    <p:handoutMasterId r:id="rId70"/>
  </p:handoutMasterIdLst>
  <p:sldIdLst>
    <p:sldId id="298" r:id="rId8"/>
    <p:sldId id="300" r:id="rId9"/>
    <p:sldId id="386" r:id="rId10"/>
    <p:sldId id="387" r:id="rId11"/>
    <p:sldId id="301" r:id="rId12"/>
    <p:sldId id="302" r:id="rId13"/>
    <p:sldId id="303" r:id="rId14"/>
    <p:sldId id="304" r:id="rId15"/>
    <p:sldId id="305" r:id="rId16"/>
    <p:sldId id="308" r:id="rId17"/>
    <p:sldId id="352" r:id="rId18"/>
    <p:sldId id="307" r:id="rId19"/>
    <p:sldId id="318" r:id="rId20"/>
    <p:sldId id="346" r:id="rId21"/>
    <p:sldId id="344" r:id="rId22"/>
    <p:sldId id="438" r:id="rId23"/>
    <p:sldId id="439" r:id="rId24"/>
    <p:sldId id="355" r:id="rId25"/>
    <p:sldId id="366" r:id="rId26"/>
    <p:sldId id="367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447" r:id="rId35"/>
    <p:sldId id="448" r:id="rId36"/>
    <p:sldId id="449" r:id="rId37"/>
    <p:sldId id="453" r:id="rId38"/>
    <p:sldId id="390" r:id="rId39"/>
    <p:sldId id="329" r:id="rId40"/>
    <p:sldId id="363" r:id="rId41"/>
    <p:sldId id="364" r:id="rId42"/>
    <p:sldId id="365" r:id="rId43"/>
    <p:sldId id="451" r:id="rId44"/>
    <p:sldId id="452" r:id="rId45"/>
    <p:sldId id="454" r:id="rId46"/>
    <p:sldId id="450" r:id="rId47"/>
    <p:sldId id="388" r:id="rId48"/>
    <p:sldId id="306" r:id="rId49"/>
    <p:sldId id="401" r:id="rId50"/>
    <p:sldId id="403" r:id="rId51"/>
    <p:sldId id="429" r:id="rId52"/>
    <p:sldId id="432" r:id="rId53"/>
    <p:sldId id="433" r:id="rId54"/>
    <p:sldId id="436" r:id="rId55"/>
    <p:sldId id="327" r:id="rId56"/>
    <p:sldId id="437" r:id="rId57"/>
    <p:sldId id="389" r:id="rId58"/>
    <p:sldId id="392" r:id="rId59"/>
    <p:sldId id="393" r:id="rId60"/>
    <p:sldId id="395" r:id="rId61"/>
    <p:sldId id="396" r:id="rId62"/>
    <p:sldId id="397" r:id="rId63"/>
    <p:sldId id="399" r:id="rId64"/>
    <p:sldId id="400" r:id="rId65"/>
    <p:sldId id="398" r:id="rId66"/>
    <p:sldId id="402" r:id="rId67"/>
    <p:sldId id="391" r:id="rId68"/>
  </p:sldIdLst>
  <p:sldSz cx="12192000" cy="6858000"/>
  <p:notesSz cx="6858000" cy="9144000"/>
  <p:embeddedFontLst>
    <p:embeddedFont>
      <p:font typeface="Cambria Math" panose="02040503050406030204" pitchFamily="18" charset="0"/>
      <p:regular r:id="rId71"/>
    </p:embeddedFont>
    <p:embeddedFont>
      <p:font typeface="Verdana" panose="020B0604030504040204" pitchFamily="34" charset="0"/>
      <p:regular r:id="rId72"/>
      <p:bold r:id="rId73"/>
      <p:italic r:id="rId74"/>
      <p:boldItalic r:id="rId7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088"/>
    <a:srgbClr val="FF9D1B"/>
    <a:srgbClr val="6767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05"/>
    <p:restoredTop sz="94744"/>
  </p:normalViewPr>
  <p:slideViewPr>
    <p:cSldViewPr snapToGrid="0">
      <p:cViewPr varScale="1">
        <p:scale>
          <a:sx n="119" d="100"/>
          <a:sy n="119" d="100"/>
        </p:scale>
        <p:origin x="9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9.xml"/><Relationship Id="rId21" Type="http://schemas.openxmlformats.org/officeDocument/2006/relationships/slide" Target="slides/slide14.xml"/><Relationship Id="rId42" Type="http://schemas.openxmlformats.org/officeDocument/2006/relationships/slide" Target="slides/slide35.xml"/><Relationship Id="rId47" Type="http://schemas.openxmlformats.org/officeDocument/2006/relationships/slide" Target="slides/slide40.xml"/><Relationship Id="rId63" Type="http://schemas.openxmlformats.org/officeDocument/2006/relationships/slide" Target="slides/slide56.xml"/><Relationship Id="rId68" Type="http://schemas.openxmlformats.org/officeDocument/2006/relationships/slide" Target="slides/slide61.xml"/><Relationship Id="rId16" Type="http://schemas.openxmlformats.org/officeDocument/2006/relationships/slide" Target="slides/slide9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32" Type="http://schemas.openxmlformats.org/officeDocument/2006/relationships/slide" Target="slides/slide25.xml"/><Relationship Id="rId37" Type="http://schemas.openxmlformats.org/officeDocument/2006/relationships/slide" Target="slides/slide30.xml"/><Relationship Id="rId40" Type="http://schemas.openxmlformats.org/officeDocument/2006/relationships/slide" Target="slides/slide33.xml"/><Relationship Id="rId45" Type="http://schemas.openxmlformats.org/officeDocument/2006/relationships/slide" Target="slides/slide38.xml"/><Relationship Id="rId53" Type="http://schemas.openxmlformats.org/officeDocument/2006/relationships/slide" Target="slides/slide46.xml"/><Relationship Id="rId58" Type="http://schemas.openxmlformats.org/officeDocument/2006/relationships/slide" Target="slides/slide51.xml"/><Relationship Id="rId66" Type="http://schemas.openxmlformats.org/officeDocument/2006/relationships/slide" Target="slides/slide59.xml"/><Relationship Id="rId74" Type="http://schemas.openxmlformats.org/officeDocument/2006/relationships/font" Target="fonts/font4.fntdata"/><Relationship Id="rId79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slide" Target="slides/slide54.xml"/><Relationship Id="rId19" Type="http://schemas.openxmlformats.org/officeDocument/2006/relationships/slide" Target="slides/slide1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slide" Target="slides/slide20.xml"/><Relationship Id="rId30" Type="http://schemas.openxmlformats.org/officeDocument/2006/relationships/slide" Target="slides/slide23.xml"/><Relationship Id="rId35" Type="http://schemas.openxmlformats.org/officeDocument/2006/relationships/slide" Target="slides/slide28.xml"/><Relationship Id="rId43" Type="http://schemas.openxmlformats.org/officeDocument/2006/relationships/slide" Target="slides/slide36.xml"/><Relationship Id="rId48" Type="http://schemas.openxmlformats.org/officeDocument/2006/relationships/slide" Target="slides/slide41.xml"/><Relationship Id="rId56" Type="http://schemas.openxmlformats.org/officeDocument/2006/relationships/slide" Target="slides/slide49.xml"/><Relationship Id="rId64" Type="http://schemas.openxmlformats.org/officeDocument/2006/relationships/slide" Target="slides/slide57.xml"/><Relationship Id="rId69" Type="http://schemas.openxmlformats.org/officeDocument/2006/relationships/notesMaster" Target="notesMasters/notesMaster1.xml"/><Relationship Id="rId77" Type="http://schemas.openxmlformats.org/officeDocument/2006/relationships/viewProps" Target="viewProps.xml"/><Relationship Id="rId8" Type="http://schemas.openxmlformats.org/officeDocument/2006/relationships/slide" Target="slides/slide1.xml"/><Relationship Id="rId51" Type="http://schemas.openxmlformats.org/officeDocument/2006/relationships/slide" Target="slides/slide44.xml"/><Relationship Id="rId72" Type="http://schemas.openxmlformats.org/officeDocument/2006/relationships/font" Target="fonts/font2.fntdata"/><Relationship Id="rId3" Type="http://schemas.openxmlformats.org/officeDocument/2006/relationships/customXml" Target="../customXml/item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33" Type="http://schemas.openxmlformats.org/officeDocument/2006/relationships/slide" Target="slides/slide26.xml"/><Relationship Id="rId38" Type="http://schemas.openxmlformats.org/officeDocument/2006/relationships/slide" Target="slides/slide31.xml"/><Relationship Id="rId46" Type="http://schemas.openxmlformats.org/officeDocument/2006/relationships/slide" Target="slides/slide39.xml"/><Relationship Id="rId59" Type="http://schemas.openxmlformats.org/officeDocument/2006/relationships/slide" Target="slides/slide52.xml"/><Relationship Id="rId67" Type="http://schemas.openxmlformats.org/officeDocument/2006/relationships/slide" Target="slides/slide60.xml"/><Relationship Id="rId20" Type="http://schemas.openxmlformats.org/officeDocument/2006/relationships/slide" Target="slides/slide13.xml"/><Relationship Id="rId41" Type="http://schemas.openxmlformats.org/officeDocument/2006/relationships/slide" Target="slides/slide34.xml"/><Relationship Id="rId54" Type="http://schemas.openxmlformats.org/officeDocument/2006/relationships/slide" Target="slides/slide47.xml"/><Relationship Id="rId62" Type="http://schemas.openxmlformats.org/officeDocument/2006/relationships/slide" Target="slides/slide55.xml"/><Relationship Id="rId70" Type="http://schemas.openxmlformats.org/officeDocument/2006/relationships/handoutMaster" Target="handoutMasters/handoutMaster1.xml"/><Relationship Id="rId75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slide" Target="slides/slide21.xml"/><Relationship Id="rId36" Type="http://schemas.openxmlformats.org/officeDocument/2006/relationships/slide" Target="slides/slide29.xml"/><Relationship Id="rId49" Type="http://schemas.openxmlformats.org/officeDocument/2006/relationships/slide" Target="slides/slide42.xml"/><Relationship Id="rId57" Type="http://schemas.openxmlformats.org/officeDocument/2006/relationships/slide" Target="slides/slide50.xml"/><Relationship Id="rId10" Type="http://schemas.openxmlformats.org/officeDocument/2006/relationships/slide" Target="slides/slide3.xml"/><Relationship Id="rId31" Type="http://schemas.openxmlformats.org/officeDocument/2006/relationships/slide" Target="slides/slide24.xml"/><Relationship Id="rId44" Type="http://schemas.openxmlformats.org/officeDocument/2006/relationships/slide" Target="slides/slide37.xml"/><Relationship Id="rId52" Type="http://schemas.openxmlformats.org/officeDocument/2006/relationships/slide" Target="slides/slide45.xml"/><Relationship Id="rId60" Type="http://schemas.openxmlformats.org/officeDocument/2006/relationships/slide" Target="slides/slide53.xml"/><Relationship Id="rId65" Type="http://schemas.openxmlformats.org/officeDocument/2006/relationships/slide" Target="slides/slide58.xml"/><Relationship Id="rId73" Type="http://schemas.openxmlformats.org/officeDocument/2006/relationships/font" Target="fonts/font3.fntdata"/><Relationship Id="rId78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39" Type="http://schemas.openxmlformats.org/officeDocument/2006/relationships/slide" Target="slides/slide32.xml"/><Relationship Id="rId34" Type="http://schemas.openxmlformats.org/officeDocument/2006/relationships/slide" Target="slides/slide27.xml"/><Relationship Id="rId50" Type="http://schemas.openxmlformats.org/officeDocument/2006/relationships/slide" Target="slides/slide43.xml"/><Relationship Id="rId55" Type="http://schemas.openxmlformats.org/officeDocument/2006/relationships/slide" Target="slides/slide48.xml"/><Relationship Id="rId76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71" Type="http://schemas.openxmlformats.org/officeDocument/2006/relationships/font" Target="fonts/font1.fntdata"/><Relationship Id="rId2" Type="http://schemas.openxmlformats.org/officeDocument/2006/relationships/customXml" Target="../customXml/item2.xml"/><Relationship Id="rId29" Type="http://schemas.openxmlformats.org/officeDocument/2006/relationships/slide" Target="slides/slide2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1C82ED0-7452-4354-A24E-35FB24BF9A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6969E9-2182-2FF9-A02F-A1842CE2A4F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66A77-BC89-4E24-A414-B6543411FF58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84D48-5E89-47EA-5EE7-5780CF041D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69F5C8-55D8-4294-92FA-96C28702B9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A80C6-5E9B-493C-B5B8-6FAC8DE86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0783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15:41:35.6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3151 926 24575,'15'-13'0,"13"-9"0,15-11 0,21-12 0,-17 17 0,3 1-1083,3-2 0,3 1 1083,4 2 0,4 0 0,16-4 0,4 1-756,-3 2 0,3 0 756,-10 5 0,5 0 0,0 1-401,-1 1 1,1 1 0,2 1 400,8-2 0,1 1 0,2 1 0,3 1 0,2 1 0,1-1 0,-20 2 0,1 0 0,2 0 0,0 2-635,3 2 0,0 3 0,3 0 0,6-3 635,-10 1 0,5-2 0,4-1 0,0 1 0,-1 0 0,-4 1-765,-1 2 0,-4 1 0,0 1 0,0-1 1,2 1 764,10-2 0,3-1 0,0 1 0,-2 1 0,-3 0 0,3 1 0,-2 1 0,-3 1 0,-2 0-469,-7 1 1,-3 0-1,1 0 1,2 1 468,13 2 0,3 0 0,1 1 0,-2-2 0,-3-1 0,-1-2 0,-1 1 0,0 1-246,-4 2 1,0 1-1,0 1 1,-3-1 245,-4 0 0,-2 0 0,-1 0 0,-1 0-37,19 0 0,-1 0 0,-2 0 37,-3 0 0,-2 0 0,-2 0 0,-8 0 0,-1-1 0,-1 2 0,1 3 0,-1 1 0,-3 0 1193,12 0 1,-2 0-1194,11 6 0,-6 1 0,-34-5 0,-3-1 0,14 1 0,-2 1 0,25 11 0,-34-6 0,-2 2 0,21 10 2593,17 13-2593,-34-2 0,14 9 0,-8-1 0,-15-6 0,0 2 0,22 10 1510,-23-4 0,-2 1-1510,7 5 0,8 26 0,-12-20 0,-13-15 0,1 2 0,21 30 0,-24-30 0,0 0 0,16 34 0,-21-35 0,2 1 0,25 36 0,-25-37 0,1 1 0,-2-1 0,0 0 0,1 1 0,-2 1 0,-1 2 0,0 2 0,-1-2 0,2 1 0,1 1 0,1-1 0,-4-4 0,0 0 0,-2 2 0,0 1 0,23 41 0,-24-10 0,16 4 0,-16-7 0,-4-13 0,-2 3 0,-6-13 0,-3 0 0,1 16 0,-2-1 0,-5 28 0,6-1 0,-4-9 0,1-35 0,0 0 0,-3 38 0,0 6 0,-8-46 0,-3 3 0,-8 30 0,-2 1 0,2-30 0,0 0 993,-10 32 0,1-3-993,-5-3 0,7-23 0,-4 1 0,3-10 0,-3 0 0,-8 7 0,-3-1 0,6-3 0,-2-2 0,-8-3 0,-2 0 0,1 10 0,-6-1 0,-1-13 0,-7-3 0,1 1 0,-15 14 0,-3-2-291,14-15 1,-5-1 0,2-2 290,-19 10 0,0-3 0,-4-7 0,-2-2-646,20-7 0,-1-1 0,-2 1 646,-3 1 0,-2-1 0,-1-1-762,-6-2 0,-2-1 1,-1-1 761,-1 3 0,-1 0 0,-1-2 0,-2-4 0,0-3 0,0 1 0,-1-1 0,0 1 0,3-1 0,14-2 0,2 0 0,-1-1-448,-8 1 1,0 0-1,2 0 448,12-1 0,2 1 0,-2-1 0,-9 2 0,-2-1 0,-1-1 0,0-1 0,-2 0 0,1-2 0,-1 0 0,0-2 0,0 0 0,1-2 0,-1-1 0,0 0 0,-5-2 0,1 0 0,-2 0 0,0 0 0,0 0 0,0 0 0,-1 0 0,0 0 0,1 0 0,0 0 0,0 0 0,1 0 0,3 0 0,0 0 0,1 0 0,3 0 0,1 1 0,0-2 0,3-3 0,0-1 0,1 0 0,6 2 0,2 0 0,-3-2 0,-15-5 0,-2-4 0,4 2 0,-13-1 0,1 0-47,17 1 1,-4 0 0,6-2 46,-8-4 0,4-2 459,6 2 0,1-2-459,-3-3 0,1 0 0,3 0 0,-1 1 494,-13-1 0,0-1-494,1-3 0,2 1 0,9 5 0,1 2 585,-10-4 1,2 1-586,19 4 0,-1 0 0,-17 2 0,-1 0 0,12-2 0,1-1 0,0 5 0,1-2 0,11-1 0,2 0 758,5 2 1,1 1-759,-42-13 0,-2 8 0,6 5 0,38 5 0,0-2 0,-27-9 0,-7 0 0,0-5 0,25 15 0,-1-1 0,-34-15 0,35 13 0,1 0 0,-26-13 0,6 6 0,-5-5 1382,15 6-1382,-5-1 0,14-7 0,-23-1 0,29 4 0,-35-13 0,1 8 650,40 9 0,-3-1-650,-9-1 0,0 1 0,7 0 0,1 0 0,-1 0 0,0 0 0,1 0 0,1 0 0,-36-19 0,2 1 0,16 7 0,3-3 0,21 8 0,6 2 1722,-3-17-1722,21 11 700,-22-25-700,23-2 173,-7 5-173,2-19 0,2 12 0,-3-17 0,0-7 0,6-3 0,6 8 227,7 25 1,1 0-228,-1-29-427,0 20 0,-1-2 427,1 11 0,0 0 0,2-10 0,2-2 0,-1 4 0,1 0 0,2 1 0,2-2 0,5-24 0,1 1 0,0 23 0,2 0 0,4-21 0,2 3 0,2 26 0,0 5 0,9-29 0,13-10 0,-8 18 0,-6 27 0,3-1 0,-1 1 0,2 0 0,1-4 0,3 1 0,2 10 0,2 0 0,2-14 0,3 0 0,6 12 0,5 2-766,6-8 0,1 1 766,4 1 0,2 3 0,5 1 0,2 2 0,0 2 0,-2 1 0,-6 1 0,0 0 0,15-2 0,3 1-911,-5 2 0,1 2 911,-14 7 0,2 2 0,1 1 0,2 2 0,0 1 0,6 4 0,1 4 0,6 3 0,2 1 0,-5 0 0,7-2 0,-5 1 0,10 5 0,-1 6 0,11 4 0,3 3 0,-2 1 0,-9-1-627,-15-1 0,-7 0 0,1 1 0,10 4 627,-5 1 0,8 3 0,5 2 0,3 2 0,1-1 0,-2 1 0,-5-2-668,2 1 0,-3-1 1,0 1-1,-1-1 1,1 1-1,2 0 668,-5-1 0,2 0 0,0 1 0,1 0 0,0 0 0,0-1 0,-2-1-423,10 1 0,1 0 1,-1 0-1,-1-1 1,-2-1-1,-4-1 423,-3 0 0,-2-1 0,-3-1 0,0-1 0,0 0-257,20 1 1,1-2 0,-2 0-1,-4-1 257,-16-1 0,-1-1 0,-3 0 0,-3-1 208,10 3 0,-3-1 0,-6-1-208,3-1 0,-11 2 3143,2 10-3143,-40-15 0,-25-4 0,-2-2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71C3C9-6966-4135-9541-6A3DFC32DD62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363FC-987E-4E6D-8D19-EC63681CE53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383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9862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B5C4-217A-A3DE-5A1B-787097403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9C289B-67B7-EB1B-AD79-E7B4569DA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F3515-4A68-56E9-10FA-554AA9553E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68BD4-E514-34DA-205E-0C6F82E3E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77574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C2053-7BF1-693A-D2AB-FE494C69A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518AD-D52E-A440-82E8-4065CE1EF5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70E49-105D-4B42-F123-8EE83B97E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0E81A-CA2D-9295-EC03-F4CC5012A1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03893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44818-B5F2-9509-5E80-2F12ECDB5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953D2-544F-D711-D403-7AFF41BE9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11B457-2533-7CD7-93ED-7D4960C37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D9701-29D4-1DA7-80A2-5F72B45122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0714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295C-B8F7-9BCF-71B6-C8862D2E0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7F826-9AE3-7FF8-CB33-804053211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DA145C-4777-98B0-7DE1-C5113271D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5CE42-49B4-8337-69FF-85D75F6A8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5722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93AA7-F978-A68D-3897-E2F98009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8F4EE-41A7-8569-FB9D-E4AA0C0A9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BA31D-A7DA-4D0E-FBB2-014699F21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E93F1-D955-4D13-D9EA-6FD190621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85321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17217-6D98-EC54-E161-CFE0D43C6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A77DE6-ED6C-4E83-5F62-2A9C75EB8E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1DF0D7-76DF-612B-B0C4-BE418FE8C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8018B6-2B19-18D2-F199-6F59628CC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8888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579EA-2B48-7DA6-45AF-9C35141DF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1199C-69C1-1DFD-4871-926ABC348E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0BDA68-7C15-334E-1816-42FD42DBE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B0E2B-DC70-5ECE-9329-76EF061421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4719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74458-2992-F0D8-4AE6-B88666E76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A58E12-E3C0-35F2-7AD1-ABAC72F383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CF1650-90AC-8CBD-9ECB-725344514C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66904-E9BC-E55D-E1AC-672520E544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80484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0269B-901D-A97E-0BA6-3F68C2460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BB8032-20C4-6DBB-203F-AE6C8FC36E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939436-976B-9EDC-E6AC-15D2BBD2E9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44921-5B75-6043-3E28-AFFEF8274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9274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A3179-7B88-7F50-A0A1-B521A016B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B03408-099F-2F07-C169-CEAAB0CF68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7C67E-8A24-42AA-3199-2DA1E3F884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7D3C7-B28B-D110-886D-62BA1FDE8A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13912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E9C1E-7A82-0679-5C36-C3A3D497F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CCC791-9D40-A0C9-962B-F5AAD8F9F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9EBF7-E0E8-3AFE-97EF-38B6BC265D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A3409-B975-5287-3C18-61E5BFB696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6517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4152C-B913-3C9E-7638-B5C342F7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EAA27E-5AB7-6B8E-CD77-DD8F5A228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4018F9-D350-3504-C84C-A086A52B95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C0F25-B7E6-45FD-C2D3-1238A3048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204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39F77-6BDE-0D32-B617-79E5AE9F7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7242A-6DCF-5A4B-89C3-1DC8982E2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CFA74C-3342-BA65-BA89-39D3FE7E3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A029E-C3B9-978F-DFAA-30177761C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7147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99D9F-5C81-EAA7-D93B-0199297C5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B1326-9B36-0665-B215-A8043D4D2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25FC1-6B98-A7A5-4691-ABB32C2E9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33314-A294-12FB-7F44-31E2E8C48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942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99E76-D51B-B999-761A-F23D17938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084A1-735D-EDF3-A5C8-D425386A9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B7E122-EF4B-9817-7CF8-583599850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018115-0D40-359F-EA38-4DA337DC64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328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D952D-46B7-E5F1-43C0-5B5D6C3FC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BAE12-3DEA-A1D9-F49E-B7AF1D2D0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6FF97-69A4-07B9-AA42-D27CDC0898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F395D-B5FF-D927-9B82-C06BF369CB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78057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8FA53-ED43-6A13-7C4B-BD9AB7E1A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AF2BCD-061A-1F12-8994-3ED30A189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7CABA-418E-21DA-FB3B-FE6AE6488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59C88C-1241-DE6B-9B1C-281AE514CB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99156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1A502-8DC5-91CD-14BB-05EDC295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BB2BF7-C281-2136-6BBB-1762C0197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BB57D2-3FC9-05C8-47B6-9E44548D2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ED4CAC-A032-6FC3-4705-CD96C16BD9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09113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96D05-6D3C-E218-EFDE-D017CD29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D87B42-A60B-B6E0-E781-92A31D795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F826E4-8D9A-2FA2-E02B-B786B03C9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A19B15-0EB5-E86D-0DC3-E78F83379D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0598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5DF38-6586-EC88-313D-A61E2CC08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45608B-21AE-2EDE-BDC8-3FCF366D3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56EB5-D383-D121-B807-67844413E7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DB8C60-F604-188C-E492-7548F2BE32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748986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87F2A-9886-09CA-1AF4-186590D1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693F1-BFC6-8563-1F00-5E3D53F55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273CB-889D-C3A1-1127-31793F465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24CEE9-1D9E-B721-5DE9-4C94754185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3984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DBCCD-8D55-FFD5-6320-BAC8360CE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41740-FEAD-D575-B606-B722414B5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332EF-B3A5-FDB9-B981-0FF16FD27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170E6-A63D-FDFA-278F-98F567304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99394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E4BA9-9701-061C-71FB-1266B9FE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8CB61-854C-1074-2921-D9A88B598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FE2E40-2A4A-F2E7-3D89-48DF366B2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D7026-0AE7-E6E0-C581-859F3F8FF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3719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2472D-2146-FCE4-F5C9-14B9337EE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D5426-8501-D2B1-02DB-25A3734639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647751-73BE-C4B5-E472-F7903CDB0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8537E-E5B5-81FC-2C66-E108EE71D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465769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D757E-A79D-6444-F7E8-F729CF4F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360538-B206-D199-28C2-EEA26B244A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AF92FE-3573-5881-3526-4F8CAAC5B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61CF55-6AF8-950C-F973-813061C92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58591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5D253-EC92-9888-2488-ED3E0141F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760F8B-BB97-03E5-3B57-D1070A353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2956CA-BAFD-3743-6CE7-982D05810C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C7AB5-C0BF-E354-23B4-202D117353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5669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599DB-AD1B-E70A-65E5-E4AECB4F1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2DCC43-603C-8739-5AFA-10E076235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BEED07-81FD-E70C-C705-EF29F7A88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C3A9B-6233-E3B6-0D85-948894721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8262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9E7DE-B4AC-B733-E303-355867388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85AEF1-BAA6-1879-9B7E-5EB7411A0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25A94E-EE03-EBEA-A023-6AE7C858D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630D3-6267-3703-7D40-B6E70EF13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79116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68033-E60C-6FA6-3860-E291AAA21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903690-07F8-0AB8-2336-73F23D0B8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01241C-5D46-78EC-0871-803B0D7B9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57E94-4030-E3C5-89C2-BF9CCC8690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6019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E0FF-84A4-069E-7401-01620D024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FC7E13-9389-0E3B-9123-52D211F59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DA0AF2-4286-208C-F1E5-EE8548B5C3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47753-9230-73AD-B51D-AFC812D01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345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94C81-9A9D-85A3-94F9-BBE00E9D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C409C0-3D07-7821-01AD-F450E0658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11FCB-E3CF-DF91-04E6-3F618A219B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03DD8-AA40-8696-A46C-85BA02CAD6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51230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97E35-6822-9FA0-B0E4-217721B99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9E6FDB-7ECF-9FFA-3044-A16CBF914D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EBF05-1DB4-F5B2-2661-ABD21A491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999FE-AFC3-7106-B51F-0016303EAC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94710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FAF374-83B2-26C4-37C9-8D052D411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231BA0-C982-4A94-9AE8-C585A8E6B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DEFB8-3EB9-DF99-0246-A57D5FC5B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72F75-F3D1-4E6C-DD60-8D5973167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60661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BBB09-73F2-4C70-038D-379665AE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53BC3-2FD0-E174-2817-9905278A1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365A44-F66E-3A39-2B73-A7633F512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D56FD-3CF5-60D0-8B30-45114CC24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02983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2A161-6F2C-C310-32FD-5478FC8CC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CCD05C-1BCD-1BCE-21F3-00F3996D7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EA3D1E-5333-CF28-1290-323FCB1225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8E995-DDD8-F5C5-519C-E1C81972D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24787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0CBD6-2334-E5CC-4B70-8464DF663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3B169-2192-527A-FED2-98DE15FF0D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1E32A-72F7-6440-1B07-E1C2E3C44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F7445-B351-395B-C593-1E327021D9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426964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1F50B-F9AB-FC7A-D77D-214CF17F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EC3701-88AA-146E-6E9B-988C6D9329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420E2-F403-BB80-FD26-1B1B2EDD32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E5D840-291F-38BA-7D72-BE3A1C7A01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2025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E40BB-93C8-3FD6-8C3F-6AB79993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165DB5-2660-394A-170E-558EE23B70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CA7168-0D19-F69A-DDCC-74AB6B7A5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9689CE-F123-5E6E-C0DA-5A8687584C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11101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EB37D-BECE-6DC7-E2C3-8924402A7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71B25D-3071-6A02-6D7B-DF1C9A84F1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1126EC-2064-56D5-8B0C-FC7A7711DD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34A4D-4EA5-E22B-128F-A895784CCB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26167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F5188-6B74-60FE-B766-964058B7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9E45C0-3EF3-F029-C207-F542E27E4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115056-91AC-652C-10DC-17F44C4FA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D12D2-EDE4-CD60-76F4-42C7CFDF8A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9363FC-987E-4E6D-8D19-EC63681CE53E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05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1361455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rgbClr val="F1F2F3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7052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6780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1304922"/>
            <a:ext cx="4025900" cy="4351339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D58FB62-6305-D775-94D1-00380F2A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5829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675949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98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9A72C94-07DD-E2CA-345A-A35125CE4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7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BFA7CDF-E186-FDDF-CF2E-0B3F10DB84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25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93167B-5805-9EBB-6E54-360D545AF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1117600"/>
            <a:ext cx="102235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623609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3BF16C2F-A1C7-9D4A-331C-5D46DAAB2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6324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A8A21F-2C7D-3EED-D3DE-935B34DC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026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74781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39100291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4CB8-F44D-BEE4-6DCA-1B2662AB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" y="1122363"/>
            <a:ext cx="11654683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CF0F3-44B5-9EF2-3A88-E4424DDC8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3602038"/>
            <a:ext cx="1165468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C9B-D14B-899C-B084-D233E5CF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38EF-93AE-9214-FDFE-009AE71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CBA-3EB3-43A7-D2FA-2410CF2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226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E776-F347-2357-03E5-35C58A7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2FCD-286F-104A-BCF2-B9138BD0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ECD2-7228-FC6F-D057-E1D3817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1347-B148-1746-115D-B367293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7FE-56F7-317A-6A29-7F808D2B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112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1C41-E6F8-8CDB-15CB-AFE023C1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4682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CA-B5E0-87F5-9BB8-567EA6D0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" y="4700187"/>
            <a:ext cx="11654683" cy="448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FB1F-7BDA-DC86-9EF3-DB36350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4339-5CB2-7EDB-C9AA-C007FA14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BCC8-EC59-1A12-7C24-DEA423BC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2187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3409-495B-2752-6BF2-B1848FD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D184-1DF7-03BD-F6A8-1290E291C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07A8-6978-C1D1-B0D6-FDA0CC1F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1383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0EE24-2BFB-8E46-2E66-3BA36D5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2556D-B5E1-EF44-908B-500C8837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910F-1642-C042-4D26-BC4F3A55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6897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E961-1532-85E1-EF19-CD6FD29F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1" y="1304925"/>
            <a:ext cx="5580000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2AB67-467B-B4C7-6EEB-C8D144E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00" y="2330075"/>
            <a:ext cx="5580000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16626-4911-CA49-90C2-CE3262F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1380" y="1304925"/>
            <a:ext cx="5580001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FF839-783C-36FF-2F59-B33FD00F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1379" y="2330075"/>
            <a:ext cx="5580003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0523E-13BC-6AF4-F44B-1E81F50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CC21D-81ED-0C7F-2CF7-CFDE2301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A4D1-1395-871F-083F-CCC3ADAA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479E40-CA8C-9DEB-E10E-9B0E942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56729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4210A-8AD6-DB76-6435-6F1565CF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FFE2-973C-8808-2027-0A0826D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C7D8-7501-4918-C3A4-210FC2D1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C41D6-330E-7D22-3BA7-5AD129D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8419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2BAE-96E7-8067-F384-6C81451D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65125"/>
            <a:ext cx="5825382" cy="481428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E5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6767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ED95-2655-DA64-A0CC-0DB50CE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5588000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7D06-9178-0519-324E-D3FAE15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D0C21-14CC-0A4D-09D2-207115B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43D-82C5-3AAA-AADD-2197F991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006FAE-DBD1-BA77-7F74-11A8DCE9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5588000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458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3EE30-E243-DD16-09E0-8B68AEC32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365125"/>
            <a:ext cx="6738195" cy="4788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48DA-A10C-6B03-FEDA-D99AE6E8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A5F-3B12-9A62-2D70-80CF77B9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75CB-A493-E2D5-0C56-6C9F25C8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DEF678-90EE-1594-AB80-39E97C15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4638586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A06E30-B013-E2B6-FBD1-5AB600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4638586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549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8967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1304922"/>
            <a:ext cx="4025900" cy="4351339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D58FB62-6305-D775-94D1-00380F2A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5829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953054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98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9A72C94-07DD-E2CA-345A-A35125CE4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7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BFA7CDF-E186-FDDF-CF2E-0B3F10DB84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25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93167B-5805-9EBB-6E54-360D545AF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1117600"/>
            <a:ext cx="102235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9328763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3BF16C2F-A1C7-9D4A-331C-5D46DAAB2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6324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A8A21F-2C7D-3EED-D3DE-935B34DC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026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19222521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7277783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4CB8-F44D-BEE4-6DCA-1B2662AB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" y="1122363"/>
            <a:ext cx="11654683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CF0F3-44B5-9EF2-3A88-E4424DDC8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3602038"/>
            <a:ext cx="1165468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C9B-D14B-899C-B084-D233E5CF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38EF-93AE-9214-FDFE-009AE71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CBA-3EB3-43A7-D2FA-2410CF2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6707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E776-F347-2357-03E5-35C58A7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2FCD-286F-104A-BCF2-B9138BD0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ECD2-7228-FC6F-D057-E1D3817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1347-B148-1746-115D-B367293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7FE-56F7-317A-6A29-7F808D2B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59000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1C41-E6F8-8CDB-15CB-AFE023C1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4682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CA-B5E0-87F5-9BB8-567EA6D0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" y="4700187"/>
            <a:ext cx="11654683" cy="448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FB1F-7BDA-DC86-9EF3-DB36350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4339-5CB2-7EDB-C9AA-C007FA14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BCC8-EC59-1A12-7C24-DEA423BC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13434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3409-495B-2752-6BF2-B1848FD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D184-1DF7-03BD-F6A8-1290E291C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07A8-6978-C1D1-B0D6-FDA0CC1F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1383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0EE24-2BFB-8E46-2E66-3BA36D5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2556D-B5E1-EF44-908B-500C8837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910F-1642-C042-4D26-BC4F3A55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</p:spPr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9794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E961-1532-85E1-EF19-CD6FD29F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1" y="1304925"/>
            <a:ext cx="5580000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2AB67-467B-B4C7-6EEB-C8D144E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00" y="2330075"/>
            <a:ext cx="5580000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16626-4911-CA49-90C2-CE3262F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1380" y="1304925"/>
            <a:ext cx="5580001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FF839-783C-36FF-2F59-B33FD00F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1379" y="2330075"/>
            <a:ext cx="5580003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0523E-13BC-6AF4-F44B-1E81F50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CC21D-81ED-0C7F-2CF7-CFDE2301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A4D1-1395-871F-083F-CCC3ADAA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479E40-CA8C-9DEB-E10E-9B0E942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63157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4210A-8AD6-DB76-6435-6F1565CF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FFE2-973C-8808-2027-0A0826D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C7D8-7501-4918-C3A4-210FC2D1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C41D6-330E-7D22-3BA7-5AD129D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015038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2BAE-96E7-8067-F384-6C81451D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65125"/>
            <a:ext cx="5825382" cy="481428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E5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6767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ED95-2655-DA64-A0CC-0DB50CE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5588000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7D06-9178-0519-324E-D3FAE15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D0C21-14CC-0A4D-09D2-207115B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43D-82C5-3AAA-AADD-2197F991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006FAE-DBD1-BA77-7F74-11A8DCE9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5588000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0711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3EE30-E243-DD16-09E0-8B68AEC32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365125"/>
            <a:ext cx="6738195" cy="4788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48DA-A10C-6B03-FEDA-D99AE6E8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A5F-3B12-9A62-2D70-80CF77B9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75CB-A493-E2D5-0C56-6C9F25C8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DEF678-90EE-1594-AB80-39E97C15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4638586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A06E30-B013-E2B6-FBD1-5AB600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4638586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619910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062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88100" y="1304922"/>
            <a:ext cx="4025900" cy="4351339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6D58FB62-6305-D775-94D1-00380F2AC3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58293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2834799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, thre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8">
            <a:extLst>
              <a:ext uri="{FF2B5EF4-FFF2-40B4-BE49-F238E27FC236}">
                <a16:creationId xmlns:a16="http://schemas.microsoft.com/office/drawing/2014/main" id="{BCE196B2-446B-C638-E24B-42F7A659B1D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58293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E2D15B4-3C1F-6E32-114C-0E3C06343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98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39A72C94-07DD-E2CA-345A-A35125CE44A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6670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1BFA7CDF-E186-FDDF-CF2E-0B3F10DB84D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251" y="2286000"/>
            <a:ext cx="3201066" cy="3213102"/>
          </a:xfrm>
        </p:spPr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A93167B-5805-9EBB-6E54-360D545AFA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" y="1117600"/>
            <a:ext cx="10223500" cy="838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155470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8">
            <a:extLst>
              <a:ext uri="{FF2B5EF4-FFF2-40B4-BE49-F238E27FC236}">
                <a16:creationId xmlns:a16="http://schemas.microsoft.com/office/drawing/2014/main" id="{3BF16C2F-A1C7-9D4A-331C-5D46DAAB20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6700" y="365125"/>
            <a:ext cx="6324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>
              <a:defRPr/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D3A8A21F-2C7D-3EED-D3DE-935B34DCF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304925"/>
            <a:ext cx="1026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9163027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5D46A-4F53-F706-E005-3B7F94B067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03200" y="2557461"/>
            <a:ext cx="9144000" cy="1138240"/>
          </a:xfrm>
        </p:spPr>
        <p:txBody>
          <a:bodyPr anchor="t" anchorCtr="0">
            <a:normAutofit/>
          </a:bodyPr>
          <a:lstStyle>
            <a:lvl1pPr algn="l">
              <a:defRPr sz="3600" b="0">
                <a:latin typeface="+mj-lt"/>
              </a:defRPr>
            </a:lvl1pPr>
          </a:lstStyle>
          <a:p>
            <a:r>
              <a:rPr lang="en-US"/>
              <a:t>Click to edit title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7060A-4567-A74A-3AF0-E66CB6AC334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03200" y="3929062"/>
            <a:ext cx="9144000" cy="43134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speaker name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7C9208F-2B17-BF13-15F3-C2942141E5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3200" y="4610100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location 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633D74CF-0634-649D-508B-5F74DC1A06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03200" y="4930325"/>
            <a:ext cx="8648700" cy="263975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/>
              <a:t>Click to edit date </a:t>
            </a:r>
          </a:p>
        </p:txBody>
      </p:sp>
    </p:spTree>
    <p:extLst>
      <p:ext uri="{BB962C8B-B14F-4D97-AF65-F5344CB8AC3E}">
        <p14:creationId xmlns:p14="http://schemas.microsoft.com/office/powerpoint/2010/main" val="7843107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B4CB8-F44D-BEE4-6DCA-1B2662AB00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699" y="1122363"/>
            <a:ext cx="11654683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CF0F3-44B5-9EF2-3A88-E4424DDC89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6700" y="3602038"/>
            <a:ext cx="1165468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83C9B-D14B-899C-B084-D233E5CF9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C38EF-93AE-9214-FDFE-009AE71CD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81CBA-3EB3-43A7-D2FA-2410CF2BA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74736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4E776-F347-2357-03E5-35C58A7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32FCD-286F-104A-BCF2-B9138BD0B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11ECD2-7228-FC6F-D057-E1D381721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01347-B148-1746-115D-B3672939A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7FE-56F7-317A-6A29-7F808D2B3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5047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41C41-E6F8-8CDB-15CB-AFE023C13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1709738"/>
            <a:ext cx="11654682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76CA-B5E0-87F5-9BB8-567EA6D05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699" y="4700187"/>
            <a:ext cx="11654683" cy="448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1FB1F-7BDA-DC86-9EF3-DB36350C8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E4339-5CB2-7EDB-C9AA-C007FA14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47BCC8-EC59-1A12-7C24-DEA423BC7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70530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73409-495B-2752-6BF2-B1848FDE6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4D184-1DF7-03BD-F6A8-1290E291C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66700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207A8-6978-C1D1-B0D6-FDA0CC1F4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1383" y="1304925"/>
            <a:ext cx="5580000" cy="3852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00EE24-2BFB-8E46-2E66-3BA36D59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F2556D-B5E1-EF44-908B-500C8837B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910F-1642-C042-4D26-BC4F3A55A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8183" y="5367135"/>
            <a:ext cx="2743200" cy="365125"/>
          </a:xfrm>
        </p:spPr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16197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38E961-1532-85E1-EF19-CD6FD29F8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1" y="1304925"/>
            <a:ext cx="5580000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52AB67-467B-B4C7-6EEB-C8D144E36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66700" y="2330075"/>
            <a:ext cx="5580000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F16626-4911-CA49-90C2-CE3262F728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1380" y="1304925"/>
            <a:ext cx="5580001" cy="74572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2FF839-783C-36FF-2F59-B33FD00F2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1379" y="2330075"/>
            <a:ext cx="5580003" cy="2846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70523E-13BC-6AF4-F44B-1E81F5078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ACC21D-81ED-0C7F-2CF7-CFDE2301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5BA4D1-1395-871F-083F-CCC3ADAA7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479E40-CA8C-9DEB-E10E-9B0E9423E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862415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A4210A-8AD6-DB76-6435-6F1565CF2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5DFFE2-973C-8808-2027-0A0826D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27C7D8-7501-4918-C3A4-210FC2D1A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53C41D6-330E-7D22-3BA7-5AD129D23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087100" cy="4723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71096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82BAE-96E7-8067-F384-6C81451D56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365125"/>
            <a:ext cx="5825382" cy="481428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1E5DF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Click to 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6767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Fifth level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6767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7ED95-2655-DA64-A0CC-0DB50CEC6D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5588000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BF7D06-9178-0519-324E-D3FAE1553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D0C21-14CC-0A4D-09D2-207115B3D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4D343D-82C5-3AAA-AADD-2197F991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7006FAE-DBD1-BA77-7F74-11A8DCE9D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5588000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7743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3EE30-E243-DD16-09E0-8B68AEC324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365125"/>
            <a:ext cx="6738195" cy="47881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748DA-A10C-6B03-FEDA-D99AE6E85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E3D24-6BCE-48F4-B6DB-AB007E8B5F8E}" type="datetimeFigureOut">
              <a:rPr lang="en-GB" smtClean="0"/>
              <a:t>28/10/2026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09BA5F-3B12-9A62-2D70-80CF77B99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75CB-A493-E2D5-0C56-6C9F25C86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01B8E-4C5D-4D9E-8821-9696CA0E0E3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EDEF678-90EE-1594-AB80-39E97C15D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6700" y="1418324"/>
            <a:ext cx="4638586" cy="37610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BA06E30-B013-E2B6-FBD1-5AB60061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4638586" cy="8654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94803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rgbClr val="F1F2F3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60906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C8C9C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0244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30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E97D3-004E-241C-1F4D-DA2001CE042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4" y="0"/>
            <a:ext cx="12190811" cy="6857998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D0781EEC-C938-86FA-B882-0B112DC0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7086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CFD7A-BAD1-80E9-241B-1E0D4B057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659" y="1304925"/>
            <a:ext cx="116546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3796829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6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EE97D3-004E-241C-1F4D-DA2001CE0425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3" y="0"/>
            <a:ext cx="12190813" cy="6857998"/>
          </a:xfrm>
          <a:prstGeom prst="rect">
            <a:avLst/>
          </a:prstGeom>
        </p:spPr>
      </p:pic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D0781EEC-C938-86FA-B882-0B112DC0D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7086600" cy="57467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6BCFD7A-BAD1-80E9-241B-1E0D4B057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659" y="1304925"/>
            <a:ext cx="116546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body text</a:t>
            </a:r>
          </a:p>
        </p:txBody>
      </p:sp>
    </p:spTree>
    <p:extLst>
      <p:ext uri="{BB962C8B-B14F-4D97-AF65-F5344CB8AC3E}">
        <p14:creationId xmlns:p14="http://schemas.microsoft.com/office/powerpoint/2010/main" val="2232557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6" r:id="rId3"/>
    <p:sldLayoutId id="2147483724" r:id="rId4"/>
    <p:sldLayoutId id="2147483725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accent3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kern="1200">
          <a:solidFill>
            <a:schemeClr val="tx2"/>
          </a:solidFill>
          <a:latin typeface="Arial" panose="020B0604020202020204" pitchFamily="34" charset="0"/>
          <a:ea typeface="Verdana" panose="020B0604030504040204" pitchFamily="34" charset="0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AB5F44-508E-D5E3-9686-E5DB5331D657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" y="0"/>
            <a:ext cx="12189289" cy="685799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92D61-4A60-6946-D1E3-5AC93DE8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4AB4-12A7-2444-B999-E190C2D00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43241-55FA-000D-E911-88A86A203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6D9DA-6B18-0AEA-604C-ADB3F8C64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71A0C6-6FDD-31C0-2DA4-598F5905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304925"/>
            <a:ext cx="11654683" cy="386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7374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1" r:id="rId12"/>
    <p:sldLayoutId id="214748367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30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2AB5F44-508E-D5E3-9686-E5DB5331D657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5" y="0"/>
            <a:ext cx="12189289" cy="685799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592D61-4A60-6946-D1E3-5AC93DE86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11654682" cy="4723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C4AB4-12A7-2444-B999-E190C2D00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66700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46E3D24-6BCE-48F4-B6DB-AB007E8B5F8E}" type="datetimeFigureOut">
              <a:rPr lang="en-GB" smtClean="0"/>
              <a:pPr/>
              <a:t>28/10/2026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C43241-55FA-000D-E911-88A86A203D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6642" y="536713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6D9DA-6B18-0AEA-604C-ADB3F8C64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78183" y="53671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94601B8E-4C5D-4D9E-8821-9696CA0E0E3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E71A0C6-6FDD-31C0-2DA4-598F59053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6700" y="1304925"/>
            <a:ext cx="11654683" cy="386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23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2" r:id="rId12"/>
    <p:sldLayoutId id="2147483743" r:id="rId13"/>
    <p:sldLayoutId id="2147483762" r:id="rId14"/>
    <p:sldLayoutId id="21474837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rgbClr val="00308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rgbClr val="67676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55.png"/><Relationship Id="rId4" Type="http://schemas.openxmlformats.org/officeDocument/2006/relationships/customXml" Target="../ink/ink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94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0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5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5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5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30.png"/><Relationship Id="rId4" Type="http://schemas.openxmlformats.org/officeDocument/2006/relationships/image" Target="../media/image32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21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5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56.png"/><Relationship Id="rId4" Type="http://schemas.openxmlformats.org/officeDocument/2006/relationships/hyperlink" Target="https://doi.org/10.1016/j.nima.2011.01.173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35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1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321.png"/><Relationship Id="rId4" Type="http://schemas.openxmlformats.org/officeDocument/2006/relationships/image" Target="../media/image3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59.png"/><Relationship Id="rId4" Type="http://schemas.openxmlformats.org/officeDocument/2006/relationships/image" Target="../media/image32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35.xml"/><Relationship Id="rId5" Type="http://schemas.openxmlformats.org/officeDocument/2006/relationships/image" Target="../media/image60.png"/><Relationship Id="rId4" Type="http://schemas.openxmlformats.org/officeDocument/2006/relationships/image" Target="../media/image360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nima.2013.07.007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F1EDB-FABD-F9E3-BB14-8DA0809F7D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2557461"/>
            <a:ext cx="6075964" cy="1138240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003088"/>
                </a:solidFill>
                <a:ea typeface="Verdana"/>
                <a:cs typeface="+mj-lt"/>
              </a:rPr>
              <a:t>MDANSE for neutron scattering analysis</a:t>
            </a:r>
            <a:endParaRPr lang="en-GB" b="1" dirty="0">
              <a:cs typeface="+mj-lt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E972180B-9C48-DFC5-6887-60E09D2A5C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" y="3929062"/>
            <a:ext cx="9144000" cy="43134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u="sng" dirty="0">
                <a:latin typeface="Arial"/>
                <a:ea typeface="Verdana"/>
                <a:cs typeface="Arial"/>
              </a:rPr>
              <a:t>Maciej Bartkowiak</a:t>
            </a:r>
            <a:r>
              <a:rPr lang="en-GB" dirty="0">
                <a:latin typeface="Arial"/>
                <a:ea typeface="Verdana"/>
                <a:cs typeface="Arial"/>
              </a:rPr>
              <a:t>, Chi Y. Cheng, Sanghamitra Mukhopadhyay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6A5E003-8524-0FC0-F4D6-AB86D39C49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03200" y="4610100"/>
            <a:ext cx="8648700" cy="2639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dirty="0">
                <a:ea typeface="Verdana"/>
                <a:cs typeface="Arial"/>
              </a:rPr>
              <a:t>MDANSE Workshop 2026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96ABB4BC-EFE4-D98F-F95F-72335480D4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3200" y="4930325"/>
            <a:ext cx="8648700" cy="263975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dirty="0">
                <a:ea typeface="Verdana"/>
                <a:cs typeface="Arial"/>
              </a:rPr>
              <a:t>03/11/2026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1279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DCAA-0D76-9BD2-CFC3-74D27C8F2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Presentation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BE763-00F7-5ACB-8E81-9F6D0D0408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/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07E06-0D12-280C-5121-44D159771CAA}"/>
              </a:ext>
            </a:extLst>
          </p:cNvPr>
          <p:cNvSpPr txBox="1"/>
          <p:nvPr/>
        </p:nvSpPr>
        <p:spPr>
          <a:xfrm>
            <a:off x="362309" y="1181820"/>
            <a:ext cx="10498348" cy="3076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/>
              <a:t>Applications of molecular dynamics to neutron scattering techniques.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/>
              <a:t>Simulation time and experiment energy.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/>
              <a:t>Dynamic structure factor (coherent and incoherent).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/>
              <a:t>Q-vector sampling.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/>
              <a:t>Examples of neutron instrument resolution.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sz="2200" dirty="0"/>
              <a:t>Neutron scattering length in static structure </a:t>
            </a:r>
            <a:r>
              <a:rPr lang="en-US" sz="2200"/>
              <a:t>factor calculations.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901763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9C157-FCD1-DB32-AC31-E8C68EE9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61C88-4A95-EF50-E7CA-5ECECB0B5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Which neutron scattering techniques can benefit from MD?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F95AC22-B132-5D56-F931-50D174FD07D6}"/>
              </a:ext>
            </a:extLst>
          </p:cNvPr>
          <p:cNvSpPr/>
          <p:nvPr/>
        </p:nvSpPr>
        <p:spPr>
          <a:xfrm>
            <a:off x="647933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Diffraction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EE0615-49D8-4169-78B7-AEEBEC6ED20F}"/>
              </a:ext>
            </a:extLst>
          </p:cNvPr>
          <p:cNvSpPr/>
          <p:nvPr/>
        </p:nvSpPr>
        <p:spPr>
          <a:xfrm>
            <a:off x="2848210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Reflectometry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B3AF475-6C2C-2B9F-E002-A8AA187F70C3}"/>
              </a:ext>
            </a:extLst>
          </p:cNvPr>
          <p:cNvSpPr/>
          <p:nvPr/>
        </p:nvSpPr>
        <p:spPr>
          <a:xfrm>
            <a:off x="5048487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Inelastic Neutron Scattering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(INS)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CA0701B-9C29-38E1-F4DD-F5430BC83141}"/>
              </a:ext>
            </a:extLst>
          </p:cNvPr>
          <p:cNvSpPr/>
          <p:nvPr/>
        </p:nvSpPr>
        <p:spPr>
          <a:xfrm>
            <a:off x="7248764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Small Angle Neutron Scattering (SANS)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4BE82AD-B619-262F-5793-38BFF166A08E}"/>
              </a:ext>
            </a:extLst>
          </p:cNvPr>
          <p:cNvSpPr/>
          <p:nvPr/>
        </p:nvSpPr>
        <p:spPr>
          <a:xfrm>
            <a:off x="9500213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Quasielastic</a:t>
            </a:r>
            <a:r>
              <a:rPr lang="en-US" dirty="0">
                <a:solidFill>
                  <a:sysClr val="windowText" lastClr="000000"/>
                </a:solidFill>
              </a:rPr>
              <a:t> Neutron Scattering (QENS)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A84ADC01-93FE-5618-4D56-7A1A4219CAE9}"/>
              </a:ext>
            </a:extLst>
          </p:cNvPr>
          <p:cNvSpPr/>
          <p:nvPr/>
        </p:nvSpPr>
        <p:spPr>
          <a:xfrm>
            <a:off x="647933" y="3466071"/>
            <a:ext cx="1936376" cy="16310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Diffuse scattering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8EE3B851-0C91-2BEB-9522-8132D2CB05EE}"/>
              </a:ext>
            </a:extLst>
          </p:cNvPr>
          <p:cNvSpPr/>
          <p:nvPr/>
        </p:nvSpPr>
        <p:spPr>
          <a:xfrm rot="5400000">
            <a:off x="1132026" y="2538479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0352257-6B28-BF04-92F8-015A3CA2788A}"/>
              </a:ext>
            </a:extLst>
          </p:cNvPr>
          <p:cNvSpPr/>
          <p:nvPr/>
        </p:nvSpPr>
        <p:spPr>
          <a:xfrm>
            <a:off x="2881530" y="3485476"/>
            <a:ext cx="1936376" cy="16310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Time-averaged scattering length density profile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6E8C1E57-801A-3671-776D-24D1D98E4FF4}"/>
              </a:ext>
            </a:extLst>
          </p:cNvPr>
          <p:cNvSpPr/>
          <p:nvPr/>
        </p:nvSpPr>
        <p:spPr>
          <a:xfrm rot="5400000">
            <a:off x="3365623" y="2545527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2C11564F-BD72-C46D-1DE0-43E33709411A}"/>
                  </a:ext>
                </a:extLst>
              </p:cNvPr>
              <p:cNvSpPr/>
              <p:nvPr/>
            </p:nvSpPr>
            <p:spPr>
              <a:xfrm>
                <a:off x="5081807" y="3485476"/>
                <a:ext cx="1936376" cy="163109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vDOS, S(Q,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16" name="Rounded Rectangle 15">
                <a:extLst>
                  <a:ext uri="{FF2B5EF4-FFF2-40B4-BE49-F238E27FC236}">
                    <a16:creationId xmlns:a16="http://schemas.microsoft.com/office/drawing/2014/main" id="{2C11564F-BD72-C46D-1DE0-43E3370941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1807" y="3485476"/>
                <a:ext cx="1936376" cy="1631092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Arrow 16">
            <a:extLst>
              <a:ext uri="{FF2B5EF4-FFF2-40B4-BE49-F238E27FC236}">
                <a16:creationId xmlns:a16="http://schemas.microsoft.com/office/drawing/2014/main" id="{C06ECB41-CA70-2F5D-5354-1163F4104AFB}"/>
              </a:ext>
            </a:extLst>
          </p:cNvPr>
          <p:cNvSpPr/>
          <p:nvPr/>
        </p:nvSpPr>
        <p:spPr>
          <a:xfrm rot="5400000">
            <a:off x="5565900" y="2545527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6ABEA768-E0D3-D185-6F96-B7A8064B2546}"/>
              </a:ext>
            </a:extLst>
          </p:cNvPr>
          <p:cNvSpPr/>
          <p:nvPr/>
        </p:nvSpPr>
        <p:spPr>
          <a:xfrm>
            <a:off x="7248764" y="3485476"/>
            <a:ext cx="1936376" cy="16310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S(Q), but you may need a large simulation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26339579-3695-32B3-924B-6625BD5DC2A8}"/>
              </a:ext>
            </a:extLst>
          </p:cNvPr>
          <p:cNvSpPr/>
          <p:nvPr/>
        </p:nvSpPr>
        <p:spPr>
          <a:xfrm rot="5400000">
            <a:off x="7732857" y="2545527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5E124BD9-62C2-B051-F209-A2F2CA164D22}"/>
                  </a:ext>
                </a:extLst>
              </p:cNvPr>
              <p:cNvSpPr/>
              <p:nvPr/>
            </p:nvSpPr>
            <p:spPr>
              <a:xfrm>
                <a:off x="9500213" y="3485476"/>
                <a:ext cx="1936376" cy="163109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ysClr val="windowText" lastClr="000000"/>
                    </a:solidFill>
                  </a:rPr>
                  <a:t>S(Q,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>
                    <a:solidFill>
                      <a:sysClr val="windowText" lastClr="000000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0" name="Rounded Rectangle 19">
                <a:extLst>
                  <a:ext uri="{FF2B5EF4-FFF2-40B4-BE49-F238E27FC236}">
                    <a16:creationId xmlns:a16="http://schemas.microsoft.com/office/drawing/2014/main" id="{5E124BD9-62C2-B051-F209-A2F2CA164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0213" y="3485476"/>
                <a:ext cx="1936376" cy="163109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Arrow 20">
            <a:extLst>
              <a:ext uri="{FF2B5EF4-FFF2-40B4-BE49-F238E27FC236}">
                <a16:creationId xmlns:a16="http://schemas.microsoft.com/office/drawing/2014/main" id="{140C26EF-6D1E-5F59-BA0E-372803222AF2}"/>
              </a:ext>
            </a:extLst>
          </p:cNvPr>
          <p:cNvSpPr/>
          <p:nvPr/>
        </p:nvSpPr>
        <p:spPr>
          <a:xfrm rot="5400000">
            <a:off x="9984306" y="2545527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85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977AB-3827-696B-3A0C-0A44280E2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8FBF-426B-9D3A-2CB1-EA116B437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Do you really need MD?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FAEA78C-F49E-A9BC-2036-2B282E5C462F}"/>
              </a:ext>
            </a:extLst>
          </p:cNvPr>
          <p:cNvSpPr/>
          <p:nvPr/>
        </p:nvSpPr>
        <p:spPr>
          <a:xfrm>
            <a:off x="647933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Diffraction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4DED9F9-7BE1-C1B2-A5A0-AD3081DFD2E0}"/>
              </a:ext>
            </a:extLst>
          </p:cNvPr>
          <p:cNvSpPr/>
          <p:nvPr/>
        </p:nvSpPr>
        <p:spPr>
          <a:xfrm>
            <a:off x="2848210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Reflectometry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299C8C8-7DB1-3384-9358-FB717F18CA97}"/>
              </a:ext>
            </a:extLst>
          </p:cNvPr>
          <p:cNvSpPr/>
          <p:nvPr/>
        </p:nvSpPr>
        <p:spPr>
          <a:xfrm>
            <a:off x="5048487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Inelastic Neutron Scattering</a:t>
            </a:r>
          </a:p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(INS)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51407C5-0A32-9CCD-C8C7-A2E2954B1D98}"/>
              </a:ext>
            </a:extLst>
          </p:cNvPr>
          <p:cNvSpPr/>
          <p:nvPr/>
        </p:nvSpPr>
        <p:spPr>
          <a:xfrm>
            <a:off x="7248764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Small Angle Neutron Scattering (SANS)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923E989-17B1-5ECE-24A3-437C19B72C94}"/>
              </a:ext>
            </a:extLst>
          </p:cNvPr>
          <p:cNvSpPr/>
          <p:nvPr/>
        </p:nvSpPr>
        <p:spPr>
          <a:xfrm>
            <a:off x="9500213" y="1304925"/>
            <a:ext cx="1936376" cy="121236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Quasielastic</a:t>
            </a:r>
            <a:r>
              <a:rPr lang="en-US" dirty="0">
                <a:solidFill>
                  <a:sysClr val="windowText" lastClr="000000"/>
                </a:solidFill>
              </a:rPr>
              <a:t> Neutron Scattering (QENS)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675DAF6-36D9-A10E-2EB4-53A375FBE18C}"/>
              </a:ext>
            </a:extLst>
          </p:cNvPr>
          <p:cNvSpPr/>
          <p:nvPr/>
        </p:nvSpPr>
        <p:spPr>
          <a:xfrm>
            <a:off x="647933" y="3466070"/>
            <a:ext cx="1936376" cy="165049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Use average structure and thermal factors</a:t>
            </a: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414977BE-B53B-5B77-2E10-6E75EB0E9EAE}"/>
              </a:ext>
            </a:extLst>
          </p:cNvPr>
          <p:cNvSpPr/>
          <p:nvPr/>
        </p:nvSpPr>
        <p:spPr>
          <a:xfrm rot="5400000">
            <a:off x="1132026" y="2538479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0E2FD37-30A8-3645-5A65-4B050A6043E8}"/>
              </a:ext>
            </a:extLst>
          </p:cNvPr>
          <p:cNvSpPr/>
          <p:nvPr/>
        </p:nvSpPr>
        <p:spPr>
          <a:xfrm>
            <a:off x="2881530" y="3485476"/>
            <a:ext cx="1936376" cy="16310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You can model a scattering length density profile</a:t>
            </a: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07B0CBA8-C240-DCCA-ABD8-F41894505DB1}"/>
              </a:ext>
            </a:extLst>
          </p:cNvPr>
          <p:cNvSpPr/>
          <p:nvPr/>
        </p:nvSpPr>
        <p:spPr>
          <a:xfrm rot="5400000">
            <a:off x="3365623" y="2545527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2FB1569-C0EC-8352-CE5B-6E576571FC5C}"/>
              </a:ext>
            </a:extLst>
          </p:cNvPr>
          <p:cNvSpPr/>
          <p:nvPr/>
        </p:nvSpPr>
        <p:spPr>
          <a:xfrm>
            <a:off x="5081807" y="3485476"/>
            <a:ext cx="1936376" cy="16310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For many systems you have: </a:t>
            </a:r>
            <a:r>
              <a:rPr lang="en-US" dirty="0" err="1">
                <a:solidFill>
                  <a:sysClr val="windowText" lastClr="000000"/>
                </a:solidFill>
              </a:rPr>
              <a:t>AbINS</a:t>
            </a:r>
            <a:r>
              <a:rPr lang="en-US" dirty="0">
                <a:solidFill>
                  <a:sysClr val="windowText" lastClr="000000"/>
                </a:solidFill>
              </a:rPr>
              <a:t>, Euphonic, </a:t>
            </a:r>
            <a:r>
              <a:rPr lang="en-US" dirty="0" err="1">
                <a:solidFill>
                  <a:sysClr val="windowText" lastClr="000000"/>
                </a:solidFill>
              </a:rPr>
              <a:t>SpinW</a:t>
            </a: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E5448C0C-486E-7D71-27A8-8E86CB60E7FB}"/>
              </a:ext>
            </a:extLst>
          </p:cNvPr>
          <p:cNvSpPr/>
          <p:nvPr/>
        </p:nvSpPr>
        <p:spPr>
          <a:xfrm rot="5400000">
            <a:off x="5565900" y="2545527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A3C6F5F-C8E1-D1B1-3C40-E432B239741D}"/>
              </a:ext>
            </a:extLst>
          </p:cNvPr>
          <p:cNvSpPr/>
          <p:nvPr/>
        </p:nvSpPr>
        <p:spPr>
          <a:xfrm>
            <a:off x="7248764" y="3485476"/>
            <a:ext cx="1936376" cy="16310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ysClr val="windowText" lastClr="000000"/>
                </a:solidFill>
              </a:rPr>
              <a:t>SasView</a:t>
            </a:r>
            <a:r>
              <a:rPr lang="en-US" dirty="0">
                <a:solidFill>
                  <a:sysClr val="windowText" lastClr="000000"/>
                </a:solidFill>
              </a:rPr>
              <a:t>, </a:t>
            </a:r>
            <a:r>
              <a:rPr lang="en-US" dirty="0" err="1">
                <a:solidFill>
                  <a:sysClr val="windowText" lastClr="000000"/>
                </a:solidFill>
              </a:rPr>
              <a:t>SASfit</a:t>
            </a:r>
            <a:r>
              <a:rPr lang="en-US" dirty="0">
                <a:solidFill>
                  <a:sysClr val="windowText" lastClr="000000"/>
                </a:solidFill>
              </a:rPr>
              <a:t>, etc. can model your system with fewer parameters</a:t>
            </a: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E23377FE-626D-33EB-344F-A54BC4FC3AF1}"/>
              </a:ext>
            </a:extLst>
          </p:cNvPr>
          <p:cNvSpPr/>
          <p:nvPr/>
        </p:nvSpPr>
        <p:spPr>
          <a:xfrm rot="5400000">
            <a:off x="7732857" y="2545527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ADAD15C7-2BFF-5B65-7143-4E582BC95E4E}"/>
              </a:ext>
            </a:extLst>
          </p:cNvPr>
          <p:cNvSpPr/>
          <p:nvPr/>
        </p:nvSpPr>
        <p:spPr>
          <a:xfrm>
            <a:off x="9500213" y="3485476"/>
            <a:ext cx="1936376" cy="16310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Very likely, yes.</a:t>
            </a:r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9A1CE9A4-7A1B-7F40-DB01-C0B2AA965EFA}"/>
              </a:ext>
            </a:extLst>
          </p:cNvPr>
          <p:cNvSpPr/>
          <p:nvPr/>
        </p:nvSpPr>
        <p:spPr>
          <a:xfrm rot="5400000">
            <a:off x="9984306" y="2545527"/>
            <a:ext cx="968188" cy="911711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690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45B3E-AF22-2488-50BE-0770959A1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4EC2F-85B6-967D-87BB-F67EFB96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ECA882-C687-C48D-E710-319EE7693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There are limits of what you can get from a specific MD trajectory.</a:t>
            </a: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Time limits: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Step size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Total number of steps</a:t>
            </a:r>
          </a:p>
          <a:p>
            <a:pPr>
              <a:buFontTx/>
              <a:buChar char="-"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Space limits:</a:t>
            </a: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- Size of the simulation box (assuming there is one)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7044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FB681-1CB1-6EBB-25B6-A0B55192A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50F9-6FC6-9156-9420-E77B379AF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67D4-4869-52A5-D46E-E431B83A8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Time step vs. vibrational frequencies</a:t>
            </a: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Time limits: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Step size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9094974-A38D-FD16-BAB4-EE45ECDBED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6545" y="-1679118"/>
            <a:ext cx="9185564" cy="129987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62C9BE1-C52D-F444-62B3-EDED0CD4B799}"/>
              </a:ext>
            </a:extLst>
          </p:cNvPr>
          <p:cNvSpPr txBox="1"/>
          <p:nvPr/>
        </p:nvSpPr>
        <p:spPr>
          <a:xfrm>
            <a:off x="9393973" y="2204622"/>
            <a:ext cx="256204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At the limit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dirty="0"/>
              <a:t>Enough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dirty="0"/>
              <a:t>Not enough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0A0F5-E5DE-B7E1-404B-CD7DACA7680B}"/>
              </a:ext>
            </a:extLst>
          </p:cNvPr>
          <p:cNvSpPr/>
          <p:nvPr/>
        </p:nvSpPr>
        <p:spPr>
          <a:xfrm>
            <a:off x="8702936" y="2700169"/>
            <a:ext cx="2334410" cy="3980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88116CA2-1138-1531-5563-77B868830889}"/>
              </a:ext>
            </a:extLst>
          </p:cNvPr>
          <p:cNvSpPr/>
          <p:nvPr/>
        </p:nvSpPr>
        <p:spPr>
          <a:xfrm>
            <a:off x="3147648" y="3224365"/>
            <a:ext cx="7508629" cy="1659442"/>
          </a:xfrm>
          <a:custGeom>
            <a:avLst/>
            <a:gdLst>
              <a:gd name="csX0" fmla="*/ 0 w 7172567"/>
              <a:gd name="csY0" fmla="*/ 401893 h 1547051"/>
              <a:gd name="csX1" fmla="*/ 852732 w 7172567"/>
              <a:gd name="csY1" fmla="*/ 79974 h 1547051"/>
              <a:gd name="csX2" fmla="*/ 1738921 w 7172567"/>
              <a:gd name="csY2" fmla="*/ 2909 h 1547051"/>
              <a:gd name="csX3" fmla="*/ 3817707 w 7172567"/>
              <a:gd name="csY3" fmla="*/ 247447 h 1547051"/>
              <a:gd name="csX4" fmla="*/ 5913693 w 7172567"/>
              <a:gd name="csY4" fmla="*/ 1429645 h 1547051"/>
              <a:gd name="csX5" fmla="*/ 7172567 w 7172567"/>
              <a:gd name="csY5" fmla="*/ 1471225 h 154705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7172567" h="1547051">
                <a:moveTo>
                  <a:pt x="0" y="401893"/>
                </a:moveTo>
                <a:cubicBezTo>
                  <a:pt x="302451" y="274865"/>
                  <a:pt x="562912" y="146471"/>
                  <a:pt x="852732" y="79974"/>
                </a:cubicBezTo>
                <a:cubicBezTo>
                  <a:pt x="1142552" y="13477"/>
                  <a:pt x="1505120" y="-8609"/>
                  <a:pt x="1738921" y="2909"/>
                </a:cubicBezTo>
                <a:cubicBezTo>
                  <a:pt x="1972722" y="14427"/>
                  <a:pt x="3121912" y="9658"/>
                  <a:pt x="3817707" y="247447"/>
                </a:cubicBezTo>
                <a:cubicBezTo>
                  <a:pt x="4513502" y="485236"/>
                  <a:pt x="5399343" y="1242076"/>
                  <a:pt x="5913693" y="1429645"/>
                </a:cubicBezTo>
                <a:cubicBezTo>
                  <a:pt x="6428043" y="1617214"/>
                  <a:pt x="6892679" y="1540098"/>
                  <a:pt x="7172567" y="1471225"/>
                </a:cubicBezTo>
              </a:path>
            </a:pathLst>
          </a:custGeom>
          <a:ln w="25400" cap="flat" cmpd="sng" algn="ctr">
            <a:solidFill>
              <a:schemeClr val="accent2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58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42C58-924F-C5F7-DE58-81D47217C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F7B9-3C7B-821E-7BB2-56E8E7C6C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A081C-77C0-51DD-32E7-A29085E835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u="sng" dirty="0">
                <a:latin typeface="Arial"/>
                <a:cs typeface="Arial"/>
              </a:rPr>
              <a:t>Time step defines the maximum energy you can access</a:t>
            </a:r>
            <a:r>
              <a:rPr lang="en-GB" dirty="0">
                <a:latin typeface="Arial"/>
                <a:cs typeface="Arial"/>
              </a:rPr>
              <a:t>.</a:t>
            </a: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Time limits: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Step size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67FCB18-BF0B-7D91-A17E-21B6EEAB5C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75367" y="-1593274"/>
            <a:ext cx="9073288" cy="128398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66028A-91BF-86BE-B5B9-B034F0ED7581}"/>
              </a:ext>
            </a:extLst>
          </p:cNvPr>
          <p:cNvSpPr txBox="1"/>
          <p:nvPr/>
        </p:nvSpPr>
        <p:spPr>
          <a:xfrm>
            <a:off x="9393973" y="2204622"/>
            <a:ext cx="256204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At the limit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dirty="0"/>
              <a:t>Enough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  <a:p>
            <a:pPr marL="285750" indent="-285750">
              <a:buFontTx/>
              <a:buChar char="-"/>
            </a:pPr>
            <a:r>
              <a:rPr lang="en-US" dirty="0"/>
              <a:t>Not enough</a:t>
            </a:r>
          </a:p>
        </p:txBody>
      </p:sp>
    </p:spTree>
    <p:extLst>
      <p:ext uri="{BB962C8B-B14F-4D97-AF65-F5344CB8AC3E}">
        <p14:creationId xmlns:p14="http://schemas.microsoft.com/office/powerpoint/2010/main" val="1055906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AE9F2-AD67-53DB-F080-DF901D378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AA4D-5474-16FE-B2DB-844910E0C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9203A-32D4-E1AB-842E-51398BC77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What about the total number of steps?</a:t>
            </a: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Time limits: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Step size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Number of steps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7D941A7-EA92-C256-27D6-D3DB765FD6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5386" y="2043853"/>
            <a:ext cx="75565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939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46EDC-1033-6BD8-C479-B87035346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94AC4-54C3-10F6-4878-6BFFA258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C974-8C96-7F65-5160-0256647FCF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Time limits: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Step size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Number of steps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428E24A-713C-5015-B985-57E73DB163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5387" y="2043853"/>
            <a:ext cx="7556500" cy="359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1185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B575C-B8AE-189C-7A84-0EC181366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29118-E348-AE21-52F8-DAC449084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EE2FB-A84C-F8D3-B956-94B7CBE89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Adding more steps improves the sampling of the energy axis.</a:t>
            </a: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Time limits: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Step size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Number of steps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EE4CD83-A936-4804-BE32-4ADA65833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62622" y="1954795"/>
            <a:ext cx="7743742" cy="368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36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D57E80-F375-A914-A599-E9989DC83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DBE3B-B71E-5354-077D-7128E90A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BA5D597-4089-AA5F-2754-6E8FAFB60D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11745" y="837488"/>
            <a:ext cx="6009637" cy="2858365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083C81-2673-ADA8-466B-3E2C0DCDA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328" y="1174296"/>
            <a:ext cx="11654683" cy="38655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Slow oscillations:</a:t>
            </a:r>
          </a:p>
          <a:p>
            <a:pPr marL="0" indent="0">
              <a:buNone/>
            </a:pPr>
            <a:r>
              <a:rPr lang="en-US" dirty="0"/>
              <a:t>Try to cover one full period or more.</a:t>
            </a:r>
          </a:p>
        </p:txBody>
      </p:sp>
      <p:pic>
        <p:nvPicPr>
          <p:cNvPr id="8" name="Picture 7" descr="A black background with orange circles&#10;&#10;Description automatically generated">
            <a:extLst>
              <a:ext uri="{FF2B5EF4-FFF2-40B4-BE49-F238E27FC236}">
                <a16:creationId xmlns:a16="http://schemas.microsoft.com/office/drawing/2014/main" id="{3B6F2CC0-0EE6-AAD1-49E0-7D31ED053A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094" y="2724338"/>
            <a:ext cx="63627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324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9EC41-6207-C814-36FE-17D46D4A47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B9774-C3EC-6BF1-6880-703427F9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ED3E2-75C8-106D-1243-6B2DE1502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The time axis of the trajectory defines the time axis of the result.</a:t>
            </a: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BA9AF5-CD57-61E1-C684-32BD631274D6}"/>
              </a:ext>
            </a:extLst>
          </p:cNvPr>
          <p:cNvSpPr txBox="1"/>
          <p:nvPr/>
        </p:nvSpPr>
        <p:spPr>
          <a:xfrm>
            <a:off x="266698" y="2001642"/>
            <a:ext cx="1165468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Examples:</a:t>
            </a:r>
          </a:p>
          <a:p>
            <a:endParaRPr lang="en-US" sz="2400" dirty="0"/>
          </a:p>
          <a:p>
            <a:r>
              <a:rPr lang="en-US" sz="2400" dirty="0">
                <a:highlight>
                  <a:srgbClr val="FFFF00"/>
                </a:highlight>
              </a:rPr>
              <a:t>5 fs step</a:t>
            </a:r>
            <a:r>
              <a:rPr lang="en-US" sz="2400" dirty="0"/>
              <a:t> x 100 frames = </a:t>
            </a:r>
            <a:r>
              <a:rPr lang="en-US" sz="2400" dirty="0">
                <a:highlight>
                  <a:srgbClr val="00FFFF"/>
                </a:highlight>
              </a:rPr>
              <a:t>500 fs total time  </a:t>
            </a:r>
            <a:r>
              <a:rPr lang="en-US" sz="2400" dirty="0"/>
              <a:t>=&gt;  up to </a:t>
            </a:r>
            <a:r>
              <a:rPr lang="en-US" sz="2400" dirty="0">
                <a:highlight>
                  <a:srgbClr val="FFFF00"/>
                </a:highlight>
              </a:rPr>
              <a:t>412 </a:t>
            </a:r>
            <a:r>
              <a:rPr lang="en-US" sz="2400" dirty="0" err="1">
                <a:highlight>
                  <a:srgbClr val="FFFF00"/>
                </a:highlight>
              </a:rPr>
              <a:t>meV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/>
              <a:t>in </a:t>
            </a:r>
            <a:r>
              <a:rPr lang="en-US" sz="2400" dirty="0">
                <a:highlight>
                  <a:srgbClr val="00FFFF"/>
                </a:highlight>
              </a:rPr>
              <a:t>4.1 </a:t>
            </a:r>
            <a:r>
              <a:rPr lang="en-US" sz="2400" dirty="0" err="1">
                <a:highlight>
                  <a:srgbClr val="00FFFF"/>
                </a:highlight>
              </a:rPr>
              <a:t>meV</a:t>
            </a:r>
            <a:r>
              <a:rPr lang="en-US" sz="2400" dirty="0">
                <a:highlight>
                  <a:srgbClr val="00FFFF"/>
                </a:highlight>
              </a:rPr>
              <a:t> steps </a:t>
            </a:r>
          </a:p>
          <a:p>
            <a:r>
              <a:rPr lang="en-US" sz="2400" dirty="0"/>
              <a:t>10 fs step x 50 frames = </a:t>
            </a:r>
            <a:r>
              <a:rPr lang="en-US" sz="2400" dirty="0">
                <a:highlight>
                  <a:srgbClr val="00FFFF"/>
                </a:highlight>
              </a:rPr>
              <a:t>500 fs total time  </a:t>
            </a:r>
            <a:r>
              <a:rPr lang="en-US" sz="2400" dirty="0"/>
              <a:t>=&gt;  up to 206 </a:t>
            </a:r>
            <a:r>
              <a:rPr lang="en-US" sz="2400" dirty="0" err="1"/>
              <a:t>meV</a:t>
            </a:r>
            <a:r>
              <a:rPr lang="en-US" sz="2400" dirty="0"/>
              <a:t> in </a:t>
            </a:r>
            <a:r>
              <a:rPr lang="en-US" sz="2400" dirty="0">
                <a:highlight>
                  <a:srgbClr val="00FFFF"/>
                </a:highlight>
              </a:rPr>
              <a:t>4.1 </a:t>
            </a:r>
            <a:r>
              <a:rPr lang="en-US" sz="2400" dirty="0" err="1">
                <a:highlight>
                  <a:srgbClr val="00FFFF"/>
                </a:highlight>
              </a:rPr>
              <a:t>meV</a:t>
            </a:r>
            <a:r>
              <a:rPr lang="en-US" sz="2400" dirty="0">
                <a:highlight>
                  <a:srgbClr val="00FFFF"/>
                </a:highlight>
              </a:rPr>
              <a:t> steps</a:t>
            </a:r>
          </a:p>
          <a:p>
            <a:endParaRPr lang="en-US" sz="2400" dirty="0"/>
          </a:p>
          <a:p>
            <a:r>
              <a:rPr lang="en-US" sz="2400" dirty="0">
                <a:highlight>
                  <a:srgbClr val="FFFF00"/>
                </a:highlight>
              </a:rPr>
              <a:t>5 fs step</a:t>
            </a:r>
            <a:r>
              <a:rPr lang="en-US" sz="2400" dirty="0"/>
              <a:t> x 10000 frames = 50 </a:t>
            </a:r>
            <a:r>
              <a:rPr lang="en-US" sz="2400" dirty="0" err="1"/>
              <a:t>ps</a:t>
            </a:r>
            <a:r>
              <a:rPr lang="en-US" sz="2400" dirty="0"/>
              <a:t> total time =&gt; up to </a:t>
            </a:r>
            <a:r>
              <a:rPr lang="en-US" sz="2400" dirty="0">
                <a:highlight>
                  <a:srgbClr val="FFFF00"/>
                </a:highlight>
              </a:rPr>
              <a:t>412 </a:t>
            </a:r>
            <a:r>
              <a:rPr lang="en-US" sz="2400" dirty="0" err="1">
                <a:highlight>
                  <a:srgbClr val="FFFF00"/>
                </a:highlight>
              </a:rPr>
              <a:t>meV</a:t>
            </a:r>
            <a:r>
              <a:rPr lang="en-US" sz="2400" dirty="0">
                <a:highlight>
                  <a:srgbClr val="FFFF00"/>
                </a:highlight>
              </a:rPr>
              <a:t> </a:t>
            </a:r>
            <a:r>
              <a:rPr lang="en-US" sz="2400" dirty="0"/>
              <a:t>in 0.041 </a:t>
            </a:r>
            <a:r>
              <a:rPr lang="en-US" sz="2400" dirty="0" err="1"/>
              <a:t>meV</a:t>
            </a:r>
            <a:r>
              <a:rPr lang="en-US" sz="2400" dirty="0"/>
              <a:t> steps</a:t>
            </a:r>
          </a:p>
          <a:p>
            <a:r>
              <a:rPr lang="en-US" sz="2400" dirty="0"/>
              <a:t>1 </a:t>
            </a:r>
            <a:r>
              <a:rPr lang="en-US" sz="2400" dirty="0" err="1"/>
              <a:t>ps</a:t>
            </a:r>
            <a:r>
              <a:rPr lang="en-US" sz="2400" dirty="0"/>
              <a:t> step x 50 frames = 50 </a:t>
            </a:r>
            <a:r>
              <a:rPr lang="en-US" sz="2400" dirty="0" err="1"/>
              <a:t>ps</a:t>
            </a:r>
            <a:r>
              <a:rPr lang="en-US" sz="2400" dirty="0"/>
              <a:t> total time      =&gt; up to 2.05 </a:t>
            </a:r>
            <a:r>
              <a:rPr lang="en-US" sz="2400" dirty="0" err="1"/>
              <a:t>meV</a:t>
            </a:r>
            <a:r>
              <a:rPr lang="en-US" sz="2400" dirty="0"/>
              <a:t> in 0.041 </a:t>
            </a:r>
            <a:r>
              <a:rPr lang="en-US" sz="2400" dirty="0" err="1"/>
              <a:t>meV</a:t>
            </a:r>
            <a:r>
              <a:rPr lang="en-US" sz="2400" dirty="0"/>
              <a:t> steps</a:t>
            </a:r>
          </a:p>
        </p:txBody>
      </p:sp>
    </p:spTree>
    <p:extLst>
      <p:ext uri="{BB962C8B-B14F-4D97-AF65-F5344CB8AC3E}">
        <p14:creationId xmlns:p14="http://schemas.microsoft.com/office/powerpoint/2010/main" val="9420924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4E8E5-557B-1947-7098-013734CC7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6D945-352F-793D-BF91-08AABF5A7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Energy resolution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D51586-2E13-00F0-74C4-515BFB295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4789" y="993531"/>
            <a:ext cx="9094822" cy="465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394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BFDEB-C34E-81F2-CBD6-DAA7F0B09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6A54838-7632-BAF6-8A1B-5CDB20D72A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6522" y="1389185"/>
            <a:ext cx="6673655" cy="34165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781B1-EE16-0B4C-F9F3-10622CE8BC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096" y="1389185"/>
            <a:ext cx="6673655" cy="34165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6422CD-A968-AB28-490A-47190E5F3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Energy resolution as</a:t>
            </a:r>
            <a:br>
              <a:rPr lang="en-GB" b="1" dirty="0"/>
            </a:br>
            <a:r>
              <a:rPr lang="en-GB" b="1" dirty="0"/>
              <a:t>a time window</a:t>
            </a:r>
          </a:p>
        </p:txBody>
      </p:sp>
    </p:spTree>
    <p:extLst>
      <p:ext uri="{BB962C8B-B14F-4D97-AF65-F5344CB8AC3E}">
        <p14:creationId xmlns:p14="http://schemas.microsoft.com/office/powerpoint/2010/main" val="3041278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38850-FE9C-D342-AD91-0E7A9874D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80AE4-40A1-01E6-5E17-6738080F7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Energy resolution as a time window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B45F71-AE1C-57AD-CC47-65DD337C23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739" y="942995"/>
            <a:ext cx="10282604" cy="526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382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8853F-43B5-D051-8336-9FC650C33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0FFC7-3FF8-C881-5F2B-323115BFE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how are neutron results different?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6F264-022C-4E7E-B5AA-6A9CA664D0B3}"/>
              </a:ext>
            </a:extLst>
          </p:cNvPr>
          <p:cNvSpPr txBox="1"/>
          <p:nvPr/>
        </p:nvSpPr>
        <p:spPr>
          <a:xfrm>
            <a:off x="562708" y="1014884"/>
            <a:ext cx="7576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www.ncnr.nist.gov</a:t>
            </a:r>
            <a:r>
              <a:rPr lang="en-US" dirty="0"/>
              <a:t>/resources/n-lengths/</a:t>
            </a:r>
          </a:p>
        </p:txBody>
      </p:sp>
      <p:pic>
        <p:nvPicPr>
          <p:cNvPr id="7" name="Picture 6" descr="A table with numbers and a number&#10;&#10;Description automatically generated">
            <a:extLst>
              <a:ext uri="{FF2B5EF4-FFF2-40B4-BE49-F238E27FC236}">
                <a16:creationId xmlns:a16="http://schemas.microsoft.com/office/drawing/2014/main" id="{BAA2DA33-C799-12E6-87A8-F203A462D9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08" y="1732434"/>
            <a:ext cx="5892800" cy="2070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49DCC8-3818-8F13-9AEB-23E22F058439}"/>
              </a:ext>
            </a:extLst>
          </p:cNvPr>
          <p:cNvSpPr txBox="1"/>
          <p:nvPr/>
        </p:nvSpPr>
        <p:spPr>
          <a:xfrm>
            <a:off x="967155" y="4225333"/>
            <a:ext cx="5406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Neutron scattering lengths can be used as </a:t>
            </a:r>
            <a:r>
              <a:rPr lang="en-US" b="1" dirty="0"/>
              <a:t>weights</a:t>
            </a:r>
            <a:r>
              <a:rPr lang="en-US" dirty="0"/>
              <a:t> when combining partial calculation results.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DB334-64D2-EB37-CF0B-18E654F4A607}"/>
              </a:ext>
            </a:extLst>
          </p:cNvPr>
          <p:cNvSpPr txBox="1"/>
          <p:nvPr/>
        </p:nvSpPr>
        <p:spPr>
          <a:xfrm>
            <a:off x="7253654" y="1608992"/>
            <a:ext cx="43346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will talk more about coherent and incoherent scattering lengths in the tutorials on Wednesday.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08B95D6-95A6-6D83-DB95-A9EFD0C710A6}"/>
                  </a:ext>
                </a:extLst>
              </p14:cNvPr>
              <p14:cNvContentPartPr/>
              <p14:nvPr/>
            </p14:nvContentPartPr>
            <p14:xfrm>
              <a:off x="6848405" y="1047697"/>
              <a:ext cx="4546440" cy="1966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08B95D6-95A6-6D83-DB95-A9EFD0C710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30405" y="1029697"/>
                <a:ext cx="4582080" cy="200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952722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C22542-D2ED-F00E-D152-E0F01FDB2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32372-1FFC-64B1-3612-7E6813BC1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isotopes and contrast matching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E656E9-F4A6-039C-2166-AE64E2FEC2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14" y="1513007"/>
            <a:ext cx="6245714" cy="12021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432883-ACDC-AFFA-26F6-59C0364A87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914" y="2715111"/>
            <a:ext cx="6269792" cy="120210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0653D60-83D6-1925-B745-FDFF8721CF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5882" y="4115519"/>
            <a:ext cx="4061009" cy="107901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44AAA8-287C-0FE4-CB07-2289A1D8BA28}"/>
              </a:ext>
            </a:extLst>
          </p:cNvPr>
          <p:cNvSpPr txBox="1"/>
          <p:nvPr/>
        </p:nvSpPr>
        <p:spPr>
          <a:xfrm>
            <a:off x="553914" y="1068461"/>
            <a:ext cx="654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MDANSE calculates Static Structure Factor as: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9457D6-FDB5-D108-7F40-BF43C66AD915}"/>
              </a:ext>
            </a:extLst>
          </p:cNvPr>
          <p:cNvSpPr txBox="1"/>
          <p:nvPr/>
        </p:nvSpPr>
        <p:spPr>
          <a:xfrm>
            <a:off x="2285999" y="4331859"/>
            <a:ext cx="39741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where </a:t>
            </a:r>
            <a:r>
              <a:rPr lang="en-US" b="1" dirty="0"/>
              <a:t>scattering lengths </a:t>
            </a:r>
            <a:r>
              <a:rPr lang="en-US" dirty="0"/>
              <a:t>become part of the calculation.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AC2665-4375-D8DA-B2DF-C3C3622BA4AB}"/>
                  </a:ext>
                </a:extLst>
              </p:cNvPr>
              <p:cNvSpPr txBox="1"/>
              <p:nvPr/>
            </p:nvSpPr>
            <p:spPr>
              <a:xfrm>
                <a:off x="7618533" y="5393408"/>
                <a:ext cx="2355709" cy="7059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 = 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𝛼𝛽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𝛼𝛽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AC2665-4375-D8DA-B2DF-C3C3622BA4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8533" y="5393408"/>
                <a:ext cx="2355709" cy="705962"/>
              </a:xfrm>
              <a:prstGeom prst="rect">
                <a:avLst/>
              </a:prstGeom>
              <a:blipFill>
                <a:blip r:embed="rId6"/>
                <a:stretch>
                  <a:fillRect l="-1613" t="-136842" r="-2688" b="-184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4963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4DB2A-D71F-AF35-4666-58A506118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5E16A-A8CF-7AE5-BC4B-B60787126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isotopes and contrast matching</a:t>
            </a:r>
          </a:p>
        </p:txBody>
      </p:sp>
      <p:pic>
        <p:nvPicPr>
          <p:cNvPr id="4" name="Picture 3" descr="A graph of a number of objects&#10;&#10;Description automatically generated">
            <a:extLst>
              <a:ext uri="{FF2B5EF4-FFF2-40B4-BE49-F238E27FC236}">
                <a16:creationId xmlns:a16="http://schemas.microsoft.com/office/drawing/2014/main" id="{79776830-65D9-96AB-5F5A-5D25E12CE3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905" y="837721"/>
            <a:ext cx="7772400" cy="5655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97B2EA8-621C-EA6E-749B-7B7AA495D562}"/>
              </a:ext>
            </a:extLst>
          </p:cNvPr>
          <p:cNvSpPr txBox="1"/>
          <p:nvPr/>
        </p:nvSpPr>
        <p:spPr>
          <a:xfrm>
            <a:off x="266700" y="2319649"/>
            <a:ext cx="40896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 K. Soper</a:t>
            </a:r>
          </a:p>
          <a:p>
            <a:r>
              <a:rPr lang="en-GB" sz="1800" dirty="0">
                <a:effectLst/>
              </a:rPr>
              <a:t>http://</a:t>
            </a:r>
            <a:r>
              <a:rPr lang="en-GB" sz="1800" dirty="0" err="1">
                <a:effectLst/>
              </a:rPr>
              <a:t>dx.doi.org</a:t>
            </a:r>
            <a:r>
              <a:rPr lang="en-GB" sz="1800" dirty="0">
                <a:effectLst/>
              </a:rPr>
              <a:t>/10.1155/2013/279463 </a:t>
            </a:r>
            <a:endParaRPr lang="en-GB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A8CA601-C083-A0DD-00EE-8A7F0172E972}"/>
              </a:ext>
            </a:extLst>
          </p:cNvPr>
          <p:cNvSpPr txBox="1"/>
          <p:nvPr/>
        </p:nvSpPr>
        <p:spPr>
          <a:xfrm>
            <a:off x="266700" y="939240"/>
            <a:ext cx="43555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>
                <a:effectLst/>
                <a:latin typeface="+mj-lt"/>
              </a:rPr>
              <a:t>The Radial Distribution Functions of Water as Derived from Radiation Total Scattering Experiments:</a:t>
            </a:r>
          </a:p>
          <a:p>
            <a:r>
              <a:rPr lang="en-GB" sz="1800" dirty="0">
                <a:effectLst/>
                <a:latin typeface="+mj-lt"/>
              </a:rPr>
              <a:t>Is There Anything We Can Say for Sure? </a:t>
            </a:r>
            <a:endParaRPr lang="en-GB" dirty="0">
              <a:latin typeface="+mj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43056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A23A6-B58D-5910-12F6-0E732509A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7BCE-7B26-A6D2-597D-42EA2D6D1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isotopes and contrast matching</a:t>
            </a:r>
          </a:p>
        </p:txBody>
      </p:sp>
      <p:pic>
        <p:nvPicPr>
          <p:cNvPr id="4" name="Picture 3" descr="A graph of a number of objects&#10;&#10;Description automatically generated">
            <a:extLst>
              <a:ext uri="{FF2B5EF4-FFF2-40B4-BE49-F238E27FC236}">
                <a16:creationId xmlns:a16="http://schemas.microsoft.com/office/drawing/2014/main" id="{061B0465-13BF-63C2-164B-7C5359AB39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905" y="837721"/>
            <a:ext cx="7772400" cy="56551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7CAC41-EC61-B95E-76F7-4B33CEC2139D}"/>
              </a:ext>
            </a:extLst>
          </p:cNvPr>
          <p:cNvSpPr txBox="1"/>
          <p:nvPr/>
        </p:nvSpPr>
        <p:spPr>
          <a:xfrm>
            <a:off x="388189" y="1311215"/>
            <a:ext cx="3778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structure factor.</a:t>
            </a:r>
          </a:p>
          <a:p>
            <a:r>
              <a:rPr lang="en-US" dirty="0"/>
              <a:t>Coherent scattering length is the weight in the calculation.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66DD4-BBA3-342C-1C6A-61E87FEF03B0}"/>
              </a:ext>
            </a:extLst>
          </p:cNvPr>
          <p:cNvSpPr txBox="1"/>
          <p:nvPr/>
        </p:nvSpPr>
        <p:spPr>
          <a:xfrm>
            <a:off x="500332" y="2932981"/>
            <a:ext cx="3605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Isotopically normal water.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6D79672-BE0C-5700-046F-641C3540265D}"/>
              </a:ext>
            </a:extLst>
          </p:cNvPr>
          <p:cNvSpPr/>
          <p:nvPr/>
        </p:nvSpPr>
        <p:spPr>
          <a:xfrm>
            <a:off x="4897316" y="837488"/>
            <a:ext cx="7429499" cy="27497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070035-C0E6-05FE-447C-22570F26FE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7316" y="2549769"/>
            <a:ext cx="7499838" cy="1369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264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D13A5-C50F-57EA-B867-24D51B55A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D2234-2D86-6655-7A6E-4E126B545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isotopes and contrast matching</a:t>
            </a:r>
          </a:p>
        </p:txBody>
      </p:sp>
      <p:pic>
        <p:nvPicPr>
          <p:cNvPr id="4" name="Picture 3" descr="A graph of a number of objects&#10;&#10;Description automatically generated">
            <a:extLst>
              <a:ext uri="{FF2B5EF4-FFF2-40B4-BE49-F238E27FC236}">
                <a16:creationId xmlns:a16="http://schemas.microsoft.com/office/drawing/2014/main" id="{BDFFB46A-258A-AEB7-9061-019C1F854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7905" y="837721"/>
            <a:ext cx="7772400" cy="5655154"/>
          </a:xfrm>
          <a:prstGeom prst="rect">
            <a:avLst/>
          </a:prstGeom>
        </p:spPr>
      </p:pic>
      <p:pic>
        <p:nvPicPr>
          <p:cNvPr id="5" name="Picture 4" descr="A graph with red lines&#10;&#10;Description automatically generated">
            <a:extLst>
              <a:ext uri="{FF2B5EF4-FFF2-40B4-BE49-F238E27FC236}">
                <a16:creationId xmlns:a16="http://schemas.microsoft.com/office/drawing/2014/main" id="{A8283057-4C41-0FFA-4E42-83F81B7B1B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0611" y="2722711"/>
            <a:ext cx="8983297" cy="337061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EC942-F157-31C2-44E9-67F21C8029A3}"/>
              </a:ext>
            </a:extLst>
          </p:cNvPr>
          <p:cNvSpPr txBox="1"/>
          <p:nvPr/>
        </p:nvSpPr>
        <p:spPr>
          <a:xfrm>
            <a:off x="388189" y="1311215"/>
            <a:ext cx="37783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Static structure factor.</a:t>
            </a:r>
          </a:p>
          <a:p>
            <a:r>
              <a:rPr lang="en-US" dirty="0"/>
              <a:t>Coherent scattering length is the weight in the calculation.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A4C019-4D03-18B0-EF79-2C57F34E0E48}"/>
              </a:ext>
            </a:extLst>
          </p:cNvPr>
          <p:cNvSpPr txBox="1"/>
          <p:nvPr/>
        </p:nvSpPr>
        <p:spPr>
          <a:xfrm>
            <a:off x="500332" y="2932981"/>
            <a:ext cx="3605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Fully deuterated water.</a:t>
            </a:r>
          </a:p>
        </p:txBody>
      </p:sp>
    </p:spTree>
    <p:extLst>
      <p:ext uri="{BB962C8B-B14F-4D97-AF65-F5344CB8AC3E}">
        <p14:creationId xmlns:p14="http://schemas.microsoft.com/office/powerpoint/2010/main" val="583906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056C4-DEBC-4F75-4F3A-E2C9C91C2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D7E26-107C-E6F5-245D-3FF1EE2B4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Dynamic Structure Factor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20AD58-CD88-6CB2-A6E5-00F7A9940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Typically, we calculate two components of the Dynamic Structure Factor:</a:t>
            </a:r>
          </a:p>
          <a:p>
            <a:pPr marL="0" indent="0">
              <a:buNone/>
            </a:pPr>
            <a:endParaRPr lang="en-US" dirty="0"/>
          </a:p>
          <a:p>
            <a:pPr marL="457200" indent="-457200">
              <a:buAutoNum type="arabicPeriod"/>
            </a:pPr>
            <a:r>
              <a:rPr lang="en-US" dirty="0"/>
              <a:t>Dynamic </a:t>
            </a:r>
            <a:r>
              <a:rPr lang="en-US" b="1" dirty="0"/>
              <a:t>Incoherent</a:t>
            </a:r>
            <a:r>
              <a:rPr lang="en-US" dirty="0"/>
              <a:t> Structure Factor</a:t>
            </a:r>
          </a:p>
          <a:p>
            <a:pPr>
              <a:buFontTx/>
              <a:buChar char="-"/>
            </a:pPr>
            <a:r>
              <a:rPr lang="en-US" dirty="0"/>
              <a:t>proportional to the </a:t>
            </a:r>
            <a:r>
              <a:rPr lang="en-US" b="1" dirty="0"/>
              <a:t>incoherent</a:t>
            </a:r>
            <a:r>
              <a:rPr lang="en-US" dirty="0"/>
              <a:t> scattering cross section of contributing atoms,</a:t>
            </a:r>
          </a:p>
          <a:p>
            <a:pPr>
              <a:buFontTx/>
              <a:buChar char="-"/>
            </a:pPr>
            <a:r>
              <a:rPr lang="en-US" dirty="0"/>
              <a:t>calculated from correlations of individual atom positions over time.</a:t>
            </a:r>
          </a:p>
          <a:p>
            <a:pPr>
              <a:buFontTx/>
              <a:buChar char="-"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Dynamic </a:t>
            </a:r>
            <a:r>
              <a:rPr lang="en-US" b="1" dirty="0"/>
              <a:t>Coherent</a:t>
            </a:r>
            <a:r>
              <a:rPr lang="en-US" dirty="0"/>
              <a:t> Structure Factor</a:t>
            </a:r>
          </a:p>
          <a:p>
            <a:pPr>
              <a:buFontTx/>
              <a:buChar char="-"/>
            </a:pPr>
            <a:r>
              <a:rPr lang="en-US" dirty="0"/>
              <a:t>proportional to the </a:t>
            </a:r>
            <a:r>
              <a:rPr lang="en-US" b="1" dirty="0"/>
              <a:t>coherent</a:t>
            </a:r>
            <a:r>
              <a:rPr lang="en-US" dirty="0"/>
              <a:t> scattering cross section of contributing atoms,</a:t>
            </a:r>
          </a:p>
          <a:p>
            <a:pPr>
              <a:buFontTx/>
              <a:buChar char="-"/>
            </a:pPr>
            <a:r>
              <a:rPr lang="en-US" dirty="0"/>
              <a:t>calculated from correlations between different atoms over time,</a:t>
            </a:r>
          </a:p>
          <a:p>
            <a:pPr>
              <a:buFontTx/>
              <a:buChar char="-"/>
            </a:pPr>
            <a:r>
              <a:rPr lang="en-US" dirty="0"/>
              <a:t>calculation on vectors commensurate with the reciprocal unit cell.</a:t>
            </a:r>
          </a:p>
        </p:txBody>
      </p:sp>
    </p:spTree>
    <p:extLst>
      <p:ext uri="{BB962C8B-B14F-4D97-AF65-F5344CB8AC3E}">
        <p14:creationId xmlns:p14="http://schemas.microsoft.com/office/powerpoint/2010/main" val="1171454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71472-85C1-B0C1-E48C-1CA59D5F6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A3622BA-0C04-61E8-4CF7-2B042F20C7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42" y="1218788"/>
            <a:ext cx="6794594" cy="8573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83AA4D9-DAB0-8926-776A-3D5FAA24EA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927" y="1886561"/>
            <a:ext cx="7771137" cy="41760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6DB8DF3-502B-5344-DB97-2C8E9240B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Dynamic Incoherent Structure Factor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EB9A43-9EE3-D426-FBC2-4B08AB9601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5" y="4409642"/>
            <a:ext cx="3347141" cy="639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32A55F-F88D-4626-D8FE-4145FF1972B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6" y="3645876"/>
            <a:ext cx="3266342" cy="657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843E24-1F26-90F5-7CF7-15AEB95090E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6" y="2242527"/>
            <a:ext cx="3538804" cy="579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8471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37C29-C581-2CC9-072B-B39392F1C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04BFD49-EE93-6295-3358-847CCE1381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42" y="1218788"/>
            <a:ext cx="6794594" cy="8573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0E96A3-7FBF-E226-292A-D80F07F49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927" y="1886561"/>
            <a:ext cx="7771137" cy="41760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C34FA0-1F00-3196-5C0C-EF680C4F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Dynamic Incoherent Structure Factor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3A47E-7DF1-1B18-E39F-9186982F3B0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5" y="4409642"/>
            <a:ext cx="3347141" cy="639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8AD0D0-5418-B460-D4AB-00F85719A5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6" y="3645876"/>
            <a:ext cx="3266342" cy="657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37ED1D-99D7-8181-6968-753F4B5003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6" y="2242527"/>
            <a:ext cx="3538804" cy="57980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7913F82-16D4-77E0-C437-EAB65F2FF0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4170" y="843329"/>
            <a:ext cx="7740894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184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D00AA-5A80-C91E-D6DC-11F990CBE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C0830CE-1FF8-CDCB-80B8-D6972F4D81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42" y="1218788"/>
            <a:ext cx="6794594" cy="857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965F0F8-B410-389F-FBFE-CDE68BD70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Dynamic Incoherent Structure Factor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61B717-6E74-04BC-52B2-4050FFD8DB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5" y="4409642"/>
            <a:ext cx="3347141" cy="639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B98DD36-8A69-6A42-E717-578B75ECC0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6" y="3645876"/>
            <a:ext cx="3266342" cy="657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3BA3A9D-184C-A87D-F380-155D4703BE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6" y="2242527"/>
            <a:ext cx="3538804" cy="579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4028E4-D171-6B6F-28D0-B0119BF308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146" y="2688792"/>
            <a:ext cx="76327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94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2DBC3-D36A-1FD5-5D97-794CCBBDE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59D3D898-A304-24B0-5B05-686BABC066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42" y="1218788"/>
            <a:ext cx="6794594" cy="8573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2EEC14-A355-4235-EAAE-B7032BE3B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Dynamic Incoherent Structure Factor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B1C1A2-446A-66B0-7494-A3D0E5AF85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5" y="4409642"/>
            <a:ext cx="3347141" cy="6395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F69D62-4DCC-BCFE-7088-3499967F72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6" y="3645876"/>
            <a:ext cx="3266342" cy="6573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CA4ECD-E33E-7E24-130B-21E5DC6505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66" y="2242527"/>
            <a:ext cx="3538804" cy="5798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43F8D6-8BED-548B-460E-C35CE1583D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3146" y="2688792"/>
            <a:ext cx="7632700" cy="3441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AAE3C9C-6D1E-9067-E772-3A0F42B7EE7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348" y="2582403"/>
            <a:ext cx="7632700" cy="344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462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945FB-7AF3-6C2A-11D2-07ADBA569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F9502-4B7C-4268-BEED-856203FEC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Dynamic Coherent Structure Factor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8CA537-B645-607C-3756-252308A34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5" y="4580530"/>
            <a:ext cx="4001679" cy="656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5B0941-BA4D-4093-FEDD-E4D108AA9B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6" y="3710647"/>
            <a:ext cx="4001685" cy="6563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B230EC-D34F-3EF3-498D-AAEC7FA5B4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7" y="2097292"/>
            <a:ext cx="4001685" cy="656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F2FEE2C-0929-C88F-A2CC-6B341FE07C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7" y="1182340"/>
            <a:ext cx="8406989" cy="89828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AD762D-D54D-7F19-3C33-90DEB5BFE6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64" y="1931866"/>
            <a:ext cx="7432286" cy="3958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682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7D949-0E5A-87F0-DC37-94C686E96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79968-E8A4-EF56-A69D-0223359EE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Dynamic Coherent Structure Factor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299E7-085B-A35A-873F-1E6587A71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5" y="4580530"/>
            <a:ext cx="4001679" cy="656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EEC6EB-E14A-681D-AC21-DEA2B64FE2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6" y="3710647"/>
            <a:ext cx="4001685" cy="6563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14A868-1E5C-2879-0D67-8D5773728D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7" y="2097292"/>
            <a:ext cx="4001685" cy="656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58D840-575A-0E32-A3A6-67533E84ED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7" y="1182340"/>
            <a:ext cx="8406989" cy="8982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13FD6-811B-BF5F-2A25-FAC54A17A4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4164" y="1856052"/>
            <a:ext cx="7459072" cy="397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079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03C74-ECC9-7758-25C7-C589F176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C865-0EC0-072B-CCFE-683285DB1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Dynamic Coherent Structure Factor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866962-EB31-D010-5C76-9208A5DBD2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5" y="4580530"/>
            <a:ext cx="4001679" cy="656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8BDF3E-8FD4-F9E2-1F47-08BB7D5294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6" y="3710647"/>
            <a:ext cx="4001685" cy="6563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C19CA4-2DDA-FB8B-2E76-C6D9045A66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7" y="2097292"/>
            <a:ext cx="4001685" cy="656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568BC88-8D12-B5D0-EBC7-C1D9D6DAE73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7" y="1182340"/>
            <a:ext cx="8406989" cy="8982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3E744F-CA91-4AF8-5062-EECC509E96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" y="1013885"/>
            <a:ext cx="11708850" cy="5393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3228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CF730-7083-F6F9-6B02-08D745F34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6AA7-C36F-6DE6-062D-F99C5FEEA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Dynamic Coherent Structure Factor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E00BFF-7CA1-DD93-6FD2-5F67EE74D1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5" y="4580530"/>
            <a:ext cx="4001679" cy="6563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037429-4C6F-A59D-94F5-43021D1F06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6" y="3710647"/>
            <a:ext cx="4001685" cy="6563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639451-8F44-609F-872C-E01E1EC256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7" y="2097292"/>
            <a:ext cx="4001685" cy="6563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8E2594F-B395-4F86-467E-4333CC13B5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87" y="1182340"/>
            <a:ext cx="8406989" cy="8982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5FA511-0A60-DB85-B75C-D2D667DC20D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65" y="1201585"/>
            <a:ext cx="12092751" cy="5570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8519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CD3A3-5B2A-17E5-421A-90AE86B2C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5F678-7DFF-AC40-B4C2-23BDE436A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Total Dynamic Structure Factor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B6797C-4FEE-1247-78D1-C8B1FA521B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3" y="1186962"/>
            <a:ext cx="12120057" cy="550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231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A2771-97C0-A619-FC00-F6EEB7DCD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A7118-C2EE-5AD7-CE31-B2A8BF5F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QENS: Total Dynamic Structure Factor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A6D9B-687E-4EE4-2D5F-D380966527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31" y="837488"/>
            <a:ext cx="10867350" cy="602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91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0C7CC-65B2-463B-DF18-67C2D8D7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A058-4255-9F67-522F-80609991E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Interlude: neutron properties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D3634B-A864-5D11-7A23-CA8932518A81}"/>
              </a:ext>
            </a:extLst>
          </p:cNvPr>
          <p:cNvSpPr txBox="1"/>
          <p:nvPr/>
        </p:nvSpPr>
        <p:spPr>
          <a:xfrm>
            <a:off x="3437793" y="1371602"/>
            <a:ext cx="1283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Energy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3635CE-7C0A-F24E-F301-37DF689691D9}"/>
              </a:ext>
            </a:extLst>
          </p:cNvPr>
          <p:cNvSpPr txBox="1"/>
          <p:nvPr/>
        </p:nvSpPr>
        <p:spPr>
          <a:xfrm>
            <a:off x="7156941" y="1371602"/>
            <a:ext cx="1755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Momentum</a:t>
            </a:r>
          </a:p>
        </p:txBody>
      </p:sp>
      <p:sp>
        <p:nvSpPr>
          <p:cNvPr id="3" name="Left-right Arrow 2">
            <a:extLst>
              <a:ext uri="{FF2B5EF4-FFF2-40B4-BE49-F238E27FC236}">
                <a16:creationId xmlns:a16="http://schemas.microsoft.com/office/drawing/2014/main" id="{1FE71FBE-C940-562E-DF69-FDA0D7F7D57B}"/>
              </a:ext>
            </a:extLst>
          </p:cNvPr>
          <p:cNvSpPr/>
          <p:nvPr/>
        </p:nvSpPr>
        <p:spPr>
          <a:xfrm>
            <a:off x="4721470" y="1288117"/>
            <a:ext cx="2127738" cy="53630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A2B10A8-5908-0B39-F40A-FB0CAFCD552A}"/>
              </a:ext>
            </a:extLst>
          </p:cNvPr>
          <p:cNvCxnSpPr/>
          <p:nvPr/>
        </p:nvCxnSpPr>
        <p:spPr>
          <a:xfrm flipV="1">
            <a:off x="3253050" y="1822434"/>
            <a:ext cx="0" cy="3009525"/>
          </a:xfrm>
          <a:prstGeom prst="straightConnector1">
            <a:avLst/>
          </a:prstGeom>
          <a:ln w="476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FA4C58-6429-61D8-BD89-DBC79D50AD21}"/>
              </a:ext>
            </a:extLst>
          </p:cNvPr>
          <p:cNvCxnSpPr/>
          <p:nvPr/>
        </p:nvCxnSpPr>
        <p:spPr>
          <a:xfrm>
            <a:off x="3042034" y="4831959"/>
            <a:ext cx="42203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9C7912E-6EDC-BCD0-A505-32C44919C605}"/>
              </a:ext>
            </a:extLst>
          </p:cNvPr>
          <p:cNvSpPr txBox="1"/>
          <p:nvPr/>
        </p:nvSpPr>
        <p:spPr>
          <a:xfrm>
            <a:off x="3464065" y="4570349"/>
            <a:ext cx="422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FD1561-5743-2D19-5E34-55F25859F8F6}"/>
              </a:ext>
            </a:extLst>
          </p:cNvPr>
          <p:cNvSpPr txBox="1"/>
          <p:nvPr/>
        </p:nvSpPr>
        <p:spPr>
          <a:xfrm>
            <a:off x="2738596" y="1822434"/>
            <a:ext cx="422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5EE3E85-2AFF-C2CA-0910-DAED091F6F7A}"/>
              </a:ext>
            </a:extLst>
          </p:cNvPr>
          <p:cNvCxnSpPr>
            <a:cxnSpLocks/>
          </p:cNvCxnSpPr>
          <p:nvPr/>
        </p:nvCxnSpPr>
        <p:spPr>
          <a:xfrm>
            <a:off x="7486877" y="2516788"/>
            <a:ext cx="1859347" cy="136358"/>
          </a:xfrm>
          <a:prstGeom prst="straightConnector1">
            <a:avLst/>
          </a:prstGeom>
          <a:ln w="476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66AC738-D860-AED3-8037-A1FDF3433A84}"/>
              </a:ext>
            </a:extLst>
          </p:cNvPr>
          <p:cNvSpPr txBox="1"/>
          <p:nvPr/>
        </p:nvSpPr>
        <p:spPr>
          <a:xfrm>
            <a:off x="8065405" y="2959279"/>
            <a:ext cx="422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k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EC126A-7507-3CB2-A58C-24D1DBA4A317}"/>
              </a:ext>
            </a:extLst>
          </p:cNvPr>
          <p:cNvCxnSpPr>
            <a:cxnSpLocks/>
          </p:cNvCxnSpPr>
          <p:nvPr/>
        </p:nvCxnSpPr>
        <p:spPr>
          <a:xfrm flipH="1">
            <a:off x="7757494" y="3429000"/>
            <a:ext cx="1465888" cy="1277707"/>
          </a:xfrm>
          <a:prstGeom prst="straightConnector1">
            <a:avLst/>
          </a:prstGeom>
          <a:ln w="476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9D9C93A-5D86-49EB-F2B6-D12CCDC52364}"/>
              </a:ext>
            </a:extLst>
          </p:cNvPr>
          <p:cNvCxnSpPr>
            <a:cxnSpLocks/>
          </p:cNvCxnSpPr>
          <p:nvPr/>
        </p:nvCxnSpPr>
        <p:spPr>
          <a:xfrm flipH="1" flipV="1">
            <a:off x="6800230" y="3012777"/>
            <a:ext cx="1373294" cy="1055076"/>
          </a:xfrm>
          <a:prstGeom prst="straightConnector1">
            <a:avLst/>
          </a:prstGeom>
          <a:ln w="476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75500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EE806-BC30-E6A0-51E7-B7E51EC9E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F3FA-9B75-712C-244E-602AD495B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what is a Q vector?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7F003B0-45B8-8AD5-7CDE-949DD4728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142" y="935846"/>
            <a:ext cx="4457700" cy="5245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5C1D19-156C-1A53-B03B-44D4EA88398B}"/>
              </a:ext>
            </a:extLst>
          </p:cNvPr>
          <p:cNvSpPr txBox="1"/>
          <p:nvPr/>
        </p:nvSpPr>
        <p:spPr>
          <a:xfrm>
            <a:off x="754602" y="1287262"/>
            <a:ext cx="542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Elastic scattering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7B0427-1158-1F79-D2B2-1C3E60DB46F5}"/>
                  </a:ext>
                </a:extLst>
              </p:cNvPr>
              <p:cNvSpPr txBox="1"/>
              <p:nvPr/>
            </p:nvSpPr>
            <p:spPr>
              <a:xfrm>
                <a:off x="996351" y="1807119"/>
                <a:ext cx="1341408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|"/>
                          <m:endChr m:val="|"/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=|</m:t>
                      </m:r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7B0427-1158-1F79-D2B2-1C3E60DB46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351" y="1807119"/>
                <a:ext cx="1341408" cy="299249"/>
              </a:xfrm>
              <a:prstGeom prst="rect">
                <a:avLst/>
              </a:prstGeom>
              <a:blipFill>
                <a:blip r:embed="rId4"/>
                <a:stretch>
                  <a:fillRect t="-4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B573E3F-527C-EF1B-7B01-F826CAA5856B}"/>
              </a:ext>
            </a:extLst>
          </p:cNvPr>
          <p:cNvSpPr txBox="1"/>
          <p:nvPr/>
        </p:nvSpPr>
        <p:spPr>
          <a:xfrm>
            <a:off x="754602" y="2648309"/>
            <a:ext cx="452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single incoming neutron wavelength/energy/k vector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DC777E-2C77-C310-C6FD-0B768CE0DD83}"/>
              </a:ext>
            </a:extLst>
          </p:cNvPr>
          <p:cNvSpPr txBox="1"/>
          <p:nvPr/>
        </p:nvSpPr>
        <p:spPr>
          <a:xfrm>
            <a:off x="754602" y="3235230"/>
            <a:ext cx="4162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change of scattering direction changes the </a:t>
            </a:r>
            <a:r>
              <a:rPr lang="en-US" b="1" dirty="0"/>
              <a:t>direction</a:t>
            </a:r>
            <a:r>
              <a:rPr lang="en-US" dirty="0"/>
              <a:t> and </a:t>
            </a:r>
            <a:r>
              <a:rPr lang="en-US" b="1" dirty="0"/>
              <a:t>length</a:t>
            </a:r>
            <a:r>
              <a:rPr lang="en-US" dirty="0"/>
              <a:t> of </a:t>
            </a:r>
            <a:r>
              <a:rPr lang="en-US" b="1" dirty="0"/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14635096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C82FA-E3EC-94EC-13AD-F39FF3F9B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580E-7CB6-C5B1-67D4-379987B83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what is a Q vector?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6E916-DE77-4AF0-BF64-44F5F36F2920}"/>
              </a:ext>
            </a:extLst>
          </p:cNvPr>
          <p:cNvSpPr txBox="1"/>
          <p:nvPr/>
        </p:nvSpPr>
        <p:spPr>
          <a:xfrm>
            <a:off x="754602" y="1287262"/>
            <a:ext cx="542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Inelastic scattering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CC7C08-68B9-4D20-83B3-D9D7DC33A6E8}"/>
              </a:ext>
            </a:extLst>
          </p:cNvPr>
          <p:cNvSpPr txBox="1"/>
          <p:nvPr/>
        </p:nvSpPr>
        <p:spPr>
          <a:xfrm>
            <a:off x="754602" y="2648309"/>
            <a:ext cx="4524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a single incoming neutron wavelength/energy/k vector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41CC2-2B23-9C4B-EB36-FD16918FD5A9}"/>
              </a:ext>
            </a:extLst>
          </p:cNvPr>
          <p:cNvSpPr txBox="1"/>
          <p:nvPr/>
        </p:nvSpPr>
        <p:spPr>
          <a:xfrm>
            <a:off x="754602" y="3235230"/>
            <a:ext cx="41624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single scattering direction covers many </a:t>
            </a:r>
            <a:r>
              <a:rPr lang="en-US" b="1" dirty="0"/>
              <a:t>directions</a:t>
            </a:r>
            <a:r>
              <a:rPr lang="en-US" dirty="0"/>
              <a:t> and </a:t>
            </a:r>
            <a:r>
              <a:rPr lang="en-US" b="1" dirty="0"/>
              <a:t>lengths</a:t>
            </a:r>
            <a:r>
              <a:rPr lang="en-US" dirty="0"/>
              <a:t> of </a:t>
            </a:r>
            <a:r>
              <a:rPr lang="en-US" b="1" dirty="0"/>
              <a:t>Q</a:t>
            </a:r>
          </a:p>
        </p:txBody>
      </p:sp>
      <p:pic>
        <p:nvPicPr>
          <p:cNvPr id="9" name="Picture 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D4D149D-82B5-0E41-13CF-5BF8CAE2F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466" y="419100"/>
            <a:ext cx="3225800" cy="6019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030D52-85E0-86DE-454E-6D0B17AE476E}"/>
                  </a:ext>
                </a:extLst>
              </p:cNvPr>
              <p:cNvSpPr txBox="1"/>
              <p:nvPr/>
            </p:nvSpPr>
            <p:spPr>
              <a:xfrm>
                <a:off x="1203385" y="1829203"/>
                <a:ext cx="1089465" cy="2992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pl-P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≠|</m:t>
                      </m:r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pl-P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C030D52-85E0-86DE-454E-6D0B17AE47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385" y="1829203"/>
                <a:ext cx="1089465" cy="299249"/>
              </a:xfrm>
              <a:prstGeom prst="rect">
                <a:avLst/>
              </a:prstGeom>
              <a:blipFill>
                <a:blip r:embed="rId4"/>
                <a:stretch>
                  <a:fillRect l="-6897" t="-4167" r="-689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11740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4257D-DC2F-09F3-8700-7F650B1B7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B11D2-A099-7486-FF27-2713B49B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what is Q vector sampling?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00766EC-DD48-233F-2DC3-AE9DD351EF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886" y="477048"/>
            <a:ext cx="2945434" cy="6015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796D06-3534-376C-35F6-A32C5F450DD5}"/>
              </a:ext>
            </a:extLst>
          </p:cNvPr>
          <p:cNvSpPr txBox="1"/>
          <p:nvPr/>
        </p:nvSpPr>
        <p:spPr>
          <a:xfrm>
            <a:off x="9797320" y="962138"/>
            <a:ext cx="1926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Elastic</a:t>
            </a:r>
          </a:p>
          <a:p>
            <a:r>
              <a:rPr lang="en-US" dirty="0"/>
              <a:t>scattering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A233D3-51C5-D881-3E78-085DE2CAED8B}"/>
              </a:ext>
            </a:extLst>
          </p:cNvPr>
          <p:cNvSpPr txBox="1"/>
          <p:nvPr/>
        </p:nvSpPr>
        <p:spPr>
          <a:xfrm>
            <a:off x="9675639" y="4304581"/>
            <a:ext cx="2245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Inelastic</a:t>
            </a:r>
          </a:p>
          <a:p>
            <a:r>
              <a:rPr lang="en-US" dirty="0"/>
              <a:t>scattering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E46F04-D465-6513-8629-6DDB73D86A08}"/>
              </a:ext>
            </a:extLst>
          </p:cNvPr>
          <p:cNvSpPr txBox="1"/>
          <p:nvPr/>
        </p:nvSpPr>
        <p:spPr>
          <a:xfrm>
            <a:off x="595223" y="1164566"/>
            <a:ext cx="57365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MDANSE:</a:t>
            </a:r>
          </a:p>
          <a:p>
            <a:pPr marL="342900" indent="-342900">
              <a:buAutoNum type="arabicPeriod"/>
            </a:pPr>
            <a:r>
              <a:rPr lang="en-US" dirty="0"/>
              <a:t>We generate Q-vector shells,</a:t>
            </a:r>
          </a:p>
          <a:p>
            <a:pPr marL="342900" indent="-342900">
              <a:buAutoNum type="arabicPeriod"/>
            </a:pPr>
            <a:r>
              <a:rPr lang="en-US" dirty="0"/>
              <a:t>Results are averaged over all the vectors in a shell,</a:t>
            </a:r>
          </a:p>
          <a:p>
            <a:pPr marL="342900" indent="-342900">
              <a:buAutoNum type="arabicPeriod"/>
            </a:pPr>
            <a:r>
              <a:rPr lang="en-US" dirty="0"/>
              <a:t>For each shell, the entire energy transfer range is covered.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5AE74-9329-C223-5B59-AE74FD908C62}"/>
              </a:ext>
            </a:extLst>
          </p:cNvPr>
          <p:cNvSpPr txBox="1"/>
          <p:nvPr/>
        </p:nvSpPr>
        <p:spPr>
          <a:xfrm>
            <a:off x="595223" y="3140015"/>
            <a:ext cx="57365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real life:</a:t>
            </a:r>
          </a:p>
          <a:p>
            <a:pPr marL="342900" indent="-342900">
              <a:buAutoNum type="arabicPeriod"/>
            </a:pPr>
            <a:r>
              <a:rPr lang="en-US" dirty="0"/>
              <a:t>The </a:t>
            </a:r>
            <a:r>
              <a:rPr lang="en-US" b="1" dirty="0"/>
              <a:t>k</a:t>
            </a:r>
            <a:r>
              <a:rPr lang="en-US" b="1" baseline="-25000" dirty="0"/>
              <a:t>i</a:t>
            </a:r>
            <a:r>
              <a:rPr lang="en-US" dirty="0"/>
              <a:t> direction is fixed,</a:t>
            </a:r>
          </a:p>
          <a:p>
            <a:pPr marL="342900" indent="-342900">
              <a:buAutoNum type="arabicPeriod"/>
            </a:pPr>
            <a:r>
              <a:rPr lang="en-US" dirty="0"/>
              <a:t>Not all </a:t>
            </a:r>
            <a:r>
              <a:rPr lang="en-US" b="1" dirty="0" err="1"/>
              <a:t>k</a:t>
            </a:r>
            <a:r>
              <a:rPr lang="en-US" b="1" baseline="-25000" dirty="0" err="1"/>
              <a:t>f</a:t>
            </a:r>
            <a:r>
              <a:rPr lang="en-US" dirty="0"/>
              <a:t> directions are possible,</a:t>
            </a:r>
          </a:p>
          <a:p>
            <a:pPr marL="342900" indent="-342900">
              <a:buAutoNum type="arabicPeriod"/>
            </a:pPr>
            <a:r>
              <a:rPr lang="en-US" dirty="0"/>
              <a:t>Not for every </a:t>
            </a:r>
            <a:r>
              <a:rPr lang="en-US" b="1" dirty="0"/>
              <a:t>|Q|</a:t>
            </a:r>
            <a:r>
              <a:rPr lang="en-US" dirty="0"/>
              <a:t> value the entire energy range can be covered.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02917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4FC63-5603-FC4C-5C73-3E07A753D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FB5BA-EC31-34BC-79EB-C29F4AE4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what is Q vector sampling?</a:t>
            </a:r>
          </a:p>
        </p:txBody>
      </p:sp>
      <p:pic>
        <p:nvPicPr>
          <p:cNvPr id="4" name="Picture 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598E993-FBC6-BC14-2B7A-440B33142E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886" y="477048"/>
            <a:ext cx="2945434" cy="60158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5B0E9A-FFC7-24DC-7515-11B8AFEECA3B}"/>
              </a:ext>
            </a:extLst>
          </p:cNvPr>
          <p:cNvSpPr txBox="1"/>
          <p:nvPr/>
        </p:nvSpPr>
        <p:spPr>
          <a:xfrm>
            <a:off x="9797320" y="962138"/>
            <a:ext cx="19265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Elastic</a:t>
            </a:r>
          </a:p>
          <a:p>
            <a:r>
              <a:rPr lang="en-US" dirty="0"/>
              <a:t>scattering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AAFD2F-DCF2-F811-1383-6A95675F813A}"/>
              </a:ext>
            </a:extLst>
          </p:cNvPr>
          <p:cNvSpPr txBox="1"/>
          <p:nvPr/>
        </p:nvSpPr>
        <p:spPr>
          <a:xfrm>
            <a:off x="9675639" y="4304581"/>
            <a:ext cx="22457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Inelastic</a:t>
            </a:r>
          </a:p>
          <a:p>
            <a:r>
              <a:rPr lang="en-US" dirty="0"/>
              <a:t>scattering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5D5A67-E9C4-9BA3-F2A1-402A2D81526D}"/>
              </a:ext>
            </a:extLst>
          </p:cNvPr>
          <p:cNvSpPr txBox="1"/>
          <p:nvPr/>
        </p:nvSpPr>
        <p:spPr>
          <a:xfrm>
            <a:off x="691010" y="1104181"/>
            <a:ext cx="57365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QENS picture:</a:t>
            </a:r>
          </a:p>
          <a:p>
            <a:pPr marL="342900" indent="-342900">
              <a:buAutoNum type="arabicPeriod"/>
            </a:pPr>
            <a:r>
              <a:rPr lang="en-US" dirty="0"/>
              <a:t>Energy range is small, so even for short Q vectors we should be able to cover it,</a:t>
            </a:r>
          </a:p>
          <a:p>
            <a:pPr marL="342900" indent="-342900">
              <a:buAutoNum type="arabicPeriod"/>
            </a:pPr>
            <a:r>
              <a:rPr lang="en-US" dirty="0"/>
              <a:t>Energy range is small, so the resolution will be close to constant in the covered range.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EA43A0-76C1-C933-1AE9-CD1ECD797DAA}"/>
              </a:ext>
            </a:extLst>
          </p:cNvPr>
          <p:cNvSpPr txBox="1"/>
          <p:nvPr/>
        </p:nvSpPr>
        <p:spPr>
          <a:xfrm>
            <a:off x="691010" y="3088257"/>
            <a:ext cx="565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do we generate multiple </a:t>
            </a:r>
            <a:r>
              <a:rPr lang="en-US" b="1" dirty="0"/>
              <a:t>Q</a:t>
            </a:r>
            <a:r>
              <a:rPr lang="en-US" dirty="0"/>
              <a:t> vectors with one </a:t>
            </a:r>
            <a:r>
              <a:rPr lang="en-US" b="1" dirty="0"/>
              <a:t>|Q|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2219895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91329-A00C-E6A1-32E7-D384A4CBF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168A4-1FE6-D180-989D-7DA55641A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what is Q vector sampling?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89040-4455-BA89-8E84-288016D3E918}"/>
              </a:ext>
            </a:extLst>
          </p:cNvPr>
          <p:cNvSpPr txBox="1"/>
          <p:nvPr/>
        </p:nvSpPr>
        <p:spPr>
          <a:xfrm>
            <a:off x="699802" y="1048441"/>
            <a:ext cx="565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do we generate multiple </a:t>
            </a:r>
            <a:r>
              <a:rPr lang="en-US" b="1" dirty="0"/>
              <a:t>Q</a:t>
            </a:r>
            <a:r>
              <a:rPr lang="en-US" dirty="0"/>
              <a:t> vectors with one </a:t>
            </a:r>
            <a:r>
              <a:rPr lang="en-US" b="1" dirty="0"/>
              <a:t>|Q|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E0E05-C957-678C-BCA9-5187A6BA17B7}"/>
              </a:ext>
            </a:extLst>
          </p:cNvPr>
          <p:cNvSpPr txBox="1"/>
          <p:nvPr/>
        </p:nvSpPr>
        <p:spPr>
          <a:xfrm>
            <a:off x="699802" y="1723292"/>
            <a:ext cx="847936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you have a 0.01 mL sample of water.</a:t>
            </a:r>
          </a:p>
          <a:p>
            <a:r>
              <a:rPr lang="en-US" dirty="0"/>
              <a:t>The number of water molecules in this sample will be of the order of 10</a:t>
            </a:r>
            <a:r>
              <a:rPr lang="en-US" baseline="30000" dirty="0"/>
              <a:t>20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How does your trajectory compare to this?</a:t>
            </a:r>
          </a:p>
        </p:txBody>
      </p:sp>
    </p:spTree>
    <p:extLst>
      <p:ext uri="{BB962C8B-B14F-4D97-AF65-F5344CB8AC3E}">
        <p14:creationId xmlns:p14="http://schemas.microsoft.com/office/powerpoint/2010/main" val="16737345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52C20-2DA7-98E1-2955-40F894E4A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4F52-6C8A-1939-9E0A-F543B2F13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Neutrons: what is Q vector sampling?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2828F-A8CC-4C5E-22C4-918101B0EC69}"/>
              </a:ext>
            </a:extLst>
          </p:cNvPr>
          <p:cNvSpPr txBox="1"/>
          <p:nvPr/>
        </p:nvSpPr>
        <p:spPr>
          <a:xfrm>
            <a:off x="699802" y="1048441"/>
            <a:ext cx="565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do we generate multiple </a:t>
            </a:r>
            <a:r>
              <a:rPr lang="en-US" b="1" dirty="0"/>
              <a:t>Q</a:t>
            </a:r>
            <a:r>
              <a:rPr lang="en-US" dirty="0"/>
              <a:t> vectors with one </a:t>
            </a:r>
            <a:r>
              <a:rPr lang="en-US" b="1" dirty="0"/>
              <a:t>|Q|</a:t>
            </a:r>
            <a:r>
              <a:rPr lang="en-US" dirty="0"/>
              <a:t>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492D86-9BF9-AB26-6D39-B123815CC163}"/>
              </a:ext>
            </a:extLst>
          </p:cNvPr>
          <p:cNvSpPr txBox="1"/>
          <p:nvPr/>
        </p:nvSpPr>
        <p:spPr>
          <a:xfrm>
            <a:off x="699802" y="1723292"/>
            <a:ext cx="92179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Imagine you have a 0.01 mL sample of water.</a:t>
            </a:r>
          </a:p>
          <a:p>
            <a:r>
              <a:rPr lang="en-US" dirty="0"/>
              <a:t>The number of water molecules in this sample will be of the order of 10</a:t>
            </a:r>
            <a:r>
              <a:rPr lang="en-US" baseline="30000" dirty="0"/>
              <a:t>20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How does your trajectory compare to this?</a:t>
            </a:r>
          </a:p>
          <a:p>
            <a:endParaRPr lang="en-US" dirty="0"/>
          </a:p>
          <a:p>
            <a:r>
              <a:rPr lang="en-US" dirty="0"/>
              <a:t>We don’t sample all that many configurations in an MD trajectory.</a:t>
            </a:r>
          </a:p>
          <a:p>
            <a:r>
              <a:rPr lang="en-US" dirty="0"/>
              <a:t>Spherical sampling helps us re-use the same configurations in </a:t>
            </a:r>
            <a:r>
              <a:rPr lang="en-US" b="1" dirty="0"/>
              <a:t>different orientations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0519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6C0FE-2CCE-F10D-25A7-0CE403B52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BE5E-E344-98C0-FADA-5C50F25CD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Do we need </a:t>
            </a:r>
            <a:r>
              <a:rPr lang="en-GB" b="1" u="sng" dirty="0"/>
              <a:t>spherical</a:t>
            </a:r>
            <a:r>
              <a:rPr lang="en-GB" b="1" dirty="0"/>
              <a:t> averaging?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8FEE8B-F910-7799-5C36-2C7EACD79662}"/>
              </a:ext>
            </a:extLst>
          </p:cNvPr>
          <p:cNvSpPr txBox="1"/>
          <p:nvPr/>
        </p:nvSpPr>
        <p:spPr>
          <a:xfrm>
            <a:off x="3842239" y="1969478"/>
            <a:ext cx="269923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System order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none (isotropic)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1D (nematic)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2D (layered)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3D (crystal)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85E95-8C74-8DA8-2969-86EEC75365CB}"/>
              </a:ext>
            </a:extLst>
          </p:cNvPr>
          <p:cNvSpPr txBox="1"/>
          <p:nvPr/>
        </p:nvSpPr>
        <p:spPr>
          <a:xfrm>
            <a:off x="8346832" y="1969478"/>
            <a:ext cx="289853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u="sng" dirty="0"/>
              <a:t>Q vectors symmetry</a:t>
            </a:r>
          </a:p>
          <a:p>
            <a:pPr algn="ctr"/>
            <a:endParaRPr lang="en-US" sz="2400" i="1" dirty="0"/>
          </a:p>
          <a:p>
            <a:pPr algn="ctr"/>
            <a:r>
              <a:rPr lang="en-US" sz="2400" dirty="0"/>
              <a:t>spherical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circular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linear</a:t>
            </a:r>
          </a:p>
          <a:p>
            <a:pPr algn="ctr"/>
            <a:endParaRPr lang="en-US" sz="2400" dirty="0"/>
          </a:p>
          <a:p>
            <a:pPr algn="ctr"/>
            <a:r>
              <a:rPr lang="en-US" sz="2400" dirty="0"/>
              <a:t>individual points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E020383-5A9D-19F0-8FB7-ED6698D8DE7B}"/>
              </a:ext>
            </a:extLst>
          </p:cNvPr>
          <p:cNvCxnSpPr/>
          <p:nvPr/>
        </p:nvCxnSpPr>
        <p:spPr>
          <a:xfrm>
            <a:off x="6488723" y="2936632"/>
            <a:ext cx="1907931" cy="0"/>
          </a:xfrm>
          <a:prstGeom prst="straightConnector1">
            <a:avLst/>
          </a:prstGeom>
          <a:ln w="349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746930C-D901-2DE1-55C7-72AA144971B9}"/>
              </a:ext>
            </a:extLst>
          </p:cNvPr>
          <p:cNvCxnSpPr/>
          <p:nvPr/>
        </p:nvCxnSpPr>
        <p:spPr>
          <a:xfrm>
            <a:off x="6488723" y="3677638"/>
            <a:ext cx="1907931" cy="0"/>
          </a:xfrm>
          <a:prstGeom prst="straightConnector1">
            <a:avLst/>
          </a:prstGeom>
          <a:ln w="349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651FDB-6E2B-9E62-CDB0-26A6A5E24733}"/>
              </a:ext>
            </a:extLst>
          </p:cNvPr>
          <p:cNvCxnSpPr/>
          <p:nvPr/>
        </p:nvCxnSpPr>
        <p:spPr>
          <a:xfrm>
            <a:off x="6488723" y="4390294"/>
            <a:ext cx="1907931" cy="0"/>
          </a:xfrm>
          <a:prstGeom prst="straightConnector1">
            <a:avLst/>
          </a:prstGeom>
          <a:ln w="349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7FA9F1-14FD-ED15-6CF0-C29ACE56B9AE}"/>
              </a:ext>
            </a:extLst>
          </p:cNvPr>
          <p:cNvCxnSpPr/>
          <p:nvPr/>
        </p:nvCxnSpPr>
        <p:spPr>
          <a:xfrm>
            <a:off x="6488722" y="5128848"/>
            <a:ext cx="1907931" cy="0"/>
          </a:xfrm>
          <a:prstGeom prst="straightConnector1">
            <a:avLst/>
          </a:prstGeom>
          <a:ln w="3492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6FF4C6A-1315-ABFB-953A-5BDFAC34B16E}"/>
              </a:ext>
            </a:extLst>
          </p:cNvPr>
          <p:cNvSpPr txBox="1"/>
          <p:nvPr/>
        </p:nvSpPr>
        <p:spPr>
          <a:xfrm>
            <a:off x="323808" y="1102870"/>
            <a:ext cx="5375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Or, what are all the other vector generators for?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E4767B2-C1FE-B98A-1C15-589C728FD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853" y="1610447"/>
            <a:ext cx="2623486" cy="36371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5639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F0D74-6060-585D-3B57-BBDAA6FB9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B06B5-4AE3-B8E8-E750-B7F837DFA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use Q vectors for isotropic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9930D-AEB4-A4B2-7A71-25EB5F376E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508" y="994508"/>
            <a:ext cx="7772400" cy="527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7460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FB54F-F9E1-199B-8159-93BB7ED4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CCF46-4EC1-E7C5-B14E-8506CBC6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22ED9-A326-F81C-06C4-F120F3B86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Space limits: </a:t>
            </a:r>
            <a:r>
              <a:rPr lang="en-GB" u="sng" dirty="0">
                <a:latin typeface="Arial"/>
                <a:cs typeface="Arial"/>
              </a:rPr>
              <a:t>size of the simulation box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B377E-920D-28EC-04F6-FAB3CA48E2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1532" y="2364805"/>
            <a:ext cx="7556500" cy="3594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0A003B-B0BC-C75E-4E25-0B6BF9E3DACC}"/>
              </a:ext>
            </a:extLst>
          </p:cNvPr>
          <p:cNvSpPr txBox="1"/>
          <p:nvPr/>
        </p:nvSpPr>
        <p:spPr>
          <a:xfrm>
            <a:off x="4235670" y="1687484"/>
            <a:ext cx="28588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Lattice</a:t>
            </a:r>
          </a:p>
          <a:p>
            <a:r>
              <a:rPr lang="en-US" dirty="0"/>
              <a:t>constant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562F72-93A8-FB1C-50E5-53F5678E2BD6}"/>
                  </a:ext>
                </a:extLst>
              </p:cNvPr>
              <p:cNvSpPr txBox="1"/>
              <p:nvPr/>
            </p:nvSpPr>
            <p:spPr>
              <a:xfrm>
                <a:off x="9359462" y="5349189"/>
                <a:ext cx="333553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562F72-93A8-FB1C-50E5-53F5678E2B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9462" y="5349189"/>
                <a:ext cx="333553" cy="518604"/>
              </a:xfrm>
              <a:prstGeom prst="rect">
                <a:avLst/>
              </a:prstGeom>
              <a:blipFill>
                <a:blip r:embed="rId4"/>
                <a:stretch>
                  <a:fillRect l="-14286" t="-2326" r="-14286" b="-93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DDB592-388F-395F-BDD3-968CADCB06A7}"/>
                  </a:ext>
                </a:extLst>
              </p:cNvPr>
              <p:cNvSpPr txBox="1"/>
              <p:nvPr/>
            </p:nvSpPr>
            <p:spPr>
              <a:xfrm>
                <a:off x="4545724" y="2284652"/>
                <a:ext cx="1980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7DDB592-388F-395F-BDD3-968CADCB06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724" y="2284652"/>
                <a:ext cx="198003" cy="276999"/>
              </a:xfrm>
              <a:prstGeom prst="rect">
                <a:avLst/>
              </a:prstGeom>
              <a:blipFill>
                <a:blip r:embed="rId5"/>
                <a:stretch>
                  <a:fillRect l="-18750" r="-12500"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47565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50E45-BD3B-9D21-D135-7C87721EB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5684-29A6-27EA-B4D5-F7F3CF4D6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Molecular Dynamics: the boundary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04A61-EEDB-FBD2-ECC5-7EE029BE8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Increasing the size of the system gives access to lower Q values.</a:t>
            </a: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Space limits: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Size of the simulation box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BC32E6B-3A5A-7CAC-4AAB-B20C50390C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95386" y="2213841"/>
            <a:ext cx="7556500" cy="3594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3FD6F7F-0A3A-FB0B-5C58-4AF71F7E1026}"/>
              </a:ext>
            </a:extLst>
          </p:cNvPr>
          <p:cNvSpPr txBox="1"/>
          <p:nvPr/>
        </p:nvSpPr>
        <p:spPr>
          <a:xfrm>
            <a:off x="7662041" y="1844509"/>
            <a:ext cx="2764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supercell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19ECA1-E5E7-A92C-A6FD-A0D8BB947768}"/>
                  </a:ext>
                </a:extLst>
              </p:cNvPr>
              <p:cNvSpPr txBox="1"/>
              <p:nvPr/>
            </p:nvSpPr>
            <p:spPr>
              <a:xfrm>
                <a:off x="4776952" y="5073730"/>
                <a:ext cx="6767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pl-PL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B19ECA1-E5E7-A92C-A6FD-A0D8BB947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6952" y="5073730"/>
                <a:ext cx="676788" cy="276999"/>
              </a:xfrm>
              <a:prstGeom prst="rect">
                <a:avLst/>
              </a:prstGeom>
              <a:blipFill>
                <a:blip r:embed="rId5"/>
                <a:stretch>
                  <a:fillRect l="-9259" r="-5556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0464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177C2-71F2-A7A0-F33B-798EBDDFF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use Q vectors for isotropic systems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6C0223-8738-74DC-1110-32BB45652C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7508" y="994508"/>
            <a:ext cx="7772400" cy="527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015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245F0-0026-2986-2ECD-E4A66A82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7CB2-B05B-3983-14B4-DFDAA121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we use Q vectors for isotropic systems, using only lattice vectors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2AC50D-F458-8E1D-0BBB-579B68CB5C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844" y="997708"/>
            <a:ext cx="8172583" cy="5112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1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5FF8E-F7A5-0D64-0887-BA53AED4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Lattice vectors vs. spherical averaging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614EB-C077-813A-D8C7-AB5C9CB30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4653219" cy="3865591"/>
          </a:xfrm>
        </p:spPr>
        <p:txBody>
          <a:bodyPr/>
          <a:lstStyle/>
          <a:p>
            <a:r>
              <a:rPr lang="en-GB" dirty="0"/>
              <a:t>MDANSE was originally designed for liquid or powdered systems, usually q-vectors will be generated in a spherical shell and results are averaged.</a:t>
            </a:r>
          </a:p>
          <a:p>
            <a:r>
              <a:rPr lang="en-GB" dirty="0"/>
              <a:t>A new mechanism to improve the spherical averaging has been added.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4224A6-4C16-4051-4568-2BE2936864B8}"/>
              </a:ext>
            </a:extLst>
          </p:cNvPr>
          <p:cNvSpPr txBox="1"/>
          <p:nvPr/>
        </p:nvSpPr>
        <p:spPr>
          <a:xfrm>
            <a:off x="8796867" y="1069225"/>
            <a:ext cx="296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Generate reciprocal lattice points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1D45290-89B8-584F-6FA8-CFB4E7161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2033" y="1715556"/>
            <a:ext cx="5416400" cy="4460565"/>
          </a:xfrm>
          <a:prstGeom prst="rect">
            <a:avLst/>
          </a:prstGeom>
        </p:spPr>
      </p:pic>
      <p:sp>
        <p:nvSpPr>
          <p:cNvPr id="28" name="Arrow: Down 27">
            <a:extLst>
              <a:ext uri="{FF2B5EF4-FFF2-40B4-BE49-F238E27FC236}">
                <a16:creationId xmlns:a16="http://schemas.microsoft.com/office/drawing/2014/main" id="{94EDCBFB-29C9-BC07-726E-8DD07E8AAA74}"/>
              </a:ext>
            </a:extLst>
          </p:cNvPr>
          <p:cNvSpPr/>
          <p:nvPr/>
        </p:nvSpPr>
        <p:spPr>
          <a:xfrm rot="15139941">
            <a:off x="6105809" y="3706915"/>
            <a:ext cx="311574" cy="76829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FB95EF9-F71C-0575-6A1C-C459FC709DB2}"/>
              </a:ext>
            </a:extLst>
          </p:cNvPr>
          <p:cNvSpPr txBox="1"/>
          <p:nvPr/>
        </p:nvSpPr>
        <p:spPr>
          <a:xfrm>
            <a:off x="4587892" y="3898889"/>
            <a:ext cx="1260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Non-cubic lattice</a:t>
            </a:r>
          </a:p>
        </p:txBody>
      </p:sp>
    </p:spTree>
    <p:extLst>
      <p:ext uri="{BB962C8B-B14F-4D97-AF65-F5344CB8AC3E}">
        <p14:creationId xmlns:p14="http://schemas.microsoft.com/office/powerpoint/2010/main" val="26089919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B8D3A-6D32-AB2F-ADAE-F4675BE5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A8667-BF68-E420-A571-8EF87B453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Lattice vectors vs. spherical averaging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E25DD-1679-8F1B-168F-1EF84D695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4653219" cy="3865591"/>
          </a:xfrm>
        </p:spPr>
        <p:txBody>
          <a:bodyPr/>
          <a:lstStyle/>
          <a:p>
            <a:r>
              <a:rPr lang="en-GB" dirty="0"/>
              <a:t>MDANSE was originally designed for liquid or powdered systems, usually q-vectors will be generated in a spherical shell and results are averaged.</a:t>
            </a:r>
          </a:p>
          <a:p>
            <a:r>
              <a:rPr lang="en-GB" dirty="0"/>
              <a:t>A new mechanism to improve the spherical averaging has been added.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27D8A2-539D-924A-6DC0-011630A81657}"/>
              </a:ext>
            </a:extLst>
          </p:cNvPr>
          <p:cNvSpPr txBox="1"/>
          <p:nvPr/>
        </p:nvSpPr>
        <p:spPr>
          <a:xfrm>
            <a:off x="8796867" y="1069225"/>
            <a:ext cx="2963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Select reciprocal lattice points in a shell.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80192E48-81A9-828E-676F-97EA856FB5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022" y="1719788"/>
            <a:ext cx="5406120" cy="445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5186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097F1-B7EE-D221-03E5-548CD9A8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CB8A2-A9DC-31DD-8F6E-C356F196C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Lattice vectors vs. spherical averaging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3CA957-733A-09BE-7A1A-51C80CDDC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4653219" cy="3865591"/>
          </a:xfrm>
        </p:spPr>
        <p:txBody>
          <a:bodyPr/>
          <a:lstStyle/>
          <a:p>
            <a:r>
              <a:rPr lang="en-GB" dirty="0"/>
              <a:t>MDANSE was originally designed for liquid or powdered systems, usually q-vectors will be generated in a spherical shell and results are averaged.</a:t>
            </a:r>
          </a:p>
          <a:p>
            <a:r>
              <a:rPr lang="en-GB" dirty="0"/>
              <a:t>A new mechanism to improve the spherical averaging has been added.</a:t>
            </a:r>
          </a:p>
          <a:p>
            <a:r>
              <a:rPr lang="en-GB" dirty="0"/>
              <a:t>Old scheme can still be used by setting equal weights.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4C625C-B4FD-83C7-3E72-B43F0A2CDC4D}"/>
              </a:ext>
            </a:extLst>
          </p:cNvPr>
          <p:cNvSpPr txBox="1"/>
          <p:nvPr/>
        </p:nvSpPr>
        <p:spPr>
          <a:xfrm>
            <a:off x="9033933" y="1069224"/>
            <a:ext cx="2726267" cy="937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Calculate S(q, w) averaged over the q-vectors in the shell.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B7BACA-815F-71A9-A859-959FC6AFEA31}"/>
              </a:ext>
            </a:extLst>
          </p:cNvPr>
          <p:cNvSpPr txBox="1"/>
          <p:nvPr/>
        </p:nvSpPr>
        <p:spPr>
          <a:xfrm>
            <a:off x="5901266" y="1353245"/>
            <a:ext cx="1553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3088"/>
                </a:solidFill>
              </a:rPr>
              <a:t>Old scheme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B290B6-7AEA-0BEF-D6C8-C98637BA1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9022" y="1715556"/>
            <a:ext cx="5416853" cy="446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656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3A86A-A813-833D-7686-9168A916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254F5-CBE8-CA97-CC8D-E402B7FE4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Lattice vectors vs. spherical averaging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34423-F6CE-686C-33EC-9DFF68EA3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4653219" cy="3865591"/>
          </a:xfrm>
        </p:spPr>
        <p:txBody>
          <a:bodyPr/>
          <a:lstStyle/>
          <a:p>
            <a:r>
              <a:rPr lang="en-GB" dirty="0"/>
              <a:t>MDANSE was originally designed for liquid or powdered systems, usually q-vectors will be generated in a spherical shell and results are averaged.</a:t>
            </a:r>
          </a:p>
          <a:p>
            <a:r>
              <a:rPr lang="en-GB" dirty="0"/>
              <a:t>A new mechanism to improve the spherical averaging has been added.</a:t>
            </a:r>
          </a:p>
          <a:p>
            <a:r>
              <a:rPr lang="en-GB" dirty="0"/>
              <a:t>Old scheme can still be used by setting equal weights.</a:t>
            </a:r>
          </a:p>
          <a:p>
            <a:r>
              <a:rPr lang="en-GB" dirty="0"/>
              <a:t>New scheme weights q-vectors based on its shell Voronoi cell volume.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499E6B-E70D-AB0D-76A7-1AFC07D58FFF}"/>
              </a:ext>
            </a:extLst>
          </p:cNvPr>
          <p:cNvSpPr txBox="1"/>
          <p:nvPr/>
        </p:nvSpPr>
        <p:spPr>
          <a:xfrm>
            <a:off x="9033933" y="1069224"/>
            <a:ext cx="2726267" cy="937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Calculate S(q, w) with a weighted averaged over the q-vectors in the shell.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76225-C615-3B72-8EAA-F5A3440C95EB}"/>
              </a:ext>
            </a:extLst>
          </p:cNvPr>
          <p:cNvSpPr txBox="1"/>
          <p:nvPr/>
        </p:nvSpPr>
        <p:spPr>
          <a:xfrm>
            <a:off x="5901266" y="1353245"/>
            <a:ext cx="1744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3088"/>
                </a:solidFill>
              </a:rPr>
              <a:t>New scheme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560F5F5-08B1-8967-DBF4-2DE8C56822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942" y="1715556"/>
            <a:ext cx="4616738" cy="4139144"/>
          </a:xfrm>
          <a:prstGeom prst="rect">
            <a:avLst/>
          </a:prstGeom>
        </p:spPr>
      </p:pic>
      <p:sp>
        <p:nvSpPr>
          <p:cNvPr id="16" name="Arrow: Down 15">
            <a:extLst>
              <a:ext uri="{FF2B5EF4-FFF2-40B4-BE49-F238E27FC236}">
                <a16:creationId xmlns:a16="http://schemas.microsoft.com/office/drawing/2014/main" id="{80AF1ED6-A17E-C18E-986B-EAF0528CFBF8}"/>
              </a:ext>
            </a:extLst>
          </p:cNvPr>
          <p:cNvSpPr/>
          <p:nvPr/>
        </p:nvSpPr>
        <p:spPr>
          <a:xfrm rot="13750201">
            <a:off x="6914377" y="4492678"/>
            <a:ext cx="311574" cy="76829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F900D1-FD71-C14E-BEBD-0CF05F636135}"/>
              </a:ext>
            </a:extLst>
          </p:cNvPr>
          <p:cNvSpPr txBox="1"/>
          <p:nvPr/>
        </p:nvSpPr>
        <p:spPr>
          <a:xfrm>
            <a:off x="5901266" y="5181589"/>
            <a:ext cx="132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Larger 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F3C58D-B310-CD85-DD3B-F48191844A0E}"/>
              </a:ext>
            </a:extLst>
          </p:cNvPr>
          <p:cNvSpPr txBox="1"/>
          <p:nvPr/>
        </p:nvSpPr>
        <p:spPr>
          <a:xfrm>
            <a:off x="9152466" y="6086437"/>
            <a:ext cx="1323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Smaller weight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2F8E7ADB-6FF0-70FD-3978-9779B24483CE}"/>
              </a:ext>
            </a:extLst>
          </p:cNvPr>
          <p:cNvSpPr/>
          <p:nvPr/>
        </p:nvSpPr>
        <p:spPr>
          <a:xfrm rot="9505324">
            <a:off x="9101238" y="5313274"/>
            <a:ext cx="311574" cy="768296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00795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F0B37-6C80-C3A6-15A1-7BCAC804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25117-25B9-F44C-A7B2-B49336C5F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MDANSE implementation of a “neutron instrument”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DB8918E-CA91-2B9E-94FB-DACDA3E548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345" y="1109087"/>
            <a:ext cx="5106446" cy="1955660"/>
          </a:xfrm>
          <a:prstGeom prst="rect">
            <a:avLst/>
          </a:prstGeom>
        </p:spPr>
      </p:pic>
      <p:pic>
        <p:nvPicPr>
          <p:cNvPr id="6" name="Picture 5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64548DAE-235B-0E43-F214-398DE6BD4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273" y="3872845"/>
            <a:ext cx="5788665" cy="1402540"/>
          </a:xfrm>
          <a:prstGeom prst="rect">
            <a:avLst/>
          </a:prstGeom>
        </p:spPr>
      </p:pic>
      <p:cxnSp>
        <p:nvCxnSpPr>
          <p:cNvPr id="8" name="Elbow Connector 7">
            <a:extLst>
              <a:ext uri="{FF2B5EF4-FFF2-40B4-BE49-F238E27FC236}">
                <a16:creationId xmlns:a16="http://schemas.microsoft.com/office/drawing/2014/main" id="{BE4E0D80-BF55-6863-C771-365D4D253681}"/>
              </a:ext>
            </a:extLst>
          </p:cNvPr>
          <p:cNvCxnSpPr>
            <a:stCxn id="4" idx="2"/>
            <a:endCxn id="6" idx="1"/>
          </p:cNvCxnSpPr>
          <p:nvPr/>
        </p:nvCxnSpPr>
        <p:spPr>
          <a:xfrm rot="16200000" flipH="1">
            <a:off x="3492736" y="2488578"/>
            <a:ext cx="1509368" cy="26617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AB08413-23BB-4D41-F770-E1DABE0386F4}"/>
              </a:ext>
            </a:extLst>
          </p:cNvPr>
          <p:cNvSpPr txBox="1"/>
          <p:nvPr/>
        </p:nvSpPr>
        <p:spPr>
          <a:xfrm>
            <a:off x="5968721" y="1477108"/>
            <a:ext cx="52050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Basic features of a neutron instrument:</a:t>
            </a:r>
          </a:p>
          <a:p>
            <a:pPr marL="285750" indent="-285750">
              <a:buFontTx/>
              <a:buChar char="-"/>
            </a:pPr>
            <a:r>
              <a:rPr lang="en-US" dirty="0"/>
              <a:t>Resolution (constant, energy independent)</a:t>
            </a:r>
          </a:p>
          <a:p>
            <a:pPr marL="285750" indent="-285750">
              <a:buFontTx/>
              <a:buChar char="-"/>
            </a:pPr>
            <a:r>
              <a:rPr lang="en-US" dirty="0"/>
              <a:t>Coverage (evenly spaced in Q, finite width)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2188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E870A-E9B7-E638-E11D-272ABC447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and red graph&#10;&#10;Description automatically generated with medium confidence">
            <a:extLst>
              <a:ext uri="{FF2B5EF4-FFF2-40B4-BE49-F238E27FC236}">
                <a16:creationId xmlns:a16="http://schemas.microsoft.com/office/drawing/2014/main" id="{69EFDDB4-7093-3826-D028-729E58009F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267" y="601306"/>
            <a:ext cx="4988345" cy="49622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2EDD6C8-73B9-D1AD-26FF-87EE206D3466}"/>
              </a:ext>
            </a:extLst>
          </p:cNvPr>
          <p:cNvSpPr txBox="1"/>
          <p:nvPr/>
        </p:nvSpPr>
        <p:spPr>
          <a:xfrm>
            <a:off x="6115805" y="5684809"/>
            <a:ext cx="58055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4"/>
              </a:rPr>
              <a:t>https://doi.org/10.1016/j.nima.2011.01.173</a:t>
            </a:r>
            <a:endParaRPr lang="en-US" dirty="0"/>
          </a:p>
          <a:p>
            <a:r>
              <a:rPr lang="en-US" dirty="0"/>
              <a:t>R.I. Bewley et al., Nuclear Instruments and Methods A, Volume 637, Issue 1, (2011) 128-134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DC6E7E-0468-6D56-362C-E89C56C21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MDANSE implementation of a “neutron instrument”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67007A-21BF-0AE7-5AE7-8EF3F68E17A5}"/>
              </a:ext>
            </a:extLst>
          </p:cNvPr>
          <p:cNvSpPr txBox="1"/>
          <p:nvPr/>
        </p:nvSpPr>
        <p:spPr>
          <a:xfrm>
            <a:off x="3848639" y="918239"/>
            <a:ext cx="3368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real life, at different Q we get different energy coverage.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044DF3-EA06-99B6-920F-D667140AAA40}"/>
              </a:ext>
            </a:extLst>
          </p:cNvPr>
          <p:cNvSpPr txBox="1"/>
          <p:nvPr/>
        </p:nvSpPr>
        <p:spPr>
          <a:xfrm>
            <a:off x="544388" y="1754817"/>
            <a:ext cx="33681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MDANSE, we get full energy range at every Q.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4CDBAC9-6801-454B-1D14-016F2CACB1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228" y="2591396"/>
            <a:ext cx="5805577" cy="297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523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DA366-97A9-A407-0FE8-0A4C8E585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Interlude: neutron properties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0CBD9B-D1FC-05C6-0313-110D62C5F4DD}"/>
              </a:ext>
            </a:extLst>
          </p:cNvPr>
          <p:cNvSpPr txBox="1"/>
          <p:nvPr/>
        </p:nvSpPr>
        <p:spPr>
          <a:xfrm>
            <a:off x="3236143" y="1411852"/>
            <a:ext cx="128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Energy (</a:t>
            </a:r>
            <a:r>
              <a:rPr lang="en-US" dirty="0" err="1"/>
              <a:t>meV</a:t>
            </a:r>
            <a:r>
              <a:rPr lang="en-US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06C456-D7F7-0034-64A1-801C262618F4}"/>
              </a:ext>
            </a:extLst>
          </p:cNvPr>
          <p:cNvSpPr txBox="1"/>
          <p:nvPr/>
        </p:nvSpPr>
        <p:spPr>
          <a:xfrm>
            <a:off x="5017056" y="1411852"/>
            <a:ext cx="1338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Momentum</a:t>
            </a:r>
          </a:p>
          <a:p>
            <a:pPr algn="ctr"/>
            <a:r>
              <a:rPr lang="en-US" dirty="0"/>
              <a:t>(1/Ang)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BF6828-F486-4899-66C5-F2F94925AC0A}"/>
              </a:ext>
            </a:extLst>
          </p:cNvPr>
          <p:cNvSpPr txBox="1"/>
          <p:nvPr/>
        </p:nvSpPr>
        <p:spPr>
          <a:xfrm>
            <a:off x="7255902" y="1426983"/>
            <a:ext cx="12836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Velocity (m/s)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DFE484-177F-6BAD-3CFF-4BADEB817C54}"/>
              </a:ext>
            </a:extLst>
          </p:cNvPr>
          <p:cNvSpPr txBox="1"/>
          <p:nvPr/>
        </p:nvSpPr>
        <p:spPr>
          <a:xfrm>
            <a:off x="9091664" y="1129887"/>
            <a:ext cx="17555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 of flight</a:t>
            </a:r>
          </a:p>
          <a:p>
            <a:pPr algn="ctr"/>
            <a:r>
              <a:rPr lang="en-US" dirty="0"/>
              <a:t>10 m distance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ms</a:t>
            </a:r>
            <a:r>
              <a:rPr lang="en-US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DFFF3-A6AE-6712-4994-42EB7FD4EA50}"/>
              </a:ext>
            </a:extLst>
          </p:cNvPr>
          <p:cNvSpPr txBox="1"/>
          <p:nvPr/>
        </p:nvSpPr>
        <p:spPr>
          <a:xfrm>
            <a:off x="1001308" y="1424383"/>
            <a:ext cx="15386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Wavelength</a:t>
            </a:r>
          </a:p>
          <a:p>
            <a:pPr algn="ctr"/>
            <a:r>
              <a:rPr lang="en-US" dirty="0"/>
              <a:t>(Ang)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E4F7AB-E1B3-54E1-B6FD-DA75AF3F2971}"/>
              </a:ext>
            </a:extLst>
          </p:cNvPr>
          <p:cNvSpPr txBox="1"/>
          <p:nvPr/>
        </p:nvSpPr>
        <p:spPr>
          <a:xfrm>
            <a:off x="920079" y="2238602"/>
            <a:ext cx="1597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</a:t>
            </a:r>
          </a:p>
          <a:p>
            <a:pPr algn="ctr"/>
            <a:r>
              <a:rPr lang="en-US" dirty="0"/>
              <a:t>2</a:t>
            </a:r>
          </a:p>
          <a:p>
            <a:pPr algn="ctr"/>
            <a:r>
              <a:rPr lang="en-US" dirty="0"/>
              <a:t>3</a:t>
            </a:r>
          </a:p>
          <a:p>
            <a:pPr algn="ctr"/>
            <a:r>
              <a:rPr lang="en-US" dirty="0"/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7E576A-280E-A29D-2EC9-7AFE7FA62895}"/>
              </a:ext>
            </a:extLst>
          </p:cNvPr>
          <p:cNvSpPr txBox="1"/>
          <p:nvPr/>
        </p:nvSpPr>
        <p:spPr>
          <a:xfrm>
            <a:off x="3079137" y="2238602"/>
            <a:ext cx="1597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81.787</a:t>
            </a:r>
          </a:p>
          <a:p>
            <a:pPr algn="ctr"/>
            <a:r>
              <a:rPr lang="en-US" dirty="0"/>
              <a:t>20.447</a:t>
            </a:r>
          </a:p>
          <a:p>
            <a:pPr algn="ctr"/>
            <a:r>
              <a:rPr lang="en-US" dirty="0"/>
              <a:t>9.087</a:t>
            </a:r>
          </a:p>
          <a:p>
            <a:pPr algn="ctr"/>
            <a:r>
              <a:rPr lang="en-US" dirty="0"/>
              <a:t>0.82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BC3A7E-D62E-FD49-167C-6BF24777BA5C}"/>
              </a:ext>
            </a:extLst>
          </p:cNvPr>
          <p:cNvSpPr txBox="1"/>
          <p:nvPr/>
        </p:nvSpPr>
        <p:spPr>
          <a:xfrm>
            <a:off x="4887475" y="2238602"/>
            <a:ext cx="1597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6.283</a:t>
            </a:r>
          </a:p>
          <a:p>
            <a:pPr algn="ctr"/>
            <a:r>
              <a:rPr lang="en-US" dirty="0"/>
              <a:t>3.142</a:t>
            </a:r>
          </a:p>
          <a:p>
            <a:pPr algn="ctr"/>
            <a:r>
              <a:rPr lang="en-US" dirty="0"/>
              <a:t>2.094</a:t>
            </a:r>
          </a:p>
          <a:p>
            <a:pPr algn="ctr"/>
            <a:r>
              <a:rPr lang="en-US" dirty="0"/>
              <a:t>0.628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E510FF-3B01-032E-D5AE-5503C3575BB8}"/>
              </a:ext>
            </a:extLst>
          </p:cNvPr>
          <p:cNvSpPr txBox="1"/>
          <p:nvPr/>
        </p:nvSpPr>
        <p:spPr>
          <a:xfrm>
            <a:off x="7098896" y="2238602"/>
            <a:ext cx="15976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3955</a:t>
            </a:r>
          </a:p>
          <a:p>
            <a:pPr algn="ctr"/>
            <a:r>
              <a:rPr lang="en-US" dirty="0"/>
              <a:t>1978</a:t>
            </a:r>
          </a:p>
          <a:p>
            <a:pPr algn="ctr"/>
            <a:r>
              <a:rPr lang="en-US" dirty="0"/>
              <a:t>1318</a:t>
            </a:r>
          </a:p>
          <a:p>
            <a:pPr algn="ctr"/>
            <a:r>
              <a:rPr lang="en-US" dirty="0"/>
              <a:t>396</a:t>
            </a:r>
          </a:p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B0C882-D2DE-9D6F-D6C5-C1BFA3CC63F1}"/>
              </a:ext>
            </a:extLst>
          </p:cNvPr>
          <p:cNvSpPr txBox="1"/>
          <p:nvPr/>
        </p:nvSpPr>
        <p:spPr>
          <a:xfrm>
            <a:off x="9170585" y="2241955"/>
            <a:ext cx="159768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2.53</a:t>
            </a:r>
          </a:p>
          <a:p>
            <a:pPr algn="ctr"/>
            <a:r>
              <a:rPr lang="en-US" dirty="0"/>
              <a:t>5.01</a:t>
            </a:r>
          </a:p>
          <a:p>
            <a:pPr algn="ctr"/>
            <a:r>
              <a:rPr lang="en-US" dirty="0"/>
              <a:t>7.6</a:t>
            </a:r>
          </a:p>
          <a:p>
            <a:pPr algn="ctr"/>
            <a:r>
              <a:rPr lang="en-US" dirty="0"/>
              <a:t>25.3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9D4F3F-FA2F-C081-E73F-93C5F0C293A6}"/>
              </a:ext>
            </a:extLst>
          </p:cNvPr>
          <p:cNvCxnSpPr/>
          <p:nvPr/>
        </p:nvCxnSpPr>
        <p:spPr>
          <a:xfrm>
            <a:off x="920079" y="2162908"/>
            <a:ext cx="103428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1213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F33CA-3525-CA71-849C-A30D8440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375FF-5843-25A9-747A-411B9F0C7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Neutron time of flight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3FECBD-3B8F-0E7F-15D1-6A9C1E613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11654683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Main principle:</a:t>
            </a: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We determine the neutron wavelength (and therefore energy) based on the</a:t>
            </a:r>
          </a:p>
          <a:p>
            <a:pPr marL="0" indent="0">
              <a:buNone/>
            </a:pPr>
            <a:r>
              <a:rPr lang="en-GB" b="1" dirty="0">
                <a:latin typeface="Arial"/>
                <a:cs typeface="Arial"/>
              </a:rPr>
              <a:t>time</a:t>
            </a:r>
            <a:r>
              <a:rPr lang="en-GB" dirty="0">
                <a:latin typeface="Arial"/>
                <a:cs typeface="Arial"/>
              </a:rPr>
              <a:t> needed to cover a </a:t>
            </a:r>
            <a:r>
              <a:rPr lang="en-GB" b="1" dirty="0">
                <a:latin typeface="Arial"/>
                <a:cs typeface="Arial"/>
              </a:rPr>
              <a:t>distance</a:t>
            </a:r>
            <a:r>
              <a:rPr lang="en-GB" dirty="0">
                <a:latin typeface="Arial"/>
                <a:cs typeface="Arial"/>
              </a:rPr>
              <a:t>.</a:t>
            </a: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This is all fine, but: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do we know how much time the neutron spent between the two points?</a:t>
            </a:r>
          </a:p>
          <a:p>
            <a:pPr>
              <a:buFontTx/>
              <a:buChar char="-"/>
            </a:pPr>
            <a:r>
              <a:rPr lang="en-GB" dirty="0">
                <a:latin typeface="Arial"/>
                <a:cs typeface="Arial"/>
              </a:rPr>
              <a:t>do we know how long the distance was?</a:t>
            </a:r>
          </a:p>
        </p:txBody>
      </p:sp>
    </p:spTree>
    <p:extLst>
      <p:ext uri="{BB962C8B-B14F-4D97-AF65-F5344CB8AC3E}">
        <p14:creationId xmlns:p14="http://schemas.microsoft.com/office/powerpoint/2010/main" val="3650582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C95ED-3579-516E-41EA-0BD9B09E5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14774-FE65-05EF-FAF5-FC3165A32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Neutron time of flight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48DE4EF-6187-A828-3D88-1647579664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4815255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Do we know how long the distance was?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673AD1-5538-D8B3-3B8C-F0E82AC99C96}"/>
              </a:ext>
            </a:extLst>
          </p:cNvPr>
          <p:cNvSpPr/>
          <p:nvPr/>
        </p:nvSpPr>
        <p:spPr>
          <a:xfrm>
            <a:off x="-360485" y="2699238"/>
            <a:ext cx="2875085" cy="1406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5F843B-E185-3350-1502-ED39A67D79F0}"/>
              </a:ext>
            </a:extLst>
          </p:cNvPr>
          <p:cNvSpPr/>
          <p:nvPr/>
        </p:nvSpPr>
        <p:spPr>
          <a:xfrm>
            <a:off x="6096000" y="2866292"/>
            <a:ext cx="1122485" cy="1090246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CCC794B-E02C-6F92-B72D-A0FAAEE66974}"/>
              </a:ext>
            </a:extLst>
          </p:cNvPr>
          <p:cNvGrpSpPr/>
          <p:nvPr/>
        </p:nvGrpSpPr>
        <p:grpSpPr>
          <a:xfrm>
            <a:off x="7426569" y="236804"/>
            <a:ext cx="545123" cy="509954"/>
            <a:chOff x="7426569" y="236804"/>
            <a:chExt cx="545123" cy="50995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6B04604D-4309-49E7-BAD5-1BA9C8B1B4E4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9A5530F-6BE6-82A0-D579-5D89E302A803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52207E3-D146-AD82-F369-2424C28DB8DF}"/>
              </a:ext>
            </a:extLst>
          </p:cNvPr>
          <p:cNvGrpSpPr/>
          <p:nvPr/>
        </p:nvGrpSpPr>
        <p:grpSpPr>
          <a:xfrm>
            <a:off x="8053754" y="450749"/>
            <a:ext cx="545123" cy="509954"/>
            <a:chOff x="7426569" y="236804"/>
            <a:chExt cx="545123" cy="50995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A41CD74-85C5-5971-120B-34A999B6EA99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17E033B-6D7A-1AF2-5837-170C08A27ECD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BF7C548-AB02-3A2B-7B29-27AE38A931D3}"/>
              </a:ext>
            </a:extLst>
          </p:cNvPr>
          <p:cNvGrpSpPr/>
          <p:nvPr/>
        </p:nvGrpSpPr>
        <p:grpSpPr>
          <a:xfrm>
            <a:off x="8631115" y="816230"/>
            <a:ext cx="545123" cy="509954"/>
            <a:chOff x="7426569" y="236804"/>
            <a:chExt cx="545123" cy="50995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C1088CC-1F33-7357-3246-28B4CEE399D7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C3251A3-F6CA-21C9-560F-DF5FF01E63FB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861119-EA93-99ED-EC30-B9702FC0FE65}"/>
              </a:ext>
            </a:extLst>
          </p:cNvPr>
          <p:cNvGrpSpPr/>
          <p:nvPr/>
        </p:nvGrpSpPr>
        <p:grpSpPr>
          <a:xfrm>
            <a:off x="9208476" y="1242058"/>
            <a:ext cx="545123" cy="509954"/>
            <a:chOff x="7426569" y="236804"/>
            <a:chExt cx="545123" cy="50995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04A9D26-356D-41D2-8E63-12450DA1B875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7B61664-3E2C-768B-3826-E4365DB48AE7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FE21A3E-2409-784F-0548-2516D1BAD07A}"/>
              </a:ext>
            </a:extLst>
          </p:cNvPr>
          <p:cNvGrpSpPr/>
          <p:nvPr/>
        </p:nvGrpSpPr>
        <p:grpSpPr>
          <a:xfrm>
            <a:off x="9689123" y="1766664"/>
            <a:ext cx="545123" cy="509954"/>
            <a:chOff x="7426569" y="236804"/>
            <a:chExt cx="545123" cy="50995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7A70093-17F5-F1D0-AA6C-778BBF62584B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3BB8CE-B162-2D10-9D62-D818BC1EAC79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FBF153F-3CAD-A037-1450-47E52D0E36B0}"/>
              </a:ext>
            </a:extLst>
          </p:cNvPr>
          <p:cNvSpPr txBox="1"/>
          <p:nvPr/>
        </p:nvSpPr>
        <p:spPr>
          <a:xfrm>
            <a:off x="9689123" y="236804"/>
            <a:ext cx="1863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detector</a:t>
            </a:r>
          </a:p>
          <a:p>
            <a:r>
              <a:rPr lang="en-US" dirty="0"/>
              <a:t>(tubes)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7EE442-F333-A562-E286-9BCFB5F00520}"/>
              </a:ext>
            </a:extLst>
          </p:cNvPr>
          <p:cNvSpPr txBox="1"/>
          <p:nvPr/>
        </p:nvSpPr>
        <p:spPr>
          <a:xfrm>
            <a:off x="6190270" y="4106008"/>
            <a:ext cx="133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B496E3-8A1F-0B77-8BE9-0197855BE735}"/>
              </a:ext>
            </a:extLst>
          </p:cNvPr>
          <p:cNvSpPr txBox="1"/>
          <p:nvPr/>
        </p:nvSpPr>
        <p:spPr>
          <a:xfrm>
            <a:off x="492369" y="4290674"/>
            <a:ext cx="1872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neutron guide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3237599-CB17-F117-DA48-F11813BDA39B}"/>
              </a:ext>
            </a:extLst>
          </p:cNvPr>
          <p:cNvCxnSpPr>
            <a:cxnSpLocks/>
          </p:cNvCxnSpPr>
          <p:nvPr/>
        </p:nvCxnSpPr>
        <p:spPr>
          <a:xfrm>
            <a:off x="2509226" y="2787162"/>
            <a:ext cx="4347308" cy="98473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582472D-02B2-BC25-437F-BB60BB8276E1}"/>
              </a:ext>
            </a:extLst>
          </p:cNvPr>
          <p:cNvCxnSpPr>
            <a:cxnSpLocks/>
          </p:cNvCxnSpPr>
          <p:nvPr/>
        </p:nvCxnSpPr>
        <p:spPr>
          <a:xfrm flipH="1">
            <a:off x="6861908" y="746758"/>
            <a:ext cx="1306146" cy="302514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49EC6A0-B75E-EDDB-A716-9067CA1DBD0B}"/>
              </a:ext>
            </a:extLst>
          </p:cNvPr>
          <p:cNvCxnSpPr>
            <a:cxnSpLocks/>
          </p:cNvCxnSpPr>
          <p:nvPr/>
        </p:nvCxnSpPr>
        <p:spPr>
          <a:xfrm flipV="1">
            <a:off x="2509226" y="3033346"/>
            <a:ext cx="4049836" cy="738554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D75203B-7603-0310-CB66-532D020F725D}"/>
              </a:ext>
            </a:extLst>
          </p:cNvPr>
          <p:cNvCxnSpPr>
            <a:cxnSpLocks/>
          </p:cNvCxnSpPr>
          <p:nvPr/>
        </p:nvCxnSpPr>
        <p:spPr>
          <a:xfrm flipV="1">
            <a:off x="6559062" y="680912"/>
            <a:ext cx="1907930" cy="235683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224DFAB-A9E7-59A1-2FC8-BC94BB50A971}"/>
              </a:ext>
            </a:extLst>
          </p:cNvPr>
          <p:cNvSpPr txBox="1"/>
          <p:nvPr/>
        </p:nvSpPr>
        <p:spPr>
          <a:xfrm>
            <a:off x="7972139" y="3771900"/>
            <a:ext cx="3341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two trajectories</a:t>
            </a:r>
          </a:p>
          <a:p>
            <a:r>
              <a:rPr lang="en-US" dirty="0"/>
              <a:t>have different </a:t>
            </a:r>
            <a:r>
              <a:rPr lang="en-US" b="1" dirty="0"/>
              <a:t>lengths</a:t>
            </a:r>
            <a:r>
              <a:rPr lang="en-US" dirty="0"/>
              <a:t>,</a:t>
            </a:r>
          </a:p>
          <a:p>
            <a:r>
              <a:rPr lang="en-US" dirty="0"/>
              <a:t>but will show up in the same detector pixel.</a:t>
            </a:r>
          </a:p>
        </p:txBody>
      </p:sp>
    </p:spTree>
    <p:extLst>
      <p:ext uri="{BB962C8B-B14F-4D97-AF65-F5344CB8AC3E}">
        <p14:creationId xmlns:p14="http://schemas.microsoft.com/office/powerpoint/2010/main" val="1196674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2CF45-DECA-2D0E-F8BD-7630FD928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7EDDE-9396-D106-92D2-F4A69B14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Neutron time of flight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1A6ED1E-1DF5-13EB-8E32-7619C4FCE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9" y="1304925"/>
            <a:ext cx="4815255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Do we know how long the distance was?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815C4-F3BC-D751-D314-26915923B094}"/>
              </a:ext>
            </a:extLst>
          </p:cNvPr>
          <p:cNvSpPr/>
          <p:nvPr/>
        </p:nvSpPr>
        <p:spPr>
          <a:xfrm>
            <a:off x="-360485" y="2699238"/>
            <a:ext cx="2875085" cy="1406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AC9C57-144D-EE08-8C9B-B776AAC48F49}"/>
              </a:ext>
            </a:extLst>
          </p:cNvPr>
          <p:cNvSpPr/>
          <p:nvPr/>
        </p:nvSpPr>
        <p:spPr>
          <a:xfrm>
            <a:off x="6096000" y="2866292"/>
            <a:ext cx="1122485" cy="1090246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2948F16-4B3B-A8A0-1287-A1CD80044B93}"/>
              </a:ext>
            </a:extLst>
          </p:cNvPr>
          <p:cNvGrpSpPr/>
          <p:nvPr/>
        </p:nvGrpSpPr>
        <p:grpSpPr>
          <a:xfrm>
            <a:off x="7426569" y="236804"/>
            <a:ext cx="545123" cy="509954"/>
            <a:chOff x="7426569" y="236804"/>
            <a:chExt cx="545123" cy="509954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FF113182-2BE6-8563-7D22-4626BC83C385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DA662F9-AB72-6BF3-F5CD-5D5D40909DB4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C291D717-151A-26FD-B0B3-E4D43C62532A}"/>
              </a:ext>
            </a:extLst>
          </p:cNvPr>
          <p:cNvGrpSpPr/>
          <p:nvPr/>
        </p:nvGrpSpPr>
        <p:grpSpPr>
          <a:xfrm>
            <a:off x="8053754" y="450749"/>
            <a:ext cx="545123" cy="509954"/>
            <a:chOff x="7426569" y="236804"/>
            <a:chExt cx="545123" cy="50995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0A188DB-CFC4-957F-81D1-093A30685A11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0ABEB2FF-3954-2FB0-8E50-D7A8A655BAFC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823B307-7A80-F370-DAA0-81B72D6ED102}"/>
              </a:ext>
            </a:extLst>
          </p:cNvPr>
          <p:cNvGrpSpPr/>
          <p:nvPr/>
        </p:nvGrpSpPr>
        <p:grpSpPr>
          <a:xfrm>
            <a:off x="8631115" y="816230"/>
            <a:ext cx="545123" cy="509954"/>
            <a:chOff x="7426569" y="236804"/>
            <a:chExt cx="545123" cy="50995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A7A6CF1-23F5-147B-AB56-E7CD70C27DB5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7A4EFCF-FF4D-0C07-0855-3B0B0CFD4F07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C7C8D1F-5499-727A-240B-49DAF0071080}"/>
              </a:ext>
            </a:extLst>
          </p:cNvPr>
          <p:cNvGrpSpPr/>
          <p:nvPr/>
        </p:nvGrpSpPr>
        <p:grpSpPr>
          <a:xfrm>
            <a:off x="9208476" y="1242058"/>
            <a:ext cx="545123" cy="509954"/>
            <a:chOff x="7426569" y="236804"/>
            <a:chExt cx="545123" cy="50995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A048CF2C-287F-43CA-9494-B757FEE13DA3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53E3B3B-8CE8-9E97-761E-20A93577C2A5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9F051E2-28F0-8209-2621-609A6EA4EFDA}"/>
              </a:ext>
            </a:extLst>
          </p:cNvPr>
          <p:cNvGrpSpPr/>
          <p:nvPr/>
        </p:nvGrpSpPr>
        <p:grpSpPr>
          <a:xfrm>
            <a:off x="9689123" y="1766664"/>
            <a:ext cx="545123" cy="509954"/>
            <a:chOff x="7426569" y="236804"/>
            <a:chExt cx="545123" cy="50995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ED1EA64-B52F-3785-3FBF-72CD752C7899}"/>
                </a:ext>
              </a:extLst>
            </p:cNvPr>
            <p:cNvSpPr/>
            <p:nvPr/>
          </p:nvSpPr>
          <p:spPr>
            <a:xfrm>
              <a:off x="7426569" y="236804"/>
              <a:ext cx="545123" cy="509954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C12FFCC-3D09-5A59-DD30-62D7DE353E12}"/>
                </a:ext>
              </a:extLst>
            </p:cNvPr>
            <p:cNvSpPr/>
            <p:nvPr/>
          </p:nvSpPr>
          <p:spPr>
            <a:xfrm>
              <a:off x="7669823" y="468922"/>
              <a:ext cx="58616" cy="45719"/>
            </a:xfrm>
            <a:prstGeom prst="ellipse">
              <a:avLst/>
            </a:prstGeom>
            <a:solidFill>
              <a:schemeClr val="bg2"/>
            </a:solidFill>
            <a:ln w="34925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89F814FB-CDE9-2B6E-217D-143F0F6E8DE4}"/>
              </a:ext>
            </a:extLst>
          </p:cNvPr>
          <p:cNvSpPr txBox="1"/>
          <p:nvPr/>
        </p:nvSpPr>
        <p:spPr>
          <a:xfrm>
            <a:off x="9689123" y="236804"/>
            <a:ext cx="1863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detector</a:t>
            </a:r>
          </a:p>
          <a:p>
            <a:r>
              <a:rPr lang="en-US" dirty="0"/>
              <a:t>(tubes)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A8839F-2C89-966A-1ECA-07C24870E839}"/>
              </a:ext>
            </a:extLst>
          </p:cNvPr>
          <p:cNvSpPr txBox="1"/>
          <p:nvPr/>
        </p:nvSpPr>
        <p:spPr>
          <a:xfrm>
            <a:off x="6190270" y="4106008"/>
            <a:ext cx="133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B79514-AB7C-DF53-35BC-0D2803D9215A}"/>
              </a:ext>
            </a:extLst>
          </p:cNvPr>
          <p:cNvSpPr txBox="1"/>
          <p:nvPr/>
        </p:nvSpPr>
        <p:spPr>
          <a:xfrm>
            <a:off x="492369" y="4290674"/>
            <a:ext cx="1872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neutron guide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CC2597E-2392-1DD4-4BF3-944B0E8351CA}"/>
              </a:ext>
            </a:extLst>
          </p:cNvPr>
          <p:cNvCxnSpPr>
            <a:cxnSpLocks/>
          </p:cNvCxnSpPr>
          <p:nvPr/>
        </p:nvCxnSpPr>
        <p:spPr>
          <a:xfrm>
            <a:off x="2509226" y="2787162"/>
            <a:ext cx="4347308" cy="984738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DA5003-EFDB-0268-4C36-3489F11AF030}"/>
              </a:ext>
            </a:extLst>
          </p:cNvPr>
          <p:cNvCxnSpPr>
            <a:cxnSpLocks/>
          </p:cNvCxnSpPr>
          <p:nvPr/>
        </p:nvCxnSpPr>
        <p:spPr>
          <a:xfrm flipH="1">
            <a:off x="6861908" y="746758"/>
            <a:ext cx="1306146" cy="302514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E415A9B-AF8C-8662-20C8-26E8BD948688}"/>
              </a:ext>
            </a:extLst>
          </p:cNvPr>
          <p:cNvCxnSpPr>
            <a:cxnSpLocks/>
          </p:cNvCxnSpPr>
          <p:nvPr/>
        </p:nvCxnSpPr>
        <p:spPr>
          <a:xfrm flipV="1">
            <a:off x="2509226" y="3033346"/>
            <a:ext cx="4049836" cy="738554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1C55E6F-40A3-A768-D235-BF5B4822B351}"/>
              </a:ext>
            </a:extLst>
          </p:cNvPr>
          <p:cNvCxnSpPr>
            <a:cxnSpLocks/>
          </p:cNvCxnSpPr>
          <p:nvPr/>
        </p:nvCxnSpPr>
        <p:spPr>
          <a:xfrm flipV="1">
            <a:off x="6559062" y="680912"/>
            <a:ext cx="1907930" cy="2356830"/>
          </a:xfrm>
          <a:prstGeom prst="line">
            <a:avLst/>
          </a:prstGeom>
          <a:ln w="254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CC93868-3A0E-908C-B970-E66F880C1661}"/>
              </a:ext>
            </a:extLst>
          </p:cNvPr>
          <p:cNvSpPr txBox="1"/>
          <p:nvPr/>
        </p:nvSpPr>
        <p:spPr>
          <a:xfrm>
            <a:off x="7971692" y="3771900"/>
            <a:ext cx="3836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These two trajectories</a:t>
            </a:r>
          </a:p>
          <a:p>
            <a:r>
              <a:rPr lang="en-US" dirty="0"/>
              <a:t>have different </a:t>
            </a:r>
            <a:r>
              <a:rPr lang="en-US" b="1" dirty="0"/>
              <a:t>scattering angles</a:t>
            </a:r>
            <a:r>
              <a:rPr lang="en-US" dirty="0"/>
              <a:t>,</a:t>
            </a:r>
          </a:p>
          <a:p>
            <a:r>
              <a:rPr lang="en-US" dirty="0"/>
              <a:t>but will show up in the same detector pixel.</a:t>
            </a:r>
          </a:p>
        </p:txBody>
      </p:sp>
    </p:spTree>
    <p:extLst>
      <p:ext uri="{BB962C8B-B14F-4D97-AF65-F5344CB8AC3E}">
        <p14:creationId xmlns:p14="http://schemas.microsoft.com/office/powerpoint/2010/main" val="298159651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DE26D-A09F-6E23-BD69-785C01503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E4BE-45D8-DE23-76EA-55486A9DF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Neutron time of flight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C2B788-F965-939D-9B7C-D99732F506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8" y="1005986"/>
            <a:ext cx="11654683" cy="386559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Do we know how much time the neutron spent between the two points?</a:t>
            </a:r>
          </a:p>
          <a:p>
            <a:pPr marL="0" indent="0">
              <a:buNone/>
            </a:pPr>
            <a:endParaRPr lang="en-GB" dirty="0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Faster choppers with smaller windows</a:t>
            </a:r>
          </a:p>
          <a:p>
            <a:pPr marL="0" indent="0">
              <a:buNone/>
            </a:pPr>
            <a:r>
              <a:rPr lang="en-GB" dirty="0">
                <a:latin typeface="Arial"/>
                <a:cs typeface="Arial"/>
              </a:rPr>
              <a:t>reduce the time uncertainty.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9448E4-DFBC-C71E-2F27-A6C00A84E3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908" y="1687000"/>
            <a:ext cx="6459415" cy="5059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CAA88E3-1813-6339-5247-DB45C10918F3}"/>
              </a:ext>
            </a:extLst>
          </p:cNvPr>
          <p:cNvSpPr txBox="1"/>
          <p:nvPr/>
        </p:nvSpPr>
        <p:spPr>
          <a:xfrm>
            <a:off x="1468316" y="4116745"/>
            <a:ext cx="3877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Turn your TOF diffractometer into a direct TOF spectrometer with this one extra double-disc chopper!</a:t>
            </a:r>
          </a:p>
        </p:txBody>
      </p:sp>
    </p:spTree>
    <p:extLst>
      <p:ext uri="{BB962C8B-B14F-4D97-AF65-F5344CB8AC3E}">
        <p14:creationId xmlns:p14="http://schemas.microsoft.com/office/powerpoint/2010/main" val="102443401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527AA-448A-E34C-401B-9C988962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14D8E-E7A1-B3C3-EED9-8A71A2552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3979983" cy="472363"/>
          </a:xfrm>
        </p:spPr>
        <p:txBody>
          <a:bodyPr/>
          <a:lstStyle/>
          <a:p>
            <a:r>
              <a:rPr lang="en-US" dirty="0"/>
              <a:t>Neutron time of flight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FA81DD-3F4A-B1D1-2006-641327D400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698" y="5336932"/>
            <a:ext cx="11654683" cy="16096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CNCS design by G. Ehlers </a:t>
            </a:r>
            <a:r>
              <a:rPr lang="en-US" i="1" dirty="0"/>
              <a:t>et al. </a:t>
            </a:r>
            <a:r>
              <a:rPr lang="en-GB" dirty="0"/>
              <a:t>https://</a:t>
            </a:r>
            <a:r>
              <a:rPr lang="en-GB" dirty="0" err="1"/>
              <a:t>doi.org</a:t>
            </a:r>
            <a:r>
              <a:rPr lang="en-GB" dirty="0"/>
              <a:t>/10.1063/1.3626935</a:t>
            </a: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6B8F8D9-0E15-B7A0-CA4D-B090EDC7A18C}"/>
              </a:ext>
            </a:extLst>
          </p:cNvPr>
          <p:cNvCxnSpPr/>
          <p:nvPr/>
        </p:nvCxnSpPr>
        <p:spPr>
          <a:xfrm>
            <a:off x="1099038" y="1459525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7E571B2-4FD6-5EC5-BB35-01BEBF920C71}"/>
              </a:ext>
            </a:extLst>
          </p:cNvPr>
          <p:cNvCxnSpPr/>
          <p:nvPr/>
        </p:nvCxnSpPr>
        <p:spPr>
          <a:xfrm>
            <a:off x="5911361" y="1409701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E58E88-B81C-3A48-A61D-310823DA6FFD}"/>
              </a:ext>
            </a:extLst>
          </p:cNvPr>
          <p:cNvCxnSpPr/>
          <p:nvPr/>
        </p:nvCxnSpPr>
        <p:spPr>
          <a:xfrm>
            <a:off x="7344507" y="1377462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354107-17D8-A3E9-B39D-0E4E7C0C46FF}"/>
              </a:ext>
            </a:extLst>
          </p:cNvPr>
          <p:cNvCxnSpPr/>
          <p:nvPr/>
        </p:nvCxnSpPr>
        <p:spPr>
          <a:xfrm>
            <a:off x="9947031" y="1324708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2C62DAC-FFD3-B727-46C6-362072752946}"/>
              </a:ext>
            </a:extLst>
          </p:cNvPr>
          <p:cNvCxnSpPr>
            <a:cxnSpLocks/>
          </p:cNvCxnSpPr>
          <p:nvPr/>
        </p:nvCxnSpPr>
        <p:spPr>
          <a:xfrm>
            <a:off x="1099038" y="2089639"/>
            <a:ext cx="48123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910A0D7-345B-8307-FBA4-587D69575119}"/>
              </a:ext>
            </a:extLst>
          </p:cNvPr>
          <p:cNvCxnSpPr/>
          <p:nvPr/>
        </p:nvCxnSpPr>
        <p:spPr>
          <a:xfrm>
            <a:off x="5911361" y="1881554"/>
            <a:ext cx="14331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A57B52-94B3-76BD-7BAE-24CED68323B4}"/>
              </a:ext>
            </a:extLst>
          </p:cNvPr>
          <p:cNvCxnSpPr/>
          <p:nvPr/>
        </p:nvCxnSpPr>
        <p:spPr>
          <a:xfrm>
            <a:off x="7344507" y="1600200"/>
            <a:ext cx="26025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1EBBF2-DE04-CEB6-72C3-A8C84ABB0913}"/>
              </a:ext>
            </a:extLst>
          </p:cNvPr>
          <p:cNvSpPr txBox="1"/>
          <p:nvPr/>
        </p:nvSpPr>
        <p:spPr>
          <a:xfrm>
            <a:off x="3308838" y="2089639"/>
            <a:ext cx="64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-250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C88DAC-C7B7-7043-F465-0A1281B6196F}"/>
              </a:ext>
            </a:extLst>
          </p:cNvPr>
          <p:cNvSpPr txBox="1"/>
          <p:nvPr/>
        </p:nvSpPr>
        <p:spPr>
          <a:xfrm>
            <a:off x="6307015" y="1889575"/>
            <a:ext cx="64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-250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71B7E2-7114-C669-0FA8-0B7EEBE5C4FF}"/>
              </a:ext>
            </a:extLst>
          </p:cNvPr>
          <p:cNvSpPr txBox="1"/>
          <p:nvPr/>
        </p:nvSpPr>
        <p:spPr>
          <a:xfrm>
            <a:off x="8381998" y="1660204"/>
            <a:ext cx="64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-25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9D84C7-0086-C181-3F24-C8E6C97D9066}"/>
              </a:ext>
            </a:extLst>
          </p:cNvPr>
          <p:cNvSpPr txBox="1"/>
          <p:nvPr/>
        </p:nvSpPr>
        <p:spPr>
          <a:xfrm>
            <a:off x="644772" y="1008130"/>
            <a:ext cx="160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chopper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18F8A1-3FE7-F696-C123-AFFDC7DBF6CE}"/>
              </a:ext>
            </a:extLst>
          </p:cNvPr>
          <p:cNvSpPr txBox="1"/>
          <p:nvPr/>
        </p:nvSpPr>
        <p:spPr>
          <a:xfrm>
            <a:off x="4847491" y="914400"/>
            <a:ext cx="157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Last chopper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3C46F4-EBEB-3218-E63B-8338422C0229}"/>
              </a:ext>
            </a:extLst>
          </p:cNvPr>
          <p:cNvSpPr txBox="1"/>
          <p:nvPr/>
        </p:nvSpPr>
        <p:spPr>
          <a:xfrm>
            <a:off x="6858000" y="923166"/>
            <a:ext cx="170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680EB8E-201E-565D-83ED-3247DCDBAB25}"/>
              </a:ext>
            </a:extLst>
          </p:cNvPr>
          <p:cNvSpPr txBox="1"/>
          <p:nvPr/>
        </p:nvSpPr>
        <p:spPr>
          <a:xfrm>
            <a:off x="9495692" y="923166"/>
            <a:ext cx="166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Detector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425AF20-3568-343E-E190-24A796E97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640" y="2921896"/>
            <a:ext cx="5662233" cy="221369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6CCA0E8-CBC7-18A0-07DE-73A9FCB0364C}"/>
              </a:ext>
            </a:extLst>
          </p:cNvPr>
          <p:cNvSpPr txBox="1"/>
          <p:nvPr/>
        </p:nvSpPr>
        <p:spPr>
          <a:xfrm>
            <a:off x="8009792" y="2889621"/>
            <a:ext cx="35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pulse width of the first chopper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3B4F855-165F-4476-9933-6BA8D29DDC75}"/>
              </a:ext>
            </a:extLst>
          </p:cNvPr>
          <p:cNvSpPr txBox="1"/>
          <p:nvPr/>
        </p:nvSpPr>
        <p:spPr>
          <a:xfrm>
            <a:off x="8009792" y="3387848"/>
            <a:ext cx="35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pulse width of the last chopper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C7F334A-C043-4A3A-2B4C-6C7502EB4CC4}"/>
              </a:ext>
            </a:extLst>
          </p:cNvPr>
          <p:cNvSpPr txBox="1"/>
          <p:nvPr/>
        </p:nvSpPr>
        <p:spPr>
          <a:xfrm>
            <a:off x="8009792" y="3921245"/>
            <a:ext cx="3537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TOF uncertainty due to sample size and detection volume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F05511-CC14-0633-C950-B773278D9F81}"/>
                  </a:ext>
                </a:extLst>
              </p:cNvPr>
              <p:cNvSpPr txBox="1"/>
              <p:nvPr/>
            </p:nvSpPr>
            <p:spPr>
              <a:xfrm>
                <a:off x="7509869" y="2938003"/>
                <a:ext cx="401970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9F05511-CC14-0633-C950-B773278D9F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869" y="2938003"/>
                <a:ext cx="401970" cy="298415"/>
              </a:xfrm>
              <a:prstGeom prst="rect">
                <a:avLst/>
              </a:prstGeom>
              <a:blipFill>
                <a:blip r:embed="rId3"/>
                <a:stretch>
                  <a:fillRect l="-12121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69D27D4-6916-2477-1406-871E19B36586}"/>
                  </a:ext>
                </a:extLst>
              </p:cNvPr>
              <p:cNvSpPr txBox="1"/>
              <p:nvPr/>
            </p:nvSpPr>
            <p:spPr>
              <a:xfrm>
                <a:off x="7509869" y="3443534"/>
                <a:ext cx="3790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69D27D4-6916-2477-1406-871E19B365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869" y="3443534"/>
                <a:ext cx="379078" cy="276999"/>
              </a:xfrm>
              <a:prstGeom prst="rect">
                <a:avLst/>
              </a:prstGeom>
              <a:blipFill>
                <a:blip r:embed="rId4"/>
                <a:stretch>
                  <a:fillRect l="-1290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0855B0-69BA-4704-F1EA-16863CD1CA5D}"/>
                  </a:ext>
                </a:extLst>
              </p:cNvPr>
              <p:cNvSpPr txBox="1"/>
              <p:nvPr/>
            </p:nvSpPr>
            <p:spPr>
              <a:xfrm>
                <a:off x="7509869" y="3988259"/>
                <a:ext cx="3999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0855B0-69BA-4704-F1EA-16863CD1C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869" y="3988259"/>
                <a:ext cx="399918" cy="276999"/>
              </a:xfrm>
              <a:prstGeom prst="rect">
                <a:avLst/>
              </a:prstGeom>
              <a:blipFill>
                <a:blip r:embed="rId5"/>
                <a:stretch>
                  <a:fillRect l="-12121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139915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758F9-F7DF-49C5-8EAA-2D0AD4BB2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9A7BC-D1D7-DCF2-360F-2FDD1A83B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308123" cy="472363"/>
          </a:xfrm>
        </p:spPr>
        <p:txBody>
          <a:bodyPr/>
          <a:lstStyle/>
          <a:p>
            <a:r>
              <a:rPr lang="en-US" dirty="0"/>
              <a:t>Neutron time of flight: direct spectrometer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C82F38-594B-D18C-BCC8-6F0F3B98A1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7" y="5951159"/>
            <a:ext cx="7621942" cy="7737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CNCS design by G. Ehlers </a:t>
            </a:r>
            <a:r>
              <a:rPr lang="en-US" i="1" dirty="0"/>
              <a:t>et al. </a:t>
            </a:r>
            <a:r>
              <a:rPr lang="en-GB" dirty="0"/>
              <a:t>https://</a:t>
            </a:r>
            <a:r>
              <a:rPr lang="en-GB" dirty="0" err="1"/>
              <a:t>doi.org</a:t>
            </a:r>
            <a:r>
              <a:rPr lang="en-GB" dirty="0"/>
              <a:t>/10.1063/1.3626935</a:t>
            </a: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1D84A3-9A22-530A-EE0C-1DC8FB6E5AE2}"/>
              </a:ext>
            </a:extLst>
          </p:cNvPr>
          <p:cNvCxnSpPr/>
          <p:nvPr/>
        </p:nvCxnSpPr>
        <p:spPr>
          <a:xfrm>
            <a:off x="1099038" y="1459525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60B28-A5B9-A1A0-03B3-8255E4A039A1}"/>
              </a:ext>
            </a:extLst>
          </p:cNvPr>
          <p:cNvCxnSpPr/>
          <p:nvPr/>
        </p:nvCxnSpPr>
        <p:spPr>
          <a:xfrm>
            <a:off x="5911361" y="1409701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E17BECD-616D-D72E-DF8C-5480DB34FB58}"/>
              </a:ext>
            </a:extLst>
          </p:cNvPr>
          <p:cNvCxnSpPr/>
          <p:nvPr/>
        </p:nvCxnSpPr>
        <p:spPr>
          <a:xfrm>
            <a:off x="7344507" y="1377462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508C5-A123-CCAD-1532-9465A4CA623B}"/>
              </a:ext>
            </a:extLst>
          </p:cNvPr>
          <p:cNvCxnSpPr/>
          <p:nvPr/>
        </p:nvCxnSpPr>
        <p:spPr>
          <a:xfrm>
            <a:off x="9947031" y="1324708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06F907B-AA60-07DB-E2D8-3EA3AD2A6F70}"/>
              </a:ext>
            </a:extLst>
          </p:cNvPr>
          <p:cNvCxnSpPr>
            <a:cxnSpLocks/>
          </p:cNvCxnSpPr>
          <p:nvPr/>
        </p:nvCxnSpPr>
        <p:spPr>
          <a:xfrm>
            <a:off x="1099038" y="2089639"/>
            <a:ext cx="48123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7EB7CD8-C482-8052-BA79-41B0073098FF}"/>
              </a:ext>
            </a:extLst>
          </p:cNvPr>
          <p:cNvCxnSpPr/>
          <p:nvPr/>
        </p:nvCxnSpPr>
        <p:spPr>
          <a:xfrm>
            <a:off x="5911361" y="1881554"/>
            <a:ext cx="14331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F4FA8E-6633-736E-3A13-2A875D589873}"/>
              </a:ext>
            </a:extLst>
          </p:cNvPr>
          <p:cNvCxnSpPr/>
          <p:nvPr/>
        </p:nvCxnSpPr>
        <p:spPr>
          <a:xfrm>
            <a:off x="7344507" y="1600200"/>
            <a:ext cx="26025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222A717-3E4B-4898-5DD1-02AD040A7F36}"/>
              </a:ext>
            </a:extLst>
          </p:cNvPr>
          <p:cNvSpPr txBox="1"/>
          <p:nvPr/>
        </p:nvSpPr>
        <p:spPr>
          <a:xfrm>
            <a:off x="3308838" y="2089639"/>
            <a:ext cx="64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-250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D4A370-1135-9387-5AE6-58C47FBA273B}"/>
              </a:ext>
            </a:extLst>
          </p:cNvPr>
          <p:cNvSpPr txBox="1"/>
          <p:nvPr/>
        </p:nvSpPr>
        <p:spPr>
          <a:xfrm>
            <a:off x="6307015" y="1889575"/>
            <a:ext cx="64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-250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C2926A0-466F-B665-B764-842203E794A2}"/>
              </a:ext>
            </a:extLst>
          </p:cNvPr>
          <p:cNvSpPr txBox="1"/>
          <p:nvPr/>
        </p:nvSpPr>
        <p:spPr>
          <a:xfrm>
            <a:off x="8381998" y="1660204"/>
            <a:ext cx="64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-25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DB5D33-1078-28F7-6D00-92677D7897E8}"/>
              </a:ext>
            </a:extLst>
          </p:cNvPr>
          <p:cNvSpPr txBox="1"/>
          <p:nvPr/>
        </p:nvSpPr>
        <p:spPr>
          <a:xfrm>
            <a:off x="644772" y="1008130"/>
            <a:ext cx="160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chopper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4242BB3-4FD8-598F-B18A-2B9C834FB2AA}"/>
              </a:ext>
            </a:extLst>
          </p:cNvPr>
          <p:cNvSpPr txBox="1"/>
          <p:nvPr/>
        </p:nvSpPr>
        <p:spPr>
          <a:xfrm>
            <a:off x="4847491" y="914400"/>
            <a:ext cx="157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Last chopper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DE6A57-4503-E3CB-417D-1E4F88C6EF07}"/>
              </a:ext>
            </a:extLst>
          </p:cNvPr>
          <p:cNvSpPr txBox="1"/>
          <p:nvPr/>
        </p:nvSpPr>
        <p:spPr>
          <a:xfrm>
            <a:off x="6858000" y="923166"/>
            <a:ext cx="170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1451F3-6EED-2E9B-53E7-18FFA29F9AA4}"/>
              </a:ext>
            </a:extLst>
          </p:cNvPr>
          <p:cNvSpPr txBox="1"/>
          <p:nvPr/>
        </p:nvSpPr>
        <p:spPr>
          <a:xfrm>
            <a:off x="9495692" y="923166"/>
            <a:ext cx="166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FC9EC7-D8DB-C7EE-032B-2687E94E9901}"/>
              </a:ext>
            </a:extLst>
          </p:cNvPr>
          <p:cNvSpPr txBox="1"/>
          <p:nvPr/>
        </p:nvSpPr>
        <p:spPr>
          <a:xfrm>
            <a:off x="8009792" y="2889621"/>
            <a:ext cx="35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pulse width of the first chopper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35FFAB-F8F4-6C51-A286-7C3DA0D414BF}"/>
              </a:ext>
            </a:extLst>
          </p:cNvPr>
          <p:cNvSpPr txBox="1"/>
          <p:nvPr/>
        </p:nvSpPr>
        <p:spPr>
          <a:xfrm>
            <a:off x="8009792" y="3387848"/>
            <a:ext cx="35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pulse width of the last chopper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7CC6B0-7D32-A634-EF2E-A6C1D548F17C}"/>
              </a:ext>
            </a:extLst>
          </p:cNvPr>
          <p:cNvSpPr txBox="1"/>
          <p:nvPr/>
        </p:nvSpPr>
        <p:spPr>
          <a:xfrm>
            <a:off x="8009792" y="3921245"/>
            <a:ext cx="3537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TOF uncertainty due to sample size and detection volume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4017F70-5801-D6C0-7BFE-01B23747DDAF}"/>
                  </a:ext>
                </a:extLst>
              </p:cNvPr>
              <p:cNvSpPr txBox="1"/>
              <p:nvPr/>
            </p:nvSpPr>
            <p:spPr>
              <a:xfrm>
                <a:off x="7509869" y="2938003"/>
                <a:ext cx="401970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4017F70-5801-D6C0-7BFE-01B23747DD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869" y="2938003"/>
                <a:ext cx="401970" cy="298415"/>
              </a:xfrm>
              <a:prstGeom prst="rect">
                <a:avLst/>
              </a:prstGeom>
              <a:blipFill>
                <a:blip r:embed="rId2"/>
                <a:stretch>
                  <a:fillRect l="-12121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2D0B5D-6C99-73C4-8796-4CEA3200A1B5}"/>
                  </a:ext>
                </a:extLst>
              </p:cNvPr>
              <p:cNvSpPr txBox="1"/>
              <p:nvPr/>
            </p:nvSpPr>
            <p:spPr>
              <a:xfrm>
                <a:off x="7509869" y="3443534"/>
                <a:ext cx="3790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42D0B5D-6C99-73C4-8796-4CEA3200A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869" y="3443534"/>
                <a:ext cx="379078" cy="276999"/>
              </a:xfrm>
              <a:prstGeom prst="rect">
                <a:avLst/>
              </a:prstGeom>
              <a:blipFill>
                <a:blip r:embed="rId3"/>
                <a:stretch>
                  <a:fillRect l="-12903"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778432-949D-BE06-AE0A-A7E1844F9E70}"/>
                  </a:ext>
                </a:extLst>
              </p:cNvPr>
              <p:cNvSpPr txBox="1"/>
              <p:nvPr/>
            </p:nvSpPr>
            <p:spPr>
              <a:xfrm>
                <a:off x="7509869" y="3988259"/>
                <a:ext cx="3999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3778432-949D-BE06-AE0A-A7E1844F9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9869" y="3988259"/>
                <a:ext cx="399918" cy="276999"/>
              </a:xfrm>
              <a:prstGeom prst="rect">
                <a:avLst/>
              </a:prstGeom>
              <a:blipFill>
                <a:blip r:embed="rId4"/>
                <a:stretch>
                  <a:fillRect l="-12121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959AE58-D407-75BC-D415-D04080BAF1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734" y="2863191"/>
            <a:ext cx="63500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2810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56387-8C2A-13AB-DE1F-BA4B23CC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0A8F7-6570-AFE5-3468-CD04315A0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308123" cy="472363"/>
          </a:xfrm>
        </p:spPr>
        <p:txBody>
          <a:bodyPr/>
          <a:lstStyle/>
          <a:p>
            <a:r>
              <a:rPr lang="en-US" dirty="0"/>
              <a:t>Neutron time of flight: direct spectrometer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5F7487-B7CB-4527-4BEA-5757DD6CA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88947" y="5951159"/>
            <a:ext cx="7621942" cy="77372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CNCS design by G. Ehlers </a:t>
            </a:r>
            <a:r>
              <a:rPr lang="en-US" i="1" dirty="0"/>
              <a:t>et al. </a:t>
            </a:r>
            <a:r>
              <a:rPr lang="en-GB" dirty="0"/>
              <a:t>https://</a:t>
            </a:r>
            <a:r>
              <a:rPr lang="en-GB" dirty="0" err="1"/>
              <a:t>doi.org</a:t>
            </a:r>
            <a:r>
              <a:rPr lang="en-GB" dirty="0"/>
              <a:t>/10.1063/1.3626935</a:t>
            </a:r>
          </a:p>
          <a:p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8B2B6C-8C1A-E99E-9411-686007E86AB0}"/>
              </a:ext>
            </a:extLst>
          </p:cNvPr>
          <p:cNvCxnSpPr/>
          <p:nvPr/>
        </p:nvCxnSpPr>
        <p:spPr>
          <a:xfrm>
            <a:off x="1099038" y="1459525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99A544-669A-C12D-AEA2-D5D705CE6F8C}"/>
              </a:ext>
            </a:extLst>
          </p:cNvPr>
          <p:cNvCxnSpPr/>
          <p:nvPr/>
        </p:nvCxnSpPr>
        <p:spPr>
          <a:xfrm>
            <a:off x="5911361" y="1409701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B31061-30F2-CAEC-78FD-AA1E20DE013A}"/>
              </a:ext>
            </a:extLst>
          </p:cNvPr>
          <p:cNvCxnSpPr/>
          <p:nvPr/>
        </p:nvCxnSpPr>
        <p:spPr>
          <a:xfrm>
            <a:off x="7344507" y="1377462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D727DE-5000-4709-95F9-769E57EE3E94}"/>
              </a:ext>
            </a:extLst>
          </p:cNvPr>
          <p:cNvCxnSpPr/>
          <p:nvPr/>
        </p:nvCxnSpPr>
        <p:spPr>
          <a:xfrm>
            <a:off x="9947031" y="1324708"/>
            <a:ext cx="0" cy="773723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11B633-DA89-A94A-6B22-13E6EAA84F54}"/>
              </a:ext>
            </a:extLst>
          </p:cNvPr>
          <p:cNvCxnSpPr>
            <a:cxnSpLocks/>
          </p:cNvCxnSpPr>
          <p:nvPr/>
        </p:nvCxnSpPr>
        <p:spPr>
          <a:xfrm>
            <a:off x="1099038" y="2089639"/>
            <a:ext cx="481232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437B385-024C-A3B3-C7E0-80B665A5CE1A}"/>
              </a:ext>
            </a:extLst>
          </p:cNvPr>
          <p:cNvCxnSpPr/>
          <p:nvPr/>
        </p:nvCxnSpPr>
        <p:spPr>
          <a:xfrm>
            <a:off x="5911361" y="1881554"/>
            <a:ext cx="14331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737C9D3-E4AE-51B6-67F3-02F13333035E}"/>
              </a:ext>
            </a:extLst>
          </p:cNvPr>
          <p:cNvCxnSpPr/>
          <p:nvPr/>
        </p:nvCxnSpPr>
        <p:spPr>
          <a:xfrm>
            <a:off x="7344507" y="1600200"/>
            <a:ext cx="260252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4CB86D6-5DA8-679F-F45F-792FBF8BCEAD}"/>
              </a:ext>
            </a:extLst>
          </p:cNvPr>
          <p:cNvSpPr txBox="1"/>
          <p:nvPr/>
        </p:nvSpPr>
        <p:spPr>
          <a:xfrm>
            <a:off x="3308838" y="2089639"/>
            <a:ext cx="64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-25000" dirty="0"/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B483FE-974C-5457-BDB0-90D8407585AD}"/>
              </a:ext>
            </a:extLst>
          </p:cNvPr>
          <p:cNvSpPr txBox="1"/>
          <p:nvPr/>
        </p:nvSpPr>
        <p:spPr>
          <a:xfrm>
            <a:off x="6307015" y="1889575"/>
            <a:ext cx="64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-250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EF383E8-318F-D5EE-507B-DAC8B39BE88C}"/>
              </a:ext>
            </a:extLst>
          </p:cNvPr>
          <p:cNvSpPr txBox="1"/>
          <p:nvPr/>
        </p:nvSpPr>
        <p:spPr>
          <a:xfrm>
            <a:off x="8381998" y="1660204"/>
            <a:ext cx="6418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</a:t>
            </a:r>
            <a:r>
              <a:rPr lang="en-US" sz="2800" baseline="-25000" dirty="0"/>
              <a:t>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948BF89-63FD-4C17-28DD-F92C22786B53}"/>
              </a:ext>
            </a:extLst>
          </p:cNvPr>
          <p:cNvSpPr txBox="1"/>
          <p:nvPr/>
        </p:nvSpPr>
        <p:spPr>
          <a:xfrm>
            <a:off x="644772" y="1008130"/>
            <a:ext cx="1600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First chopper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DAD42A-9525-9FD4-9BCA-87313B123C2D}"/>
              </a:ext>
            </a:extLst>
          </p:cNvPr>
          <p:cNvSpPr txBox="1"/>
          <p:nvPr/>
        </p:nvSpPr>
        <p:spPr>
          <a:xfrm>
            <a:off x="4847491" y="914400"/>
            <a:ext cx="15796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Last chopper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EAF90B-2BA7-52F1-4A67-1FB686F0238B}"/>
              </a:ext>
            </a:extLst>
          </p:cNvPr>
          <p:cNvSpPr txBox="1"/>
          <p:nvPr/>
        </p:nvSpPr>
        <p:spPr>
          <a:xfrm>
            <a:off x="6858000" y="923166"/>
            <a:ext cx="1705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Sample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34AAD7-205A-19C6-46B7-C03A53E1272F}"/>
              </a:ext>
            </a:extLst>
          </p:cNvPr>
          <p:cNvSpPr txBox="1"/>
          <p:nvPr/>
        </p:nvSpPr>
        <p:spPr>
          <a:xfrm>
            <a:off x="9495692" y="923166"/>
            <a:ext cx="166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Detector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CA3707-A37A-1B05-60CA-618CF5A49595}"/>
              </a:ext>
            </a:extLst>
          </p:cNvPr>
          <p:cNvSpPr txBox="1"/>
          <p:nvPr/>
        </p:nvSpPr>
        <p:spPr>
          <a:xfrm>
            <a:off x="8381998" y="3043648"/>
            <a:ext cx="35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pulse width of the first chopper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86AE5A-A202-D358-7D82-E007790D7852}"/>
              </a:ext>
            </a:extLst>
          </p:cNvPr>
          <p:cNvSpPr txBox="1"/>
          <p:nvPr/>
        </p:nvSpPr>
        <p:spPr>
          <a:xfrm>
            <a:off x="8381998" y="3541875"/>
            <a:ext cx="35374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pulse width of the last chopper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9DC0CF-D284-B8E6-8C1F-04BDDE092019}"/>
              </a:ext>
            </a:extLst>
          </p:cNvPr>
          <p:cNvSpPr txBox="1"/>
          <p:nvPr/>
        </p:nvSpPr>
        <p:spPr>
          <a:xfrm>
            <a:off x="8381998" y="4075272"/>
            <a:ext cx="3537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TOF uncertainty due to sample size and detection volume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953A7E-4EEB-0459-4071-1E36FE487272}"/>
                  </a:ext>
                </a:extLst>
              </p:cNvPr>
              <p:cNvSpPr txBox="1"/>
              <p:nvPr/>
            </p:nvSpPr>
            <p:spPr>
              <a:xfrm>
                <a:off x="7882075" y="3092030"/>
                <a:ext cx="401970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5F953A7E-4EEB-0459-4071-1E36FE487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075" y="3092030"/>
                <a:ext cx="401970" cy="298415"/>
              </a:xfrm>
              <a:prstGeom prst="rect">
                <a:avLst/>
              </a:prstGeom>
              <a:blipFill>
                <a:blip r:embed="rId2"/>
                <a:stretch>
                  <a:fillRect l="-12121" r="-3030" b="-208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1773E5-10EF-78E2-27AC-166FB2C1FE59}"/>
                  </a:ext>
                </a:extLst>
              </p:cNvPr>
              <p:cNvSpPr txBox="1"/>
              <p:nvPr/>
            </p:nvSpPr>
            <p:spPr>
              <a:xfrm>
                <a:off x="7882075" y="3597561"/>
                <a:ext cx="3790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c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31773E5-10EF-78E2-27AC-166FB2C1F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075" y="3597561"/>
                <a:ext cx="379078" cy="276999"/>
              </a:xfrm>
              <a:prstGeom prst="rect">
                <a:avLst/>
              </a:prstGeom>
              <a:blipFill>
                <a:blip r:embed="rId3"/>
                <a:stretch>
                  <a:fillRect l="-12903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E688782-4901-CAEC-712A-26DC7903AF38}"/>
                  </a:ext>
                </a:extLst>
              </p:cNvPr>
              <p:cNvSpPr txBox="1"/>
              <p:nvPr/>
            </p:nvSpPr>
            <p:spPr>
              <a:xfrm>
                <a:off x="7882075" y="4142286"/>
                <a:ext cx="39991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E688782-4901-CAEC-712A-26DC7903AF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2075" y="4142286"/>
                <a:ext cx="399918" cy="276999"/>
              </a:xfrm>
              <a:prstGeom prst="rect">
                <a:avLst/>
              </a:prstGeom>
              <a:blipFill>
                <a:blip r:embed="rId4"/>
                <a:stretch>
                  <a:fillRect l="-12121" r="-3030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98C1DF4C-BB81-E47E-477B-0D143B282C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69" y="2889621"/>
            <a:ext cx="7137400" cy="246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54317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2BA39-3728-5F16-1B3B-F9D69C266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F0AE-A030-6FB5-70AF-227D81C6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308123" cy="472363"/>
          </a:xfrm>
        </p:spPr>
        <p:txBody>
          <a:bodyPr/>
          <a:lstStyle/>
          <a:p>
            <a:r>
              <a:rPr lang="en-US" dirty="0"/>
              <a:t>Neutron time of flight: direct spectrometer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625032-FCF9-7AAB-0080-2390EB1B9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5934834"/>
            <a:ext cx="4580793" cy="16096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CNCS design by G. Ehlers et al. </a:t>
            </a:r>
            <a:r>
              <a:rPr lang="en-GB" dirty="0"/>
              <a:t>https://</a:t>
            </a:r>
            <a:r>
              <a:rPr lang="en-GB" dirty="0" err="1"/>
              <a:t>doi.org</a:t>
            </a:r>
            <a:r>
              <a:rPr lang="en-GB" dirty="0"/>
              <a:t>/10.1063/1.3626935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16AD8D-5508-A2F8-CAD1-5B3A7B4507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1507" y="991632"/>
            <a:ext cx="6986954" cy="4624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7028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CDF03-579D-85A4-B385-EFE51619F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E62E2-D352-9668-0B77-48390248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0" y="365125"/>
            <a:ext cx="9308123" cy="472363"/>
          </a:xfrm>
        </p:spPr>
        <p:txBody>
          <a:bodyPr/>
          <a:lstStyle/>
          <a:p>
            <a:r>
              <a:rPr lang="en-US" dirty="0"/>
              <a:t>Neutron time of flight: direct spectrometer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86CA7A-537A-B8D6-5884-734274117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5934834"/>
            <a:ext cx="4580793" cy="16096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CNCS design by G. Ehlers et al. </a:t>
            </a:r>
            <a:r>
              <a:rPr lang="en-GB" dirty="0"/>
              <a:t>https://</a:t>
            </a:r>
            <a:r>
              <a:rPr lang="en-GB" dirty="0" err="1"/>
              <a:t>doi.org</a:t>
            </a:r>
            <a:r>
              <a:rPr lang="en-GB" dirty="0"/>
              <a:t>/10.1063/1.3626935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1A22F6-9644-D981-8617-B2F397F4F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76" y="991632"/>
            <a:ext cx="6986954" cy="46246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ED8B8E-924B-7E59-113A-8064717DD889}"/>
              </a:ext>
            </a:extLst>
          </p:cNvPr>
          <p:cNvSpPr txBox="1"/>
          <p:nvPr/>
        </p:nvSpPr>
        <p:spPr>
          <a:xfrm>
            <a:off x="8484577" y="1424355"/>
            <a:ext cx="32091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a constant peak width for the entire energy range works only for QENS, where the energy range is small.</a:t>
            </a:r>
          </a:p>
          <a:p>
            <a:endParaRPr lang="en-US" dirty="0"/>
          </a:p>
          <a:p>
            <a:r>
              <a:rPr lang="en-US" dirty="0"/>
              <a:t>MDANSE: ongoing work to start using </a:t>
            </a:r>
            <a:r>
              <a:rPr lang="en-US" dirty="0" err="1"/>
              <a:t>ResIns</a:t>
            </a:r>
            <a:r>
              <a:rPr lang="en-US" dirty="0"/>
              <a:t> for resolution calculations.</a:t>
            </a:r>
          </a:p>
        </p:txBody>
      </p:sp>
    </p:spTree>
    <p:extLst>
      <p:ext uri="{BB962C8B-B14F-4D97-AF65-F5344CB8AC3E}">
        <p14:creationId xmlns:p14="http://schemas.microsoft.com/office/powerpoint/2010/main" val="272952457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63A6-C1E6-FCD7-C13F-DA7B8E626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we observe inelastic neutron scattering?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0FF5C-027A-0E0B-2A14-43C3F7FAD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714" y="1457372"/>
            <a:ext cx="4771293" cy="386559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Time of flight instruments:</a:t>
            </a:r>
          </a:p>
          <a:p>
            <a:pPr>
              <a:buFontTx/>
              <a:buChar char="-"/>
            </a:pPr>
            <a:r>
              <a:rPr lang="en-US" dirty="0"/>
              <a:t>direct TOF spectrometer (one wavelength going in)</a:t>
            </a:r>
          </a:p>
          <a:p>
            <a:pPr>
              <a:buFontTx/>
              <a:buChar char="-"/>
            </a:pPr>
            <a:r>
              <a:rPr lang="en-US" dirty="0"/>
              <a:t>indirect TOF spectrometer (one wavelength going out)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674F04A-4FE0-6BBB-C13B-BBB348365690}"/>
              </a:ext>
            </a:extLst>
          </p:cNvPr>
          <p:cNvSpPr txBox="1">
            <a:spLocks/>
          </p:cNvSpPr>
          <p:nvPr/>
        </p:nvSpPr>
        <p:spPr>
          <a:xfrm>
            <a:off x="477713" y="3429000"/>
            <a:ext cx="4771293" cy="3865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67676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67676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67676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676767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Monochromatic instruments:</a:t>
            </a:r>
          </a:p>
          <a:p>
            <a:pPr>
              <a:buFontTx/>
              <a:buChar char="-"/>
            </a:pPr>
            <a:r>
              <a:rPr lang="en-US" dirty="0"/>
              <a:t>triple-axis spectrometers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B2B2D11-F76C-EDCD-BCC9-CD97A9804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7223" y="2094138"/>
            <a:ext cx="4882663" cy="36912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F8BE52F-B33C-1231-F212-BAC556969297}"/>
              </a:ext>
            </a:extLst>
          </p:cNvPr>
          <p:cNvSpPr txBox="1"/>
          <p:nvPr/>
        </p:nvSpPr>
        <p:spPr>
          <a:xfrm>
            <a:off x="5917223" y="5785338"/>
            <a:ext cx="5503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from </a:t>
            </a:r>
            <a:r>
              <a:rPr lang="en-US" dirty="0">
                <a:hlinkClick r:id="rId3"/>
              </a:rPr>
              <a:t>https://doi.org/10.1016/j.nima.2013.07.007</a:t>
            </a:r>
            <a:endParaRPr lang="en-US" dirty="0"/>
          </a:p>
          <a:p>
            <a:r>
              <a:rPr lang="en-US" dirty="0"/>
              <a:t>(M.D. Le et al., 2013)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32B3DA-7791-8FE0-BDE2-4F13551005AB}"/>
              </a:ext>
            </a:extLst>
          </p:cNvPr>
          <p:cNvSpPr txBox="1"/>
          <p:nvPr/>
        </p:nvSpPr>
        <p:spPr>
          <a:xfrm>
            <a:off x="6360742" y="1579246"/>
            <a:ext cx="4439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triple axis spectrometer resolution volume</a:t>
            </a:r>
          </a:p>
        </p:txBody>
      </p:sp>
    </p:spTree>
    <p:extLst>
      <p:ext uri="{BB962C8B-B14F-4D97-AF65-F5344CB8AC3E}">
        <p14:creationId xmlns:p14="http://schemas.microsoft.com/office/powerpoint/2010/main" val="3102632887"/>
      </p:ext>
    </p:extLst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riangles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Pattern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Blank Layouts">
  <a:themeElements>
    <a:clrScheme name="STFC Colou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5DF8"/>
      </a:accent1>
      <a:accent2>
        <a:srgbClr val="FF9D1B"/>
      </a:accent2>
      <a:accent3>
        <a:srgbClr val="003088"/>
      </a:accent3>
      <a:accent4>
        <a:srgbClr val="D77900"/>
      </a:accent4>
      <a:accent5>
        <a:srgbClr val="008AAD"/>
      </a:accent5>
      <a:accent6>
        <a:srgbClr val="3E863E"/>
      </a:accent6>
      <a:hlink>
        <a:srgbClr val="1E5DF8"/>
      </a:hlink>
      <a:folHlink>
        <a:srgbClr val="923D9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2453390EE4BA43A5D6133E94472E90" ma:contentTypeVersion="17" ma:contentTypeDescription="Create a new document." ma:contentTypeScope="" ma:versionID="a3dd40fe961babd590db7e6ab2b6c3cc">
  <xsd:schema xmlns:xsd="http://www.w3.org/2001/XMLSchema" xmlns:xs="http://www.w3.org/2001/XMLSchema" xmlns:p="http://schemas.microsoft.com/office/2006/metadata/properties" xmlns:ns2="7a6c5452-7205-4e2c-a322-0d36e47a4095" xmlns:ns3="4367b676-3231-4229-b246-27e36f6a6ea0" targetNamespace="http://schemas.microsoft.com/office/2006/metadata/properties" ma:root="true" ma:fieldsID="9c9a1b7cbcb1e6780652342e7736d883" ns2:_="" ns3:_="">
    <xsd:import namespace="7a6c5452-7205-4e2c-a322-0d36e47a4095"/>
    <xsd:import namespace="4367b676-3231-4229-b246-27e36f6a6ea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6c5452-7205-4e2c-a322-0d36e47a40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fe07c91c-676c-4292-ab42-0332d43006d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67b676-3231-4229-b246-27e36f6a6ea0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55bb8876-a7eb-42f8-850b-785a27f532ba}" ma:internalName="TaxCatchAll" ma:showField="CatchAllData" ma:web="4367b676-3231-4229-b246-27e36f6a6ea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367b676-3231-4229-b246-27e36f6a6ea0" xsi:nil="true"/>
    <lcf76f155ced4ddcb4097134ff3c332f xmlns="7a6c5452-7205-4e2c-a322-0d36e47a4095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79237DF-6E98-4AFD-A1AD-E1C9D616A3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9CAF4C5-C546-4E53-8B48-77E78F83DEF3}">
  <ds:schemaRefs>
    <ds:schemaRef ds:uri="4367b676-3231-4229-b246-27e36f6a6ea0"/>
    <ds:schemaRef ds:uri="7a6c5452-7205-4e2c-a322-0d36e47a409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DF670E-3DD2-40A0-8524-D0B4771A7312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www.w3.org/XML/1998/namespace"/>
    <ds:schemaRef ds:uri="http://purl.org/dc/terms/"/>
    <ds:schemaRef ds:uri="4367b676-3231-4229-b246-27e36f6a6ea0"/>
    <ds:schemaRef ds:uri="http://purl.org/dc/elements/1.1/"/>
    <ds:schemaRef ds:uri="7a6c5452-7205-4e2c-a322-0d36e47a4095"/>
    <ds:schemaRef ds:uri="http://schemas.microsoft.com/office/infopath/2007/PartnerControl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4282</TotalTime>
  <Words>2221</Words>
  <Application>Microsoft Macintosh PowerPoint</Application>
  <PresentationFormat>Widescreen</PresentationFormat>
  <Paragraphs>427</Paragraphs>
  <Slides>61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61</vt:i4>
      </vt:variant>
    </vt:vector>
  </HeadingPairs>
  <TitlesOfParts>
    <vt:vector size="70" baseType="lpstr">
      <vt:lpstr>Verdana</vt:lpstr>
      <vt:lpstr>Arial</vt:lpstr>
      <vt:lpstr>Calibri</vt:lpstr>
      <vt:lpstr>Cambria Math</vt:lpstr>
      <vt:lpstr>Aptos</vt:lpstr>
      <vt:lpstr>1_Title slide</vt:lpstr>
      <vt:lpstr>2_Triangles</vt:lpstr>
      <vt:lpstr>3_Pattern</vt:lpstr>
      <vt:lpstr>4_Blank Layouts</vt:lpstr>
      <vt:lpstr>MDANSE for neutron scattering analysis</vt:lpstr>
      <vt:lpstr>Presentation plan</vt:lpstr>
      <vt:lpstr>Which neutron scattering techniques can benefit from MD?</vt:lpstr>
      <vt:lpstr>Do you really need MD?</vt:lpstr>
      <vt:lpstr>Molecular Dynamics: the boundary conditions</vt:lpstr>
      <vt:lpstr>Molecular Dynamics: the boundary conditions</vt:lpstr>
      <vt:lpstr>Molecular Dynamics: the boundary conditions</vt:lpstr>
      <vt:lpstr>Molecular Dynamics: the boundary conditions</vt:lpstr>
      <vt:lpstr>Molecular Dynamics: the boundary conditions</vt:lpstr>
      <vt:lpstr>Molecular Dynamics: the boundary conditions</vt:lpstr>
      <vt:lpstr>Molecular Dynamics: the boundary conditions</vt:lpstr>
      <vt:lpstr>Molecular Dynamics: the boundary conditions</vt:lpstr>
      <vt:lpstr>Energy resolution</vt:lpstr>
      <vt:lpstr>Energy resolution as a time window</vt:lpstr>
      <vt:lpstr>Energy resolution as a time window</vt:lpstr>
      <vt:lpstr>Neutrons: how are neutron results different?</vt:lpstr>
      <vt:lpstr>Neutrons: isotopes and contrast matching</vt:lpstr>
      <vt:lpstr>Neutrons: isotopes and contrast matching</vt:lpstr>
      <vt:lpstr>Neutrons: isotopes and contrast matching</vt:lpstr>
      <vt:lpstr>Neutrons: isotopes and contrast matching</vt:lpstr>
      <vt:lpstr>QENS: Dynamic Structure Factor</vt:lpstr>
      <vt:lpstr>QENS: Dynamic Incoherent Structure Factor</vt:lpstr>
      <vt:lpstr>QENS: Dynamic Incoherent Structure Factor</vt:lpstr>
      <vt:lpstr>QENS: Dynamic Incoherent Structure Factor</vt:lpstr>
      <vt:lpstr>QENS: Dynamic Incoherent Structure Factor</vt:lpstr>
      <vt:lpstr>QENS: Dynamic Coherent Structure Factor</vt:lpstr>
      <vt:lpstr>QENS: Dynamic Coherent Structure Factor</vt:lpstr>
      <vt:lpstr>QENS: Dynamic Coherent Structure Factor</vt:lpstr>
      <vt:lpstr>QENS: Dynamic Coherent Structure Factor</vt:lpstr>
      <vt:lpstr>QENS: Total Dynamic Structure Factor</vt:lpstr>
      <vt:lpstr>QENS: Total Dynamic Structure Factor</vt:lpstr>
      <vt:lpstr>Interlude: neutron properties</vt:lpstr>
      <vt:lpstr>Neutrons: what is a Q vector?</vt:lpstr>
      <vt:lpstr>Neutrons: what is a Q vector?</vt:lpstr>
      <vt:lpstr>Neutrons: what is Q vector sampling?</vt:lpstr>
      <vt:lpstr>Neutrons: what is Q vector sampling?</vt:lpstr>
      <vt:lpstr>Neutrons: what is Q vector sampling?</vt:lpstr>
      <vt:lpstr>Neutrons: what is Q vector sampling?</vt:lpstr>
      <vt:lpstr>Do we need spherical averaging?</vt:lpstr>
      <vt:lpstr>How we use Q vectors for isotropic systems</vt:lpstr>
      <vt:lpstr>Molecular Dynamics: the boundary conditions</vt:lpstr>
      <vt:lpstr>Molecular Dynamics: the boundary conditions</vt:lpstr>
      <vt:lpstr>How we use Q vectors for isotropic systems</vt:lpstr>
      <vt:lpstr>How we use Q vectors for isotropic systems, using only lattice vectors</vt:lpstr>
      <vt:lpstr>Lattice vectors vs. spherical averaging</vt:lpstr>
      <vt:lpstr>Lattice vectors vs. spherical averaging</vt:lpstr>
      <vt:lpstr>Lattice vectors vs. spherical averaging</vt:lpstr>
      <vt:lpstr>Lattice vectors vs. spherical averaging</vt:lpstr>
      <vt:lpstr>MDANSE implementation of a “neutron instrument”</vt:lpstr>
      <vt:lpstr>MDANSE implementation of a “neutron instrument”</vt:lpstr>
      <vt:lpstr>Interlude: neutron properties</vt:lpstr>
      <vt:lpstr>Neutron time of flight</vt:lpstr>
      <vt:lpstr>Neutron time of flight</vt:lpstr>
      <vt:lpstr>Neutron time of flight</vt:lpstr>
      <vt:lpstr>Neutron time of flight</vt:lpstr>
      <vt:lpstr>Neutron time of flight</vt:lpstr>
      <vt:lpstr>Neutron time of flight: direct spectrometer</vt:lpstr>
      <vt:lpstr>Neutron time of flight: direct spectrometer</vt:lpstr>
      <vt:lpstr>Neutron time of flight: direct spectrometer</vt:lpstr>
      <vt:lpstr>Neutron time of flight: direct spectrometer</vt:lpstr>
      <vt:lpstr>How can we observe inelastic neutron scattering?</vt:lpstr>
    </vt:vector>
  </TitlesOfParts>
  <Company>Science and Technology Facilities Council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Richardson, Stephanie (STFC,RAL,ISIS)</dc:creator>
  <cp:lastModifiedBy>Bartkowiak, Maciej (STFC,RAL,ISIS)</cp:lastModifiedBy>
  <cp:revision>1766</cp:revision>
  <dcterms:created xsi:type="dcterms:W3CDTF">2023-01-10T12:41:06Z</dcterms:created>
  <dcterms:modified xsi:type="dcterms:W3CDTF">2026-10-28T16:34:06Z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0x010100FC2453390EE4BA43A5D6133E94472E90</vt:lpwstr>
  </property>
  <property fmtid="{D5CDD505-2E9C-101B-9397-08002B2CF9AE}" pid="3" name="MediaServiceImageTags">
    <vt:lpwstr/>
  </property>
</Properties>
</file>